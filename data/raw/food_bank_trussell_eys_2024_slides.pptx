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autoCompressPictures="0">
  <p:sldMasterIdLst>
    <p:sldMasterId id="2147483648" r:id="rId4"/>
  </p:sldMasterIdLst>
  <p:notesMasterIdLst>
    <p:notesMasterId r:id="rId32"/>
  </p:notesMasterIdLst>
  <p:sldIdLst>
    <p:sldId id="265" r:id="rId5"/>
    <p:sldId id="446" r:id="rId6"/>
    <p:sldId id="530" r:id="rId7"/>
    <p:sldId id="519" r:id="rId8"/>
    <p:sldId id="2144446091" r:id="rId9"/>
    <p:sldId id="2144446205" r:id="rId10"/>
    <p:sldId id="536" r:id="rId11"/>
    <p:sldId id="260" r:id="rId12"/>
    <p:sldId id="518" r:id="rId13"/>
    <p:sldId id="2144446104" r:id="rId14"/>
    <p:sldId id="2144446208" r:id="rId15"/>
    <p:sldId id="2144446107" r:id="rId16"/>
    <p:sldId id="497" r:id="rId17"/>
    <p:sldId id="2144446198" r:id="rId18"/>
    <p:sldId id="2144446199" r:id="rId19"/>
    <p:sldId id="2144446200" r:id="rId20"/>
    <p:sldId id="2144446201" r:id="rId21"/>
    <p:sldId id="2144446202" r:id="rId22"/>
    <p:sldId id="2144446116" r:id="rId23"/>
    <p:sldId id="2144446099" r:id="rId24"/>
    <p:sldId id="2144446204" r:id="rId25"/>
    <p:sldId id="2144446111" r:id="rId26"/>
    <p:sldId id="534" r:id="rId27"/>
    <p:sldId id="535" r:id="rId28"/>
    <p:sldId id="2144446097" r:id="rId29"/>
    <p:sldId id="533" r:id="rId30"/>
    <p:sldId id="412" r:id="rId31"/>
  </p:sldIdLst>
  <p:sldSz cx="12192000" cy="6858000"/>
  <p:notesSz cx="6858000" cy="9144000"/>
  <p:embeddedFontLst>
    <p:embeddedFont>
      <p:font typeface="Eveleth Clean Thin" panose="02010304020200000003" pitchFamily="2" charset="77"/>
      <p:regular r:id="rId33"/>
      <p:bold r:id="rId34"/>
    </p:embeddedFont>
    <p:embeddedFont>
      <p:font typeface="Eveleth Dot Light" panose="02010A04020200000003" pitchFamily="2" charset="77"/>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AC26"/>
    <a:srgbClr val="FFFFFF"/>
    <a:srgbClr val="FEA15C"/>
    <a:srgbClr val="EF0000"/>
    <a:srgbClr val="FFD768"/>
    <a:srgbClr val="FF5938"/>
    <a:srgbClr val="FF5436"/>
    <a:srgbClr val="424242"/>
    <a:srgbClr val="008751"/>
    <a:srgbClr val="FF5C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B6317-8607-EFD6-0873-1B5ADCDC5B11}" v="16" dt="2024-05-07T12:59:22.590"/>
    <p1510:client id="{0B87ABD6-F88B-4FB9-915E-7E09FFB9574B}" vWet="2" dt="2024-05-07T13:48:20.958"/>
    <p1510:client id="{5654317F-B3A0-4293-AA57-7E7CDB9DF392}" v="10" dt="2024-05-08T11:05:00.744"/>
    <p1510:client id="{956264F8-2B57-E076-77A9-A98A9C89A66D}" v="390" dt="2024-05-07T15:33:45.493"/>
    <p1510:client id="{BEA9D5AD-DBC1-4963-9FBD-9694A4332BB3}" v="62" dt="2024-05-07T15:18:45.335"/>
    <p1510:client id="{F312E81D-5B87-4F62-AD70-A673F37CC182}" v="3" dt="2024-05-08T09:22:04.9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68" autoAdjust="0"/>
    <p:restoredTop sz="68435" autoAdjust="0"/>
  </p:normalViewPr>
  <p:slideViewPr>
    <p:cSldViewPr snapToGrid="0">
      <p:cViewPr varScale="1">
        <p:scale>
          <a:sx n="85" d="100"/>
          <a:sy n="85" d="100"/>
        </p:scale>
        <p:origin x="212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2.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1"/>
          <c:order val="0"/>
          <c:tx>
            <c:strRef>
              <c:f>Sheet1!$B$1</c:f>
              <c:strCache>
                <c:ptCount val="1"/>
                <c:pt idx="0">
                  <c:v>Number of parcels for children</c:v>
                </c:pt>
              </c:strCache>
            </c:strRef>
          </c:tx>
          <c:spPr>
            <a:ln w="28575" cap="rnd">
              <a:solidFill>
                <a:schemeClr val="accent1"/>
              </a:solidFill>
              <a:round/>
            </a:ln>
            <a:effectLst/>
          </c:spPr>
          <c:marker>
            <c:symbol val="circle"/>
            <c:size val="5"/>
            <c:spPr>
              <a:solidFill>
                <a:schemeClr val="accent1"/>
              </a:solidFill>
              <a:ln w="730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2018/19</c:v>
                </c:pt>
                <c:pt idx="1">
                  <c:v>2019/20</c:v>
                </c:pt>
                <c:pt idx="2">
                  <c:v>2020/21</c:v>
                </c:pt>
                <c:pt idx="3">
                  <c:v>2021/22</c:v>
                </c:pt>
                <c:pt idx="4">
                  <c:v>2022/23</c:v>
                </c:pt>
                <c:pt idx="5">
                  <c:v>2023/24</c:v>
                </c:pt>
              </c:strCache>
            </c:strRef>
          </c:cat>
          <c:val>
            <c:numRef>
              <c:f>Sheet1!$B$2:$B$7</c:f>
              <c:numCache>
                <c:formatCode>_(* #,##0_);_(* \(#,##0\);_(* "-"_);_(@_)</c:formatCode>
                <c:ptCount val="6"/>
                <c:pt idx="0">
                  <c:v>585719</c:v>
                </c:pt>
                <c:pt idx="1">
                  <c:v>724149</c:v>
                </c:pt>
                <c:pt idx="2">
                  <c:v>995692</c:v>
                </c:pt>
                <c:pt idx="3">
                  <c:v>835664</c:v>
                </c:pt>
                <c:pt idx="4">
                  <c:v>1143635</c:v>
                </c:pt>
                <c:pt idx="5">
                  <c:v>1144096</c:v>
                </c:pt>
              </c:numCache>
            </c:numRef>
          </c:val>
          <c:smooth val="0"/>
          <c:extLst>
            <c:ext xmlns:c16="http://schemas.microsoft.com/office/drawing/2014/chart" uri="{C3380CC4-5D6E-409C-BE32-E72D297353CC}">
              <c16:uniqueId val="{00000000-B61A-46AD-9F42-F2C8494BEE23}"/>
            </c:ext>
          </c:extLst>
        </c:ser>
        <c:ser>
          <c:idx val="0"/>
          <c:order val="1"/>
          <c:tx>
            <c:strRef>
              <c:f>Sheet1!$C$1</c:f>
              <c:strCache>
                <c:ptCount val="1"/>
                <c:pt idx="0">
                  <c:v>Number of parcels for adults</c:v>
                </c:pt>
              </c:strCache>
            </c:strRef>
          </c:tx>
          <c:spPr>
            <a:ln w="28575" cap="rnd">
              <a:solidFill>
                <a:schemeClr val="accent6"/>
              </a:solidFill>
              <a:round/>
            </a:ln>
            <a:effectLst/>
          </c:spPr>
          <c:marker>
            <c:symbol val="circle"/>
            <c:size val="5"/>
            <c:spPr>
              <a:solidFill>
                <a:schemeClr val="accent6"/>
              </a:solidFill>
              <a:ln w="73025">
                <a:solidFill>
                  <a:schemeClr val="accent6"/>
                </a:solidFill>
              </a:ln>
              <a:effectLst/>
            </c:spPr>
          </c:marker>
          <c:dLbls>
            <c:dLbl>
              <c:idx val="4"/>
              <c:layout>
                <c:manualLayout>
                  <c:x val="-5.3268699755882096E-2"/>
                  <c:y val="-4.94729247345689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BE-4B6A-8BB3-7AB5084B570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2018/19</c:v>
                </c:pt>
                <c:pt idx="1">
                  <c:v>2019/20</c:v>
                </c:pt>
                <c:pt idx="2">
                  <c:v>2020/21</c:v>
                </c:pt>
                <c:pt idx="3">
                  <c:v>2021/22</c:v>
                </c:pt>
                <c:pt idx="4">
                  <c:v>2022/23</c:v>
                </c:pt>
                <c:pt idx="5">
                  <c:v>2023/24</c:v>
                </c:pt>
              </c:strCache>
            </c:strRef>
          </c:cat>
          <c:val>
            <c:numRef>
              <c:f>Sheet1!$C$2:$C$7</c:f>
              <c:numCache>
                <c:formatCode>_(* #,##0_);_(* \(#,##0\);_(* "-"_);_(@_)</c:formatCode>
                <c:ptCount val="6"/>
                <c:pt idx="0">
                  <c:v>1021091</c:v>
                </c:pt>
                <c:pt idx="1">
                  <c:v>1185211</c:v>
                </c:pt>
                <c:pt idx="2">
                  <c:v>1583227</c:v>
                </c:pt>
                <c:pt idx="3">
                  <c:v>1347397</c:v>
                </c:pt>
                <c:pt idx="4">
                  <c:v>1853954</c:v>
                </c:pt>
                <c:pt idx="5">
                  <c:v>1977308</c:v>
                </c:pt>
              </c:numCache>
            </c:numRef>
          </c:val>
          <c:smooth val="0"/>
          <c:extLst>
            <c:ext xmlns:c16="http://schemas.microsoft.com/office/drawing/2014/chart" uri="{C3380CC4-5D6E-409C-BE32-E72D297353CC}">
              <c16:uniqueId val="{00000001-B61A-46AD-9F42-F2C8494BEE23}"/>
            </c:ext>
          </c:extLst>
        </c:ser>
        <c:ser>
          <c:idx val="2"/>
          <c:order val="2"/>
          <c:tx>
            <c:strRef>
              <c:f>Sheet1!$D$1</c:f>
              <c:strCache>
                <c:ptCount val="1"/>
                <c:pt idx="0">
                  <c:v>Total number of parcels</c:v>
                </c:pt>
              </c:strCache>
            </c:strRef>
          </c:tx>
          <c:spPr>
            <a:ln w="28575" cap="rnd">
              <a:solidFill>
                <a:schemeClr val="accent3"/>
              </a:solidFill>
              <a:round/>
            </a:ln>
            <a:effectLst/>
          </c:spPr>
          <c:marker>
            <c:symbol val="circle"/>
            <c:size val="5"/>
            <c:spPr>
              <a:solidFill>
                <a:schemeClr val="accent3"/>
              </a:solidFill>
              <a:ln w="73025">
                <a:solidFill>
                  <a:schemeClr val="accent3"/>
                </a:solidFill>
              </a:ln>
              <a:effectLst/>
            </c:spPr>
          </c:marker>
          <c:dLbls>
            <c:dLbl>
              <c:idx val="4"/>
              <c:layout>
                <c:manualLayout>
                  <c:x val="-5.4651403073695141E-2"/>
                  <c:y val="-8.23790038885379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BE-4B6A-8BB3-7AB5084B570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2018/19</c:v>
                </c:pt>
                <c:pt idx="1">
                  <c:v>2019/20</c:v>
                </c:pt>
                <c:pt idx="2">
                  <c:v>2020/21</c:v>
                </c:pt>
                <c:pt idx="3">
                  <c:v>2021/22</c:v>
                </c:pt>
                <c:pt idx="4">
                  <c:v>2022/23</c:v>
                </c:pt>
                <c:pt idx="5">
                  <c:v>2023/24</c:v>
                </c:pt>
              </c:strCache>
            </c:strRef>
          </c:cat>
          <c:val>
            <c:numRef>
              <c:f>Sheet1!$D$2:$D$7</c:f>
              <c:numCache>
                <c:formatCode>_(* #,##0_);_(* \(#,##0\);_(* "-"_);_(@_)</c:formatCode>
                <c:ptCount val="6"/>
                <c:pt idx="0">
                  <c:v>1606810</c:v>
                </c:pt>
                <c:pt idx="1">
                  <c:v>1909360</c:v>
                </c:pt>
                <c:pt idx="2">
                  <c:v>2578919</c:v>
                </c:pt>
                <c:pt idx="3">
                  <c:v>2183061</c:v>
                </c:pt>
                <c:pt idx="4">
                  <c:v>2997589</c:v>
                </c:pt>
                <c:pt idx="5">
                  <c:v>3121404</c:v>
                </c:pt>
              </c:numCache>
            </c:numRef>
          </c:val>
          <c:smooth val="0"/>
          <c:extLst>
            <c:ext xmlns:c16="http://schemas.microsoft.com/office/drawing/2014/chart" uri="{C3380CC4-5D6E-409C-BE32-E72D297353CC}">
              <c16:uniqueId val="{00000002-B61A-46AD-9F42-F2C8494BEE23}"/>
            </c:ext>
          </c:extLst>
        </c:ser>
        <c:dLbls>
          <c:dLblPos val="t"/>
          <c:showLegendKey val="0"/>
          <c:showVal val="1"/>
          <c:showCatName val="0"/>
          <c:showSerName val="0"/>
          <c:showPercent val="0"/>
          <c:showBubbleSize val="0"/>
        </c:dLbls>
        <c:marker val="1"/>
        <c:smooth val="0"/>
        <c:axId val="2031908816"/>
        <c:axId val="2118193520"/>
      </c:lineChart>
      <c:catAx>
        <c:axId val="2031908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accent6"/>
                </a:solidFill>
                <a:latin typeface="+mn-lt"/>
                <a:ea typeface="+mn-ea"/>
                <a:cs typeface="+mn-cs"/>
              </a:defRPr>
            </a:pPr>
            <a:endParaRPr lang="en-US"/>
          </a:p>
        </c:txPr>
        <c:crossAx val="2118193520"/>
        <c:crosses val="autoZero"/>
        <c:auto val="1"/>
        <c:lblAlgn val="ctr"/>
        <c:lblOffset val="100"/>
        <c:noMultiLvlLbl val="0"/>
      </c:catAx>
      <c:valAx>
        <c:axId val="2118193520"/>
        <c:scaling>
          <c:orientation val="minMax"/>
        </c:scaling>
        <c:delete val="1"/>
        <c:axPos val="l"/>
        <c:numFmt formatCode="_(* #,##0_);_(* \(#,##0\);_(* &quot;-&quot;_);_(@_)" sourceLinked="1"/>
        <c:majorTickMark val="none"/>
        <c:minorTickMark val="none"/>
        <c:tickLblPos val="nextTo"/>
        <c:crossAx val="2031908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accent6"/>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654591535433071"/>
          <c:y val="9.7679272899703351E-2"/>
          <c:w val="0.58864247047244089"/>
          <c:h val="0.71897796916063705"/>
        </c:manualLayout>
      </c:layout>
      <c:barChart>
        <c:barDir val="bar"/>
        <c:grouping val="clustered"/>
        <c:varyColors val="0"/>
        <c:ser>
          <c:idx val="0"/>
          <c:order val="0"/>
          <c:tx>
            <c:strRef>
              <c:f>Sheet1!$B$1</c:f>
              <c:strCache>
                <c:ptCount val="1"/>
                <c:pt idx="0">
                  <c:v>Pensioner households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accent6"/>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Percentage change from 2018/19</c:v>
                </c:pt>
                <c:pt idx="1">
                  <c:v>Percentage change from 2022/23</c:v>
                </c:pt>
              </c:strCache>
            </c:strRef>
          </c:cat>
          <c:val>
            <c:numRef>
              <c:f>Sheet1!$B$2:$B$3</c:f>
              <c:numCache>
                <c:formatCode>0%</c:formatCode>
                <c:ptCount val="2"/>
                <c:pt idx="0">
                  <c:v>3.45</c:v>
                </c:pt>
                <c:pt idx="1">
                  <c:v>0.27</c:v>
                </c:pt>
              </c:numCache>
            </c:numRef>
          </c:val>
          <c:extLst>
            <c:ext xmlns:c16="http://schemas.microsoft.com/office/drawing/2014/chart" uri="{C3380CC4-5D6E-409C-BE32-E72D297353CC}">
              <c16:uniqueId val="{00000000-FF7D-4784-A7F5-BD1A28AFAC2E}"/>
            </c:ext>
          </c:extLst>
        </c:ser>
        <c:ser>
          <c:idx val="1"/>
          <c:order val="1"/>
          <c:tx>
            <c:strRef>
              <c:f>Sheet1!$C$1</c:f>
              <c:strCache>
                <c:ptCount val="1"/>
                <c:pt idx="0">
                  <c:v>Working age households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accent6"/>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Percentage change from 2018/19</c:v>
                </c:pt>
                <c:pt idx="1">
                  <c:v>Percentage change from 2022/23</c:v>
                </c:pt>
              </c:strCache>
            </c:strRef>
          </c:cat>
          <c:val>
            <c:numRef>
              <c:f>Sheet1!$C$2:$C$3</c:f>
              <c:numCache>
                <c:formatCode>0%</c:formatCode>
                <c:ptCount val="2"/>
                <c:pt idx="0">
                  <c:v>0.81</c:v>
                </c:pt>
                <c:pt idx="1">
                  <c:v>0.01</c:v>
                </c:pt>
              </c:numCache>
            </c:numRef>
          </c:val>
          <c:extLst>
            <c:ext xmlns:c16="http://schemas.microsoft.com/office/drawing/2014/chart" uri="{C3380CC4-5D6E-409C-BE32-E72D297353CC}">
              <c16:uniqueId val="{00000001-FF7D-4784-A7F5-BD1A28AFAC2E}"/>
            </c:ext>
          </c:extLst>
        </c:ser>
        <c:dLbls>
          <c:dLblPos val="outEnd"/>
          <c:showLegendKey val="0"/>
          <c:showVal val="1"/>
          <c:showCatName val="0"/>
          <c:showSerName val="0"/>
          <c:showPercent val="0"/>
          <c:showBubbleSize val="0"/>
        </c:dLbls>
        <c:gapWidth val="182"/>
        <c:overlap val="-24"/>
        <c:axId val="1612513359"/>
        <c:axId val="1612508079"/>
      </c:barChart>
      <c:catAx>
        <c:axId val="16125133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accent6"/>
                </a:solidFill>
                <a:latin typeface="+mn-lt"/>
                <a:ea typeface="+mn-ea"/>
                <a:cs typeface="+mn-cs"/>
              </a:defRPr>
            </a:pPr>
            <a:endParaRPr lang="en-US"/>
          </a:p>
        </c:txPr>
        <c:crossAx val="1612508079"/>
        <c:crosses val="autoZero"/>
        <c:auto val="1"/>
        <c:lblAlgn val="ctr"/>
        <c:lblOffset val="100"/>
        <c:noMultiLvlLbl val="0"/>
      </c:catAx>
      <c:valAx>
        <c:axId val="1612508079"/>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12513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accent6"/>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029918175377088E-3"/>
          <c:y val="8.9786767033032816E-3"/>
          <c:w val="0.97573418001417045"/>
          <c:h val="0.83743552025775636"/>
        </c:manualLayout>
      </c:layout>
      <c:barChart>
        <c:barDir val="col"/>
        <c:grouping val="clustered"/>
        <c:varyColors val="0"/>
        <c:ser>
          <c:idx val="0"/>
          <c:order val="0"/>
          <c:tx>
            <c:strRef>
              <c:f>Sheet1!$B$1</c:f>
              <c:strCache>
                <c:ptCount val="1"/>
                <c:pt idx="0">
                  <c:v>2018/19</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Scotland</c:v>
                </c:pt>
                <c:pt idx="1">
                  <c:v>Wales</c:v>
                </c:pt>
                <c:pt idx="2">
                  <c:v>Northern Ireland</c:v>
                </c:pt>
              </c:strCache>
            </c:strRef>
          </c:cat>
          <c:val>
            <c:numRef>
              <c:f>Sheet1!$B$2:$B$4</c:f>
              <c:numCache>
                <c:formatCode>_(* #,##0_);_(* \(#,##0\);_(* "-"_);_(@_)</c:formatCode>
                <c:ptCount val="3"/>
                <c:pt idx="0">
                  <c:v>217052</c:v>
                </c:pt>
                <c:pt idx="1">
                  <c:v>116325</c:v>
                </c:pt>
                <c:pt idx="2">
                  <c:v>37261</c:v>
                </c:pt>
              </c:numCache>
            </c:numRef>
          </c:val>
          <c:extLst>
            <c:ext xmlns:c16="http://schemas.microsoft.com/office/drawing/2014/chart" uri="{C3380CC4-5D6E-409C-BE32-E72D297353CC}">
              <c16:uniqueId val="{00000000-62F5-4982-AC80-69490C890B3D}"/>
            </c:ext>
          </c:extLst>
        </c:ser>
        <c:ser>
          <c:idx val="1"/>
          <c:order val="1"/>
          <c:tx>
            <c:strRef>
              <c:f>Sheet1!$C$1</c:f>
              <c:strCache>
                <c:ptCount val="1"/>
                <c:pt idx="0">
                  <c:v>2022/23</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Scotland</c:v>
                </c:pt>
                <c:pt idx="1">
                  <c:v>Wales</c:v>
                </c:pt>
                <c:pt idx="2">
                  <c:v>Northern Ireland</c:v>
                </c:pt>
              </c:strCache>
            </c:strRef>
          </c:cat>
          <c:val>
            <c:numRef>
              <c:f>Sheet1!$C$2:$C$4</c:f>
              <c:numCache>
                <c:formatCode>_(* #,##0_);_(* \(#,##0\);_(* "-"_);_(@_)</c:formatCode>
                <c:ptCount val="3"/>
                <c:pt idx="0">
                  <c:v>262827</c:v>
                </c:pt>
                <c:pt idx="1">
                  <c:v>185663</c:v>
                </c:pt>
                <c:pt idx="2">
                  <c:v>81735</c:v>
                </c:pt>
              </c:numCache>
            </c:numRef>
          </c:val>
          <c:extLst>
            <c:ext xmlns:c16="http://schemas.microsoft.com/office/drawing/2014/chart" uri="{C3380CC4-5D6E-409C-BE32-E72D297353CC}">
              <c16:uniqueId val="{00000001-62F5-4982-AC80-69490C890B3D}"/>
            </c:ext>
          </c:extLst>
        </c:ser>
        <c:ser>
          <c:idx val="2"/>
          <c:order val="2"/>
          <c:tx>
            <c:strRef>
              <c:f>Sheet1!$D$1</c:f>
              <c:strCache>
                <c:ptCount val="1"/>
                <c:pt idx="0">
                  <c:v>2023/24</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Scotland</c:v>
                </c:pt>
                <c:pt idx="1">
                  <c:v>Wales</c:v>
                </c:pt>
                <c:pt idx="2">
                  <c:v>Northern Ireland</c:v>
                </c:pt>
              </c:strCache>
            </c:strRef>
          </c:cat>
          <c:val>
            <c:numRef>
              <c:f>Sheet1!$D$2:$D$4</c:f>
              <c:numCache>
                <c:formatCode>_(* #,##0_);_(* \(#,##0\);_(* "-"_);_(@_)</c:formatCode>
                <c:ptCount val="3"/>
                <c:pt idx="0">
                  <c:v>262479</c:v>
                </c:pt>
                <c:pt idx="1">
                  <c:v>187458</c:v>
                </c:pt>
                <c:pt idx="2">
                  <c:v>90375</c:v>
                </c:pt>
              </c:numCache>
            </c:numRef>
          </c:val>
          <c:extLst>
            <c:ext xmlns:c16="http://schemas.microsoft.com/office/drawing/2014/chart" uri="{C3380CC4-5D6E-409C-BE32-E72D297353CC}">
              <c16:uniqueId val="{00000000-2725-42EA-8940-43B7E9ECD015}"/>
            </c:ext>
          </c:extLst>
        </c:ser>
        <c:dLbls>
          <c:showLegendKey val="0"/>
          <c:showVal val="0"/>
          <c:showCatName val="0"/>
          <c:showSerName val="0"/>
          <c:showPercent val="0"/>
          <c:showBubbleSize val="0"/>
        </c:dLbls>
        <c:gapWidth val="219"/>
        <c:overlap val="-27"/>
        <c:axId val="1177218608"/>
        <c:axId val="1077237408"/>
      </c:barChart>
      <c:catAx>
        <c:axId val="1177218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accent6"/>
                </a:solidFill>
                <a:latin typeface="+mn-lt"/>
                <a:ea typeface="+mn-ea"/>
                <a:cs typeface="+mn-cs"/>
              </a:defRPr>
            </a:pPr>
            <a:endParaRPr lang="en-US"/>
          </a:p>
        </c:txPr>
        <c:crossAx val="1077237408"/>
        <c:crosses val="autoZero"/>
        <c:auto val="1"/>
        <c:lblAlgn val="ctr"/>
        <c:lblOffset val="100"/>
        <c:noMultiLvlLbl val="0"/>
      </c:catAx>
      <c:valAx>
        <c:axId val="1077237408"/>
        <c:scaling>
          <c:orientation val="minMax"/>
        </c:scaling>
        <c:delete val="1"/>
        <c:axPos val="l"/>
        <c:numFmt formatCode="_(* #,##0_);_(* \(#,##0\);_(* &quot;-&quot;_);_(@_)" sourceLinked="1"/>
        <c:majorTickMark val="none"/>
        <c:minorTickMark val="none"/>
        <c:tickLblPos val="nextTo"/>
        <c:crossAx val="1177218608"/>
        <c:crosses val="autoZero"/>
        <c:crossBetween val="between"/>
      </c:valAx>
      <c:spPr>
        <a:noFill/>
        <a:ln>
          <a:noFill/>
        </a:ln>
        <a:effectLst/>
      </c:spPr>
    </c:plotArea>
    <c:legend>
      <c:legendPos val="r"/>
      <c:layout>
        <c:manualLayout>
          <c:xMode val="edge"/>
          <c:yMode val="edge"/>
          <c:x val="0.89944648917704473"/>
          <c:y val="6.4641994708472275E-2"/>
          <c:w val="7.6499343676443676E-2"/>
          <c:h val="0.205782079268282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accent6"/>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132909992914798E-2"/>
          <c:y val="0"/>
          <c:w val="0.97573418001417045"/>
          <c:h val="0.83743552025775636"/>
        </c:manualLayout>
      </c:layout>
      <c:barChart>
        <c:barDir val="col"/>
        <c:grouping val="clustered"/>
        <c:varyColors val="0"/>
        <c:ser>
          <c:idx val="0"/>
          <c:order val="0"/>
          <c:tx>
            <c:strRef>
              <c:f>Sheet1!$B$1</c:f>
              <c:strCache>
                <c:ptCount val="1"/>
                <c:pt idx="0">
                  <c:v>2018/19</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East Midlands</c:v>
                </c:pt>
                <c:pt idx="1">
                  <c:v>East of England</c:v>
                </c:pt>
                <c:pt idx="2">
                  <c:v>London</c:v>
                </c:pt>
                <c:pt idx="3">
                  <c:v>North East</c:v>
                </c:pt>
                <c:pt idx="4">
                  <c:v>North West</c:v>
                </c:pt>
                <c:pt idx="5">
                  <c:v>South East</c:v>
                </c:pt>
                <c:pt idx="6">
                  <c:v>South West</c:v>
                </c:pt>
                <c:pt idx="7">
                  <c:v>West Midlands</c:v>
                </c:pt>
                <c:pt idx="8">
                  <c:v>Yorkshire and The Humber</c:v>
                </c:pt>
              </c:strCache>
            </c:strRef>
          </c:cat>
          <c:val>
            <c:numRef>
              <c:f>Sheet1!$B$2:$B$10</c:f>
              <c:numCache>
                <c:formatCode>_(* #,##0_);_(* \(#,##0\);_(* "-"_);_(@_)</c:formatCode>
                <c:ptCount val="9"/>
                <c:pt idx="0">
                  <c:v>78229</c:v>
                </c:pt>
                <c:pt idx="1">
                  <c:v>152675</c:v>
                </c:pt>
                <c:pt idx="2">
                  <c:v>167723</c:v>
                </c:pt>
                <c:pt idx="3">
                  <c:v>89479</c:v>
                </c:pt>
                <c:pt idx="4">
                  <c:v>225198</c:v>
                </c:pt>
                <c:pt idx="5">
                  <c:v>155697</c:v>
                </c:pt>
                <c:pt idx="6">
                  <c:v>133983</c:v>
                </c:pt>
                <c:pt idx="7">
                  <c:v>142942</c:v>
                </c:pt>
                <c:pt idx="8">
                  <c:v>90246</c:v>
                </c:pt>
              </c:numCache>
            </c:numRef>
          </c:val>
          <c:extLst>
            <c:ext xmlns:c16="http://schemas.microsoft.com/office/drawing/2014/chart" uri="{C3380CC4-5D6E-409C-BE32-E72D297353CC}">
              <c16:uniqueId val="{00000000-62F5-4982-AC80-69490C890B3D}"/>
            </c:ext>
          </c:extLst>
        </c:ser>
        <c:ser>
          <c:idx val="1"/>
          <c:order val="1"/>
          <c:tx>
            <c:strRef>
              <c:f>Sheet1!$C$1</c:f>
              <c:strCache>
                <c:ptCount val="1"/>
                <c:pt idx="0">
                  <c:v>2022/23</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East Midlands</c:v>
                </c:pt>
                <c:pt idx="1">
                  <c:v>East of England</c:v>
                </c:pt>
                <c:pt idx="2">
                  <c:v>London</c:v>
                </c:pt>
                <c:pt idx="3">
                  <c:v>North East</c:v>
                </c:pt>
                <c:pt idx="4">
                  <c:v>North West</c:v>
                </c:pt>
                <c:pt idx="5">
                  <c:v>South East</c:v>
                </c:pt>
                <c:pt idx="6">
                  <c:v>South West</c:v>
                </c:pt>
                <c:pt idx="7">
                  <c:v>West Midlands</c:v>
                </c:pt>
                <c:pt idx="8">
                  <c:v>Yorkshire and The Humber</c:v>
                </c:pt>
              </c:strCache>
            </c:strRef>
          </c:cat>
          <c:val>
            <c:numRef>
              <c:f>Sheet1!$C$2:$C$10</c:f>
              <c:numCache>
                <c:formatCode>_(* #,##0_);_(* \(#,##0\);_(* "-"_);_(@_)</c:formatCode>
                <c:ptCount val="9"/>
                <c:pt idx="0">
                  <c:v>173622</c:v>
                </c:pt>
                <c:pt idx="1">
                  <c:v>324597</c:v>
                </c:pt>
                <c:pt idx="2">
                  <c:v>388330</c:v>
                </c:pt>
                <c:pt idx="3">
                  <c:v>154729</c:v>
                </c:pt>
                <c:pt idx="4">
                  <c:v>348727</c:v>
                </c:pt>
                <c:pt idx="5">
                  <c:v>349587</c:v>
                </c:pt>
                <c:pt idx="6">
                  <c:v>248926</c:v>
                </c:pt>
                <c:pt idx="7">
                  <c:v>278189</c:v>
                </c:pt>
                <c:pt idx="8">
                  <c:v>200657</c:v>
                </c:pt>
              </c:numCache>
            </c:numRef>
          </c:val>
          <c:extLst>
            <c:ext xmlns:c16="http://schemas.microsoft.com/office/drawing/2014/chart" uri="{C3380CC4-5D6E-409C-BE32-E72D297353CC}">
              <c16:uniqueId val="{00000001-62F5-4982-AC80-69490C890B3D}"/>
            </c:ext>
          </c:extLst>
        </c:ser>
        <c:ser>
          <c:idx val="2"/>
          <c:order val="2"/>
          <c:tx>
            <c:strRef>
              <c:f>Sheet1!$D$1</c:f>
              <c:strCache>
                <c:ptCount val="1"/>
                <c:pt idx="0">
                  <c:v>2023/24</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East Midlands</c:v>
                </c:pt>
                <c:pt idx="1">
                  <c:v>East of England</c:v>
                </c:pt>
                <c:pt idx="2">
                  <c:v>London</c:v>
                </c:pt>
                <c:pt idx="3">
                  <c:v>North East</c:v>
                </c:pt>
                <c:pt idx="4">
                  <c:v>North West</c:v>
                </c:pt>
                <c:pt idx="5">
                  <c:v>South East</c:v>
                </c:pt>
                <c:pt idx="6">
                  <c:v>South West</c:v>
                </c:pt>
                <c:pt idx="7">
                  <c:v>West Midlands</c:v>
                </c:pt>
                <c:pt idx="8">
                  <c:v>Yorkshire and The Humber</c:v>
                </c:pt>
              </c:strCache>
            </c:strRef>
          </c:cat>
          <c:val>
            <c:numRef>
              <c:f>Sheet1!$D$2:$D$10</c:f>
              <c:numCache>
                <c:formatCode>_(* #,##0_);_(* \(#,##0\);_(* "-"_);_(@_)</c:formatCode>
                <c:ptCount val="9"/>
                <c:pt idx="0">
                  <c:v>166474</c:v>
                </c:pt>
                <c:pt idx="1">
                  <c:v>349935</c:v>
                </c:pt>
                <c:pt idx="2">
                  <c:v>454750</c:v>
                </c:pt>
                <c:pt idx="3">
                  <c:v>150560</c:v>
                </c:pt>
                <c:pt idx="4">
                  <c:v>355830</c:v>
                </c:pt>
                <c:pt idx="5">
                  <c:v>347287</c:v>
                </c:pt>
                <c:pt idx="6">
                  <c:v>254974</c:v>
                </c:pt>
                <c:pt idx="7">
                  <c:v>269743</c:v>
                </c:pt>
                <c:pt idx="8">
                  <c:v>231539</c:v>
                </c:pt>
              </c:numCache>
            </c:numRef>
          </c:val>
          <c:extLst>
            <c:ext xmlns:c16="http://schemas.microsoft.com/office/drawing/2014/chart" uri="{C3380CC4-5D6E-409C-BE32-E72D297353CC}">
              <c16:uniqueId val="{00000000-2725-42EA-8940-43B7E9ECD015}"/>
            </c:ext>
          </c:extLst>
        </c:ser>
        <c:dLbls>
          <c:showLegendKey val="0"/>
          <c:showVal val="0"/>
          <c:showCatName val="0"/>
          <c:showSerName val="0"/>
          <c:showPercent val="0"/>
          <c:showBubbleSize val="0"/>
        </c:dLbls>
        <c:gapWidth val="219"/>
        <c:overlap val="-27"/>
        <c:axId val="1177218608"/>
        <c:axId val="1077237408"/>
      </c:barChart>
      <c:catAx>
        <c:axId val="1177218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accent6"/>
                </a:solidFill>
                <a:latin typeface="+mn-lt"/>
                <a:ea typeface="+mn-ea"/>
                <a:cs typeface="+mn-cs"/>
              </a:defRPr>
            </a:pPr>
            <a:endParaRPr lang="en-US"/>
          </a:p>
        </c:txPr>
        <c:crossAx val="1077237408"/>
        <c:crosses val="autoZero"/>
        <c:auto val="1"/>
        <c:lblAlgn val="ctr"/>
        <c:lblOffset val="100"/>
        <c:noMultiLvlLbl val="0"/>
      </c:catAx>
      <c:valAx>
        <c:axId val="1077237408"/>
        <c:scaling>
          <c:orientation val="minMax"/>
        </c:scaling>
        <c:delete val="1"/>
        <c:axPos val="l"/>
        <c:numFmt formatCode="_(* #,##0_);_(* \(#,##0\);_(* &quot;-&quot;_);_(@_)" sourceLinked="1"/>
        <c:majorTickMark val="none"/>
        <c:minorTickMark val="none"/>
        <c:tickLblPos val="nextTo"/>
        <c:crossAx val="1177218608"/>
        <c:crosses val="autoZero"/>
        <c:crossBetween val="between"/>
      </c:valAx>
      <c:spPr>
        <a:noFill/>
        <a:ln>
          <a:noFill/>
        </a:ln>
        <a:effectLst/>
      </c:spPr>
    </c:plotArea>
    <c:legend>
      <c:legendPos val="r"/>
      <c:layout>
        <c:manualLayout>
          <c:xMode val="edge"/>
          <c:yMode val="edge"/>
          <c:x val="0.89944648917704473"/>
          <c:y val="6.4641994708472275E-2"/>
          <c:w val="7.6499343676443676E-2"/>
          <c:h val="0.2057820792682826"/>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accent6"/>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19487037804484E-2"/>
          <c:y val="9.0757434287343675E-2"/>
          <c:w val="0.96958052700811526"/>
          <c:h val="0.85553374218455702"/>
        </c:manualLayout>
      </c:layout>
      <c:lineChart>
        <c:grouping val="stacked"/>
        <c:varyColors val="0"/>
        <c:ser>
          <c:idx val="1"/>
          <c:order val="0"/>
          <c:tx>
            <c:strRef>
              <c:f>Sheet1!$B$1</c:f>
              <c:strCache>
                <c:ptCount val="1"/>
                <c:pt idx="0">
                  <c:v>Number of parcels for children</c:v>
                </c:pt>
              </c:strCache>
            </c:strRef>
          </c:tx>
          <c:spPr>
            <a:ln w="28575" cap="rnd">
              <a:solidFill>
                <a:schemeClr val="accent1"/>
              </a:solidFill>
              <a:round/>
            </a:ln>
            <a:effectLst/>
          </c:spPr>
          <c:marker>
            <c:symbol val="circle"/>
            <c:size val="5"/>
            <c:spPr>
              <a:solidFill>
                <a:schemeClr val="accent1"/>
              </a:solidFill>
              <a:ln w="730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2017/18</c:v>
                </c:pt>
                <c:pt idx="1">
                  <c:v>FY 2018/19</c:v>
                </c:pt>
                <c:pt idx="2">
                  <c:v>FY 2019/20</c:v>
                </c:pt>
                <c:pt idx="3">
                  <c:v>FY 2020/21</c:v>
                </c:pt>
                <c:pt idx="4">
                  <c:v>FY 2021/22</c:v>
                </c:pt>
                <c:pt idx="5">
                  <c:v>FY 2022/23</c:v>
                </c:pt>
              </c:strCache>
            </c:strRef>
          </c:cat>
          <c:val>
            <c:numRef>
              <c:f>Sheet1!$B$2:$B$7</c:f>
              <c:numCache>
                <c:formatCode>_(* #,##0_);_(* \(#,##0\);_(* "-"_);_(@_)</c:formatCode>
                <c:ptCount val="6"/>
                <c:pt idx="0" formatCode="#,##0">
                  <c:v>491799</c:v>
                </c:pt>
                <c:pt idx="1">
                  <c:v>585711</c:v>
                </c:pt>
                <c:pt idx="2" formatCode="#,##0">
                  <c:v>724151</c:v>
                </c:pt>
                <c:pt idx="3">
                  <c:v>995822</c:v>
                </c:pt>
                <c:pt idx="4">
                  <c:v>835879</c:v>
                </c:pt>
                <c:pt idx="5">
                  <c:v>1139553</c:v>
                </c:pt>
              </c:numCache>
            </c:numRef>
          </c:val>
          <c:smooth val="0"/>
          <c:extLst>
            <c:ext xmlns:c16="http://schemas.microsoft.com/office/drawing/2014/chart" uri="{C3380CC4-5D6E-409C-BE32-E72D297353CC}">
              <c16:uniqueId val="{00000000-4463-4FDB-9995-B469BCD7D3B6}"/>
            </c:ext>
          </c:extLst>
        </c:ser>
        <c:ser>
          <c:idx val="0"/>
          <c:order val="1"/>
          <c:tx>
            <c:strRef>
              <c:f>Sheet1!$C$1</c:f>
              <c:strCache>
                <c:ptCount val="1"/>
                <c:pt idx="0">
                  <c:v>Number of parcels for adults</c:v>
                </c:pt>
              </c:strCache>
            </c:strRef>
          </c:tx>
          <c:spPr>
            <a:ln w="28575" cap="rnd">
              <a:solidFill>
                <a:schemeClr val="accent6"/>
              </a:solidFill>
              <a:round/>
            </a:ln>
            <a:effectLst/>
          </c:spPr>
          <c:marker>
            <c:symbol val="circle"/>
            <c:size val="5"/>
            <c:spPr>
              <a:solidFill>
                <a:schemeClr val="accent6"/>
              </a:solidFill>
              <a:ln w="73025">
                <a:solidFill>
                  <a:schemeClr val="accent6"/>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2017/18</c:v>
                </c:pt>
                <c:pt idx="1">
                  <c:v>FY 2018/19</c:v>
                </c:pt>
                <c:pt idx="2">
                  <c:v>FY 2019/20</c:v>
                </c:pt>
                <c:pt idx="3">
                  <c:v>FY 2020/21</c:v>
                </c:pt>
                <c:pt idx="4">
                  <c:v>FY 2021/22</c:v>
                </c:pt>
                <c:pt idx="5">
                  <c:v>FY 2022/23</c:v>
                </c:pt>
              </c:strCache>
            </c:strRef>
          </c:cat>
          <c:val>
            <c:numRef>
              <c:f>Sheet1!$C$2:$C$7</c:f>
              <c:numCache>
                <c:formatCode>_(* #,##0_);_(* \(#,##0\);_(* "-"_);_(@_)</c:formatCode>
                <c:ptCount val="6"/>
                <c:pt idx="0" formatCode="#,##0">
                  <c:v>862563</c:v>
                </c:pt>
                <c:pt idx="1">
                  <c:v>1021083</c:v>
                </c:pt>
                <c:pt idx="2">
                  <c:v>1185237</c:v>
                </c:pt>
                <c:pt idx="3">
                  <c:v>1583470</c:v>
                </c:pt>
                <c:pt idx="4">
                  <c:v>1347746</c:v>
                </c:pt>
                <c:pt idx="5">
                  <c:v>1846650</c:v>
                </c:pt>
              </c:numCache>
            </c:numRef>
          </c:val>
          <c:smooth val="0"/>
          <c:extLst>
            <c:ext xmlns:c16="http://schemas.microsoft.com/office/drawing/2014/chart" uri="{C3380CC4-5D6E-409C-BE32-E72D297353CC}">
              <c16:uniqueId val="{00000001-4463-4FDB-9995-B469BCD7D3B6}"/>
            </c:ext>
          </c:extLst>
        </c:ser>
        <c:ser>
          <c:idx val="2"/>
          <c:order val="2"/>
          <c:tx>
            <c:strRef>
              <c:f>Sheet1!$D$1</c:f>
              <c:strCache>
                <c:ptCount val="1"/>
                <c:pt idx="0">
                  <c:v>Total number of parcels</c:v>
                </c:pt>
              </c:strCache>
            </c:strRef>
          </c:tx>
          <c:spPr>
            <a:ln w="28575" cap="rnd">
              <a:solidFill>
                <a:schemeClr val="accent3"/>
              </a:solidFill>
              <a:round/>
            </a:ln>
            <a:effectLst/>
          </c:spPr>
          <c:marker>
            <c:symbol val="circle"/>
            <c:size val="5"/>
            <c:spPr>
              <a:solidFill>
                <a:schemeClr val="accent3"/>
              </a:solidFill>
              <a:ln w="730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2017/18</c:v>
                </c:pt>
                <c:pt idx="1">
                  <c:v>FY 2018/19</c:v>
                </c:pt>
                <c:pt idx="2">
                  <c:v>FY 2019/20</c:v>
                </c:pt>
                <c:pt idx="3">
                  <c:v>FY 2020/21</c:v>
                </c:pt>
                <c:pt idx="4">
                  <c:v>FY 2021/22</c:v>
                </c:pt>
                <c:pt idx="5">
                  <c:v>FY 2022/23</c:v>
                </c:pt>
              </c:strCache>
            </c:strRef>
          </c:cat>
          <c:val>
            <c:numRef>
              <c:f>Sheet1!$D$2:$D$7</c:f>
              <c:numCache>
                <c:formatCode>_(* #,##0_);_(* \(#,##0\);_(* "-"_);_(@_)</c:formatCode>
                <c:ptCount val="6"/>
                <c:pt idx="0" formatCode="#,##0">
                  <c:v>1354362</c:v>
                </c:pt>
                <c:pt idx="1">
                  <c:v>1606794</c:v>
                </c:pt>
                <c:pt idx="2">
                  <c:v>1909388</c:v>
                </c:pt>
                <c:pt idx="3">
                  <c:v>2579292</c:v>
                </c:pt>
                <c:pt idx="4">
                  <c:v>2183625</c:v>
                </c:pt>
                <c:pt idx="5">
                  <c:v>2986203</c:v>
                </c:pt>
              </c:numCache>
            </c:numRef>
          </c:val>
          <c:smooth val="0"/>
          <c:extLst>
            <c:ext xmlns:c16="http://schemas.microsoft.com/office/drawing/2014/chart" uri="{C3380CC4-5D6E-409C-BE32-E72D297353CC}">
              <c16:uniqueId val="{00000002-4463-4FDB-9995-B469BCD7D3B6}"/>
            </c:ext>
          </c:extLst>
        </c:ser>
        <c:dLbls>
          <c:dLblPos val="t"/>
          <c:showLegendKey val="0"/>
          <c:showVal val="1"/>
          <c:showCatName val="0"/>
          <c:showSerName val="0"/>
          <c:showPercent val="0"/>
          <c:showBubbleSize val="0"/>
        </c:dLbls>
        <c:marker val="1"/>
        <c:smooth val="0"/>
        <c:axId val="2031908816"/>
        <c:axId val="2118193520"/>
      </c:lineChart>
      <c:catAx>
        <c:axId val="2031908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8193520"/>
        <c:crosses val="autoZero"/>
        <c:auto val="1"/>
        <c:lblAlgn val="ctr"/>
        <c:lblOffset val="100"/>
        <c:noMultiLvlLbl val="0"/>
      </c:catAx>
      <c:valAx>
        <c:axId val="2118193520"/>
        <c:scaling>
          <c:orientation val="minMax"/>
        </c:scaling>
        <c:delete val="1"/>
        <c:axPos val="l"/>
        <c:numFmt formatCode="#,##0" sourceLinked="1"/>
        <c:majorTickMark val="none"/>
        <c:minorTickMark val="none"/>
        <c:tickLblPos val="nextTo"/>
        <c:crossAx val="2031908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accent6"/>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2DD56-8C3A-3A4C-AC6F-72FDC44F5404}" type="datetimeFigureOut">
              <a:rPr lang="en-GB" smtClean="0"/>
              <a:t>08/05/2024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C88900-6B2F-804E-88EC-4DF05AEC2879}" type="slidenum">
              <a:rPr lang="en-GB" smtClean="0"/>
              <a:t>‹#›</a:t>
            </a:fld>
            <a:endParaRPr lang="en-GB"/>
          </a:p>
        </p:txBody>
      </p:sp>
    </p:spTree>
    <p:extLst>
      <p:ext uri="{BB962C8B-B14F-4D97-AF65-F5344CB8AC3E}">
        <p14:creationId xmlns:p14="http://schemas.microsoft.com/office/powerpoint/2010/main" val="3582954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a:p>
        </p:txBody>
      </p:sp>
      <p:sp>
        <p:nvSpPr>
          <p:cNvPr id="4" name="Slide Number Placeholder 3"/>
          <p:cNvSpPr>
            <a:spLocks noGrp="1"/>
          </p:cNvSpPr>
          <p:nvPr>
            <p:ph type="sldNum" sz="quarter" idx="5"/>
          </p:nvPr>
        </p:nvSpPr>
        <p:spPr/>
        <p:txBody>
          <a:bodyPr/>
          <a:lstStyle/>
          <a:p>
            <a:fld id="{07C88900-6B2F-804E-88EC-4DF05AEC2879}" type="slidenum">
              <a:rPr lang="en-GB" smtClean="0"/>
              <a:t>1</a:t>
            </a:fld>
            <a:endParaRPr lang="en-GB"/>
          </a:p>
        </p:txBody>
      </p:sp>
    </p:spTree>
    <p:extLst>
      <p:ext uri="{BB962C8B-B14F-4D97-AF65-F5344CB8AC3E}">
        <p14:creationId xmlns:p14="http://schemas.microsoft.com/office/powerpoint/2010/main" val="831327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2</a:t>
            </a:fld>
            <a:endParaRPr lang="en-GB"/>
          </a:p>
        </p:txBody>
      </p:sp>
    </p:spTree>
    <p:extLst>
      <p:ext uri="{BB962C8B-B14F-4D97-AF65-F5344CB8AC3E}">
        <p14:creationId xmlns:p14="http://schemas.microsoft.com/office/powerpoint/2010/main" val="597837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We will be sharing the End of Year stats with the media on Monday 13 May.</a:t>
            </a:r>
            <a:r>
              <a:rPr lang="en-GB" dirty="0"/>
              <a:t> </a:t>
            </a:r>
          </a:p>
          <a:p>
            <a:endParaRPr lang="en-GB" b="0" dirty="0"/>
          </a:p>
          <a:p>
            <a:r>
              <a:rPr lang="en-GB" b="1" i="1" dirty="0">
                <a:effectLst/>
              </a:rPr>
              <a:t>You are very welcome to use the resources and do pre-recorded interviews / interviews for print ahead of this time, but to be clear content can’t be published ahead of the embargo date, which lifts at </a:t>
            </a:r>
            <a:r>
              <a:rPr lang="en-GB" b="1" i="1" dirty="0">
                <a:solidFill>
                  <a:srgbClr val="CD5937"/>
                </a:solidFill>
                <a:effectLst/>
              </a:rPr>
              <a:t>00:01am on Wednesday 15 May</a:t>
            </a:r>
            <a:r>
              <a:rPr lang="en-GB" b="1" i="1" dirty="0">
                <a:effectLst/>
              </a:rPr>
              <a:t>.</a:t>
            </a:r>
            <a:r>
              <a:rPr lang="en-GB" i="1" dirty="0">
                <a:effectLst/>
              </a:rPr>
              <a:t> </a:t>
            </a:r>
          </a:p>
          <a:p>
            <a:endParaRPr lang="en-GB" b="0" i="1" dirty="0">
              <a:effectLst/>
            </a:endParaRPr>
          </a:p>
          <a:p>
            <a:r>
              <a:rPr lang="en-GB" b="0" i="1" dirty="0">
                <a:effectLst/>
              </a:rPr>
              <a:t>There are lots of training and advice available to please get in touch with your AM or the press team, if you would like more information. </a:t>
            </a:r>
            <a:endParaRPr lang="en-GB" b="0" dirty="0"/>
          </a:p>
          <a:p>
            <a:endParaRPr lang="en-GB" b="0" dirty="0"/>
          </a:p>
          <a:p>
            <a:r>
              <a:rPr lang="en-GB" b="0" dirty="0"/>
              <a:t>These figures tell a really tough story – a story which all of the food banks in our network are already very familiar with.</a:t>
            </a:r>
          </a:p>
          <a:p>
            <a:endParaRPr lang="en-GB" b="0" dirty="0"/>
          </a:p>
          <a:p>
            <a:r>
              <a:rPr lang="en-GB" b="0" dirty="0"/>
              <a:t>They are some of the most powerful tools we have in making our case for change to policy makers and the public. Before we get into the detail of them, I wanted to thank all food banks for how they use the DCS to ensure we can have this information. It such vital data.</a:t>
            </a:r>
          </a:p>
          <a:p>
            <a:endParaRPr lang="en-GB" b="0" dirty="0"/>
          </a:p>
          <a:p>
            <a:r>
              <a:rPr lang="en-GB" b="0" dirty="0"/>
              <a:t>Also worth saying that this is amalgamated data for the whole network and shows trends, but can’t tell the story of every individual food bank.  Each food bank data looks different, as does each local areas – that’s fine, there’s some advice about how to talk about this.</a:t>
            </a:r>
          </a:p>
        </p:txBody>
      </p:sp>
      <p:sp>
        <p:nvSpPr>
          <p:cNvPr id="4" name="Slide Number Placeholder 3"/>
          <p:cNvSpPr>
            <a:spLocks noGrp="1"/>
          </p:cNvSpPr>
          <p:nvPr>
            <p:ph type="sldNum" sz="quarter" idx="5"/>
          </p:nvPr>
        </p:nvSpPr>
        <p:spPr/>
        <p:txBody>
          <a:bodyPr/>
          <a:lstStyle/>
          <a:p>
            <a:fld id="{07C88900-6B2F-804E-88EC-4DF05AEC2879}" type="slidenum">
              <a:rPr lang="en-GB" smtClean="0"/>
              <a:t>3</a:t>
            </a:fld>
            <a:endParaRPr lang="en-GB"/>
          </a:p>
        </p:txBody>
      </p:sp>
    </p:spTree>
    <p:extLst>
      <p:ext uri="{BB962C8B-B14F-4D97-AF65-F5344CB8AC3E}">
        <p14:creationId xmlns:p14="http://schemas.microsoft.com/office/powerpoint/2010/main" val="2666571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Food banks in the Trussell Trust network distributed </a:t>
            </a:r>
            <a:r>
              <a:rPr lang="en-GB" b="1" dirty="0"/>
              <a:t>over 3.1 million food parcels between April 2023 and March 2024. </a:t>
            </a:r>
          </a:p>
          <a:p>
            <a:pPr marL="0" indent="0">
              <a:buFontTx/>
              <a:buNone/>
            </a:pPr>
            <a:endParaRPr lang="en-GB" dirty="0"/>
          </a:p>
          <a:p>
            <a:pPr marL="171450" indent="-171450">
              <a:buFontTx/>
              <a:buChar char="-"/>
            </a:pPr>
            <a:r>
              <a:rPr lang="en-GB" sz="1800" dirty="0">
                <a:effectLst/>
                <a:latin typeface="Calibri" panose="020F0502020204030204" pitchFamily="34" charset="0"/>
                <a:ea typeface="Calibri" panose="020F0502020204030204" pitchFamily="34" charset="0"/>
              </a:rPr>
              <a:t>This is the </a:t>
            </a:r>
            <a:r>
              <a:rPr lang="en-GB" sz="1800" b="1" dirty="0">
                <a:effectLst/>
                <a:latin typeface="Calibri" panose="020F0502020204030204" pitchFamily="34" charset="0"/>
                <a:ea typeface="Calibri" panose="020F0502020204030204" pitchFamily="34" charset="0"/>
              </a:rPr>
              <a:t>most parcels that the network has ever distributed at this point in the year </a:t>
            </a:r>
            <a:r>
              <a:rPr lang="en-GB" sz="1800" dirty="0">
                <a:effectLst/>
                <a:latin typeface="Calibri" panose="020F0502020204030204" pitchFamily="34" charset="0"/>
                <a:ea typeface="Calibri" panose="020F0502020204030204" pitchFamily="34" charset="0"/>
              </a:rPr>
              <a:t>and represents a </a:t>
            </a:r>
            <a:r>
              <a:rPr lang="en-GB" sz="1800" b="1" dirty="0">
                <a:effectLst/>
                <a:latin typeface="Calibri" panose="020F0502020204030204" pitchFamily="34" charset="0"/>
                <a:ea typeface="Calibri" panose="020F0502020204030204" pitchFamily="34" charset="0"/>
              </a:rPr>
              <a:t>4% increase </a:t>
            </a:r>
            <a:r>
              <a:rPr lang="en-GB" sz="1800" dirty="0">
                <a:effectLst/>
                <a:latin typeface="Calibri" panose="020F0502020204030204" pitchFamily="34" charset="0"/>
                <a:ea typeface="Calibri" panose="020F0502020204030204" pitchFamily="34" charset="0"/>
              </a:rPr>
              <a:t>from the same period  last year (in 2022/23). And is </a:t>
            </a:r>
            <a:r>
              <a:rPr lang="en-GB" sz="1800" b="1" dirty="0">
                <a:effectLst/>
                <a:latin typeface="Calibri" panose="020F0502020204030204" pitchFamily="34" charset="0"/>
                <a:ea typeface="Calibri" panose="020F0502020204030204" pitchFamily="34" charset="0"/>
              </a:rPr>
              <a:t>almost double compared to five years ago</a:t>
            </a:r>
          </a:p>
          <a:p>
            <a:pPr marL="171450" indent="-171450">
              <a:buFontTx/>
              <a:buChar char="-"/>
            </a:pPr>
            <a:endParaRPr lang="en-GB" sz="1800" b="1" dirty="0">
              <a:effectLst/>
              <a:latin typeface="Calibri" panose="020F0502020204030204" pitchFamily="34" charset="0"/>
              <a:ea typeface="Calibri" panose="020F0502020204030204" pitchFamily="34" charset="0"/>
            </a:endParaRPr>
          </a:p>
          <a:p>
            <a:pPr marL="171450" indent="-171450">
              <a:buFontTx/>
              <a:buChar char="-"/>
            </a:pPr>
            <a:r>
              <a:rPr lang="en-GB" sz="1800" b="1" dirty="0">
                <a:effectLst/>
                <a:latin typeface="Calibri" panose="020F0502020204030204" pitchFamily="34" charset="0"/>
                <a:ea typeface="Calibri" panose="020F0502020204030204" pitchFamily="34" charset="0"/>
              </a:rPr>
              <a:t>Over 1.1 million </a:t>
            </a:r>
            <a:r>
              <a:rPr lang="en-GB" sz="1800" b="0" dirty="0">
                <a:effectLst/>
                <a:latin typeface="Calibri" panose="020F0502020204030204" pitchFamily="34" charset="0"/>
                <a:ea typeface="Calibri" panose="020F0502020204030204" pitchFamily="34" charset="0"/>
              </a:rPr>
              <a:t>of these were for children. </a:t>
            </a:r>
            <a:endParaRPr lang="en-GB" sz="1800" dirty="0">
              <a:effectLst/>
              <a:latin typeface="Calibri" panose="020F0502020204030204" pitchFamily="34" charset="0"/>
              <a:ea typeface="Calibri" panose="020F0502020204030204" pitchFamily="34" charset="0"/>
            </a:endParaRPr>
          </a:p>
          <a:p>
            <a:pPr marL="0" indent="0">
              <a:buFontTx/>
              <a:buNone/>
            </a:pPr>
            <a:endParaRPr lang="en-GB" sz="1800" dirty="0">
              <a:effectLst/>
              <a:latin typeface="Calibri" panose="020F0502020204030204" pitchFamily="34" charset="0"/>
              <a:ea typeface="Calibri" panose="020F0502020204030204" pitchFamily="34" charset="0"/>
            </a:endParaRPr>
          </a:p>
          <a:p>
            <a:pPr marL="171450" indent="-171450">
              <a:buFontTx/>
              <a:buChar char="-"/>
            </a:pPr>
            <a:r>
              <a:rPr lang="en-GB" sz="1800" dirty="0">
                <a:effectLst/>
                <a:latin typeface="Calibri" panose="020F0502020204030204" pitchFamily="34" charset="0"/>
                <a:ea typeface="Calibri" panose="020F0502020204030204" pitchFamily="34" charset="0"/>
              </a:rPr>
              <a:t>This is the </a:t>
            </a:r>
            <a:r>
              <a:rPr lang="en-GB" sz="1800" b="1" dirty="0">
                <a:effectLst/>
                <a:latin typeface="Calibri" panose="020F0502020204030204" pitchFamily="34" charset="0"/>
                <a:ea typeface="Calibri" panose="020F0502020204030204" pitchFamily="34" charset="0"/>
              </a:rPr>
              <a:t>first time </a:t>
            </a:r>
            <a:r>
              <a:rPr lang="en-GB" sz="1800" dirty="0">
                <a:effectLst/>
                <a:latin typeface="Calibri" panose="020F0502020204030204" pitchFamily="34" charset="0"/>
                <a:ea typeface="Calibri" panose="020F0502020204030204" pitchFamily="34" charset="0"/>
              </a:rPr>
              <a:t>food banks in the Trussell Trust network have distributed </a:t>
            </a:r>
            <a:r>
              <a:rPr lang="en-GB" sz="1800" b="1" dirty="0">
                <a:effectLst/>
                <a:latin typeface="Calibri" panose="020F0502020204030204" pitchFamily="34" charset="0"/>
                <a:ea typeface="Calibri" panose="020F0502020204030204" pitchFamily="34" charset="0"/>
              </a:rPr>
              <a:t>over 3 million parcels in total</a:t>
            </a:r>
            <a:r>
              <a:rPr lang="en-GB" sz="1800" dirty="0">
                <a:effectLst/>
                <a:latin typeface="Calibri" panose="020F0502020204030204" pitchFamily="34" charset="0"/>
                <a:ea typeface="Calibri" panose="020F0502020204030204" pitchFamily="34" charset="0"/>
              </a:rPr>
              <a:t>.</a:t>
            </a:r>
          </a:p>
          <a:p>
            <a:pPr marL="0" indent="0">
              <a:buFontTx/>
              <a:buNone/>
            </a:pPr>
            <a:endParaRPr lang="en-GB" sz="1800" dirty="0">
              <a:effectLst/>
              <a:latin typeface="Calibri" panose="020F0502020204030204" pitchFamily="34" charset="0"/>
              <a:ea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800" dirty="0">
                <a:effectLst/>
                <a:latin typeface="Calibri" panose="020F0502020204030204" pitchFamily="34" charset="0"/>
              </a:rPr>
              <a:t>We are highlighting in our messaging about the statistics that the </a:t>
            </a:r>
            <a:r>
              <a:rPr lang="en-GB" sz="1800" b="1" dirty="0">
                <a:effectLst/>
                <a:latin typeface="Calibri" panose="020F0502020204030204" pitchFamily="34" charset="0"/>
              </a:rPr>
              <a:t>levels of need seen this year</a:t>
            </a:r>
            <a:r>
              <a:rPr lang="en-GB" sz="1800" b="1" dirty="0">
                <a:effectLst/>
                <a:latin typeface="Calibri" panose="020F0502020204030204" pitchFamily="34" charset="0"/>
                <a:ea typeface="Calibri" panose="020F0502020204030204" pitchFamily="34" charset="0"/>
                <a:cs typeface="Calibri" panose="020F0502020204030204" pitchFamily="34" charset="0"/>
              </a:rPr>
              <a:t> are part of a longer-term trend which pre-dates the cost-of-living crisis, and even the COVID-19 pandemic</a:t>
            </a:r>
            <a:r>
              <a:rPr lang="en-GB" sz="1800" dirty="0">
                <a:effectLst/>
                <a:latin typeface="Calibri" panose="020F0502020204030204" pitchFamily="34" charset="0"/>
                <a:ea typeface="Calibri" panose="020F0502020204030204" pitchFamily="34" charset="0"/>
                <a:cs typeface="Calibri" panose="020F0502020204030204" pitchFamily="34" charset="0"/>
              </a:rPr>
              <a:t>. We are also recognising that with the removal of the cost of living payments people claiming Universal Credit will actually be worse off this year, despite the recent benefit uprating. </a:t>
            </a:r>
            <a:endParaRPr lang="en-GB"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4</a:t>
            </a:fld>
            <a:endParaRPr lang="en-GB"/>
          </a:p>
        </p:txBody>
      </p:sp>
    </p:spTree>
    <p:extLst>
      <p:ext uri="{BB962C8B-B14F-4D97-AF65-F5344CB8AC3E}">
        <p14:creationId xmlns:p14="http://schemas.microsoft.com/office/powerpoint/2010/main" val="182838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5</a:t>
            </a:fld>
            <a:endParaRPr lang="en-GB"/>
          </a:p>
        </p:txBody>
      </p:sp>
    </p:spTree>
    <p:extLst>
      <p:ext uri="{BB962C8B-B14F-4D97-AF65-F5344CB8AC3E}">
        <p14:creationId xmlns:p14="http://schemas.microsoft.com/office/powerpoint/2010/main" val="2112412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solidFill>
                  <a:schemeClr val="accent6"/>
                </a:solidFill>
              </a:rPr>
              <a:t>Between 2018/19 and 2023/24 food bank support for these households has more than quadrupled – (an increase of 345%), compared to an 81% rise amongst households without someone of pension age. </a:t>
            </a:r>
          </a:p>
          <a:p>
            <a:pPr marL="0" indent="0">
              <a:buNone/>
            </a:pPr>
            <a:endParaRPr lang="en-GB" sz="1200" dirty="0">
              <a:solidFill>
                <a:schemeClr val="accent6"/>
              </a:solidFill>
            </a:endParaRPr>
          </a:p>
          <a:p>
            <a:pPr marL="0" indent="0">
              <a:buNone/>
            </a:pPr>
            <a:r>
              <a:rPr lang="en-GB" sz="1200" dirty="0">
                <a:solidFill>
                  <a:schemeClr val="accent6"/>
                </a:solidFill>
              </a:rPr>
              <a:t>This mismatched increase in food parcel provision continued from 2022/23 to 2023/24 (27% vs 1%).</a:t>
            </a:r>
          </a:p>
          <a:p>
            <a:pPr marL="0" indent="0">
              <a:buFontTx/>
              <a:buNone/>
            </a:pPr>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6</a:t>
            </a:fld>
            <a:endParaRPr lang="en-GB"/>
          </a:p>
        </p:txBody>
      </p:sp>
    </p:spTree>
    <p:extLst>
      <p:ext uri="{BB962C8B-B14F-4D97-AF65-F5344CB8AC3E}">
        <p14:creationId xmlns:p14="http://schemas.microsoft.com/office/powerpoint/2010/main" val="158991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800" dirty="0">
                <a:effectLst/>
                <a:latin typeface="Calibri" panose="020F0502020204030204" pitchFamily="34" charset="0"/>
                <a:ea typeface="Calibri" panose="020F0502020204030204" pitchFamily="34" charset="0"/>
                <a:cs typeface="Calibri" panose="020F0502020204030204" pitchFamily="34" charset="0"/>
              </a:rPr>
              <a:t>The fact that these periods of respite from the Cost-of-Living payments were short-lived shows that one-off payments are unable to make a lasting difference when people’s regular income (from social security and from work) is just too low to enable people to afford the essentials. </a:t>
            </a:r>
            <a:endParaRPr lang="en-GB"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7C88900-6B2F-804E-88EC-4DF05AEC2879}" type="slidenum">
              <a:rPr lang="en-GB" smtClean="0"/>
              <a:t>7</a:t>
            </a:fld>
            <a:endParaRPr lang="en-GB"/>
          </a:p>
        </p:txBody>
      </p:sp>
    </p:spTree>
    <p:extLst>
      <p:ext uri="{BB962C8B-B14F-4D97-AF65-F5344CB8AC3E}">
        <p14:creationId xmlns:p14="http://schemas.microsoft.com/office/powerpoint/2010/main" val="211304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We are also highlighting in our research outputs:</a:t>
            </a:r>
          </a:p>
          <a:p>
            <a:pPr marL="171450" indent="-171450">
              <a:buFontTx/>
              <a:buChar char="-"/>
            </a:pPr>
            <a:r>
              <a:rPr lang="en-GB" dirty="0"/>
              <a:t>that food banks are not just facing a change to operations – such as having to purchase more food and/or find additional warehouse space to store food or other items.</a:t>
            </a:r>
          </a:p>
          <a:p>
            <a:pPr marL="171450" indent="-171450">
              <a:buFontTx/>
              <a:buChar char="-"/>
            </a:pPr>
            <a:r>
              <a:rPr lang="en-GB" dirty="0"/>
              <a:t>That they are also supporting more people, and that the people they are supporting are facing deepening hardship and distress – with food banks expressing deep concern over the depth of hardship experienced by people they have been supporting, particularly over the winter months. </a:t>
            </a:r>
          </a:p>
        </p:txBody>
      </p:sp>
      <p:sp>
        <p:nvSpPr>
          <p:cNvPr id="4" name="Slide Number Placeholder 3"/>
          <p:cNvSpPr>
            <a:spLocks noGrp="1"/>
          </p:cNvSpPr>
          <p:nvPr>
            <p:ph type="sldNum" sz="quarter" idx="5"/>
          </p:nvPr>
        </p:nvSpPr>
        <p:spPr/>
        <p:txBody>
          <a:bodyPr/>
          <a:lstStyle/>
          <a:p>
            <a:fld id="{07C88900-6B2F-804E-88EC-4DF05AEC2879}" type="slidenum">
              <a:rPr lang="en-GB" smtClean="0"/>
              <a:t>8</a:t>
            </a:fld>
            <a:endParaRPr lang="en-GB"/>
          </a:p>
        </p:txBody>
      </p:sp>
    </p:spTree>
    <p:extLst>
      <p:ext uri="{BB962C8B-B14F-4D97-AF65-F5344CB8AC3E}">
        <p14:creationId xmlns:p14="http://schemas.microsoft.com/office/powerpoint/2010/main" val="1373360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a:p>
        </p:txBody>
      </p:sp>
      <p:sp>
        <p:nvSpPr>
          <p:cNvPr id="4" name="Slide Number Placeholder 3"/>
          <p:cNvSpPr>
            <a:spLocks noGrp="1"/>
          </p:cNvSpPr>
          <p:nvPr>
            <p:ph type="sldNum" sz="quarter" idx="5"/>
          </p:nvPr>
        </p:nvSpPr>
        <p:spPr/>
        <p:txBody>
          <a:bodyPr/>
          <a:lstStyle/>
          <a:p>
            <a:fld id="{07C88900-6B2F-804E-88EC-4DF05AEC2879}" type="slidenum">
              <a:rPr lang="en-GB" smtClean="0"/>
              <a:t>9</a:t>
            </a:fld>
            <a:endParaRPr lang="en-GB"/>
          </a:p>
        </p:txBody>
      </p:sp>
    </p:spTree>
    <p:extLst>
      <p:ext uri="{BB962C8B-B14F-4D97-AF65-F5344CB8AC3E}">
        <p14:creationId xmlns:p14="http://schemas.microsoft.com/office/powerpoint/2010/main" val="2722067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800" dirty="0">
                <a:effectLst/>
                <a:latin typeface="Calibri" panose="020F0502020204030204" pitchFamily="34" charset="0"/>
                <a:ea typeface="Calibri" panose="020F0502020204030204" pitchFamily="34" charset="0"/>
                <a:cs typeface="Calibri" panose="020F0502020204030204" pitchFamily="34" charset="0"/>
              </a:rPr>
              <a:t>Looking across Scotland, Wales and Northern Ireland.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800" dirty="0">
              <a:effectLst/>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800" dirty="0">
                <a:effectLst/>
                <a:latin typeface="Calibri" panose="020F0502020204030204" pitchFamily="34" charset="0"/>
                <a:cs typeface="Calibri" panose="020F0502020204030204" pitchFamily="34" charset="0"/>
              </a:rPr>
              <a:t>Northern Ireland has seen the biggest increase from last year (11%), with Wales seeing a very slight increase (1%). Scotland is relatively the same as the previous year with a very slight decrease.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800" dirty="0">
              <a:effectLst/>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800" dirty="0">
                <a:effectLst/>
                <a:latin typeface="Calibri" panose="020F0502020204030204" pitchFamily="34" charset="0"/>
                <a:cs typeface="Calibri" panose="020F0502020204030204" pitchFamily="34" charset="0"/>
              </a:rPr>
              <a:t>All are significantly above levels seen in just five years ago in 218/19</a:t>
            </a: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10</a:t>
            </a:fld>
            <a:endParaRPr lang="en-GB"/>
          </a:p>
        </p:txBody>
      </p:sp>
    </p:spTree>
    <p:extLst>
      <p:ext uri="{BB962C8B-B14F-4D97-AF65-F5344CB8AC3E}">
        <p14:creationId xmlns:p14="http://schemas.microsoft.com/office/powerpoint/2010/main" val="1387766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London has seen the biggest percentage increase since last year – with a 17% increase in the number of parcels distributed. Yorkshire has also seen a significant increase at 15%.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Some areas such as the East Midlands and the North East have seen decreases since the previous years. But as you can see in the graph all areas remain concerningly higher than just five years ago in 2018/19. </a:t>
            </a:r>
          </a:p>
        </p:txBody>
      </p:sp>
      <p:sp>
        <p:nvSpPr>
          <p:cNvPr id="4" name="Slide Number Placeholder 3"/>
          <p:cNvSpPr>
            <a:spLocks noGrp="1"/>
          </p:cNvSpPr>
          <p:nvPr>
            <p:ph type="sldNum" sz="quarter" idx="5"/>
          </p:nvPr>
        </p:nvSpPr>
        <p:spPr/>
        <p:txBody>
          <a:bodyPr/>
          <a:lstStyle/>
          <a:p>
            <a:fld id="{07C88900-6B2F-804E-88EC-4DF05AEC2879}" type="slidenum">
              <a:rPr lang="en-GB" smtClean="0"/>
              <a:t>11</a:t>
            </a:fld>
            <a:endParaRPr lang="en-GB"/>
          </a:p>
        </p:txBody>
      </p:sp>
    </p:spTree>
    <p:extLst>
      <p:ext uri="{BB962C8B-B14F-4D97-AF65-F5344CB8AC3E}">
        <p14:creationId xmlns:p14="http://schemas.microsoft.com/office/powerpoint/2010/main" val="4264452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a:p>
        </p:txBody>
      </p:sp>
      <p:sp>
        <p:nvSpPr>
          <p:cNvPr id="4" name="Slide Number Placeholder 3"/>
          <p:cNvSpPr>
            <a:spLocks noGrp="1"/>
          </p:cNvSpPr>
          <p:nvPr>
            <p:ph type="sldNum" sz="quarter" idx="5"/>
          </p:nvPr>
        </p:nvSpPr>
        <p:spPr/>
        <p:txBody>
          <a:bodyPr/>
          <a:lstStyle/>
          <a:p>
            <a:fld id="{07C88900-6B2F-804E-88EC-4DF05AEC2879}" type="slidenum">
              <a:rPr lang="en-GB" smtClean="0"/>
              <a:t>12</a:t>
            </a:fld>
            <a:endParaRPr lang="en-GB"/>
          </a:p>
        </p:txBody>
      </p:sp>
    </p:spTree>
    <p:extLst>
      <p:ext uri="{BB962C8B-B14F-4D97-AF65-F5344CB8AC3E}">
        <p14:creationId xmlns:p14="http://schemas.microsoft.com/office/powerpoint/2010/main" val="2959255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13</a:t>
            </a:fld>
            <a:endParaRPr lang="en-GB"/>
          </a:p>
        </p:txBody>
      </p:sp>
    </p:spTree>
    <p:extLst>
      <p:ext uri="{BB962C8B-B14F-4D97-AF65-F5344CB8AC3E}">
        <p14:creationId xmlns:p14="http://schemas.microsoft.com/office/powerpoint/2010/main" val="274284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14</a:t>
            </a:fld>
            <a:endParaRPr lang="en-GB"/>
          </a:p>
        </p:txBody>
      </p:sp>
    </p:spTree>
    <p:extLst>
      <p:ext uri="{BB962C8B-B14F-4D97-AF65-F5344CB8AC3E}">
        <p14:creationId xmlns:p14="http://schemas.microsoft.com/office/powerpoint/2010/main" val="95193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15</a:t>
            </a:fld>
            <a:endParaRPr lang="en-GB"/>
          </a:p>
        </p:txBody>
      </p:sp>
    </p:spTree>
    <p:extLst>
      <p:ext uri="{BB962C8B-B14F-4D97-AF65-F5344CB8AC3E}">
        <p14:creationId xmlns:p14="http://schemas.microsoft.com/office/powerpoint/2010/main" val="843461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16</a:t>
            </a:fld>
            <a:endParaRPr lang="en-GB"/>
          </a:p>
        </p:txBody>
      </p:sp>
    </p:spTree>
    <p:extLst>
      <p:ext uri="{BB962C8B-B14F-4D97-AF65-F5344CB8AC3E}">
        <p14:creationId xmlns:p14="http://schemas.microsoft.com/office/powerpoint/2010/main" val="2258147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17</a:t>
            </a:fld>
            <a:endParaRPr lang="en-GB"/>
          </a:p>
        </p:txBody>
      </p:sp>
    </p:spTree>
    <p:extLst>
      <p:ext uri="{BB962C8B-B14F-4D97-AF65-F5344CB8AC3E}">
        <p14:creationId xmlns:p14="http://schemas.microsoft.com/office/powerpoint/2010/main" val="2930256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18</a:t>
            </a:fld>
            <a:endParaRPr lang="en-GB"/>
          </a:p>
        </p:txBody>
      </p:sp>
    </p:spTree>
    <p:extLst>
      <p:ext uri="{BB962C8B-B14F-4D97-AF65-F5344CB8AC3E}">
        <p14:creationId xmlns:p14="http://schemas.microsoft.com/office/powerpoint/2010/main" val="2731892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19</a:t>
            </a:fld>
            <a:endParaRPr lang="en-GB"/>
          </a:p>
        </p:txBody>
      </p:sp>
    </p:spTree>
    <p:extLst>
      <p:ext uri="{BB962C8B-B14F-4D97-AF65-F5344CB8AC3E}">
        <p14:creationId xmlns:p14="http://schemas.microsoft.com/office/powerpoint/2010/main" val="4018047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20</a:t>
            </a:fld>
            <a:endParaRPr lang="en-GB"/>
          </a:p>
        </p:txBody>
      </p:sp>
    </p:spTree>
    <p:extLst>
      <p:ext uri="{BB962C8B-B14F-4D97-AF65-F5344CB8AC3E}">
        <p14:creationId xmlns:p14="http://schemas.microsoft.com/office/powerpoint/2010/main" val="3037570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21</a:t>
            </a:fld>
            <a:endParaRPr lang="en-GB"/>
          </a:p>
        </p:txBody>
      </p:sp>
    </p:spTree>
    <p:extLst>
      <p:ext uri="{BB962C8B-B14F-4D97-AF65-F5344CB8AC3E}">
        <p14:creationId xmlns:p14="http://schemas.microsoft.com/office/powerpoint/2010/main" val="819992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There are a few options depending on how you want to present your data please delete the slides that are not relevant to you. </a:t>
            </a:r>
          </a:p>
        </p:txBody>
      </p:sp>
      <p:sp>
        <p:nvSpPr>
          <p:cNvPr id="4" name="Slide Number Placeholder 3"/>
          <p:cNvSpPr>
            <a:spLocks noGrp="1"/>
          </p:cNvSpPr>
          <p:nvPr>
            <p:ph type="sldNum" sz="quarter" idx="5"/>
          </p:nvPr>
        </p:nvSpPr>
        <p:spPr/>
        <p:txBody>
          <a:bodyPr/>
          <a:lstStyle/>
          <a:p>
            <a:fld id="{07C88900-6B2F-804E-88EC-4DF05AEC2879}" type="slidenum">
              <a:rPr lang="en-GB" smtClean="0"/>
              <a:t>23</a:t>
            </a:fld>
            <a:endParaRPr lang="en-GB"/>
          </a:p>
        </p:txBody>
      </p:sp>
    </p:spTree>
    <p:extLst>
      <p:ext uri="{BB962C8B-B14F-4D97-AF65-F5344CB8AC3E}">
        <p14:creationId xmlns:p14="http://schemas.microsoft.com/office/powerpoint/2010/main" val="1128741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edit this chart by clicking on it and in the chart design tab clicking on edit data. </a:t>
            </a:r>
          </a:p>
          <a:p>
            <a:endParaRPr lang="en-GB" dirty="0"/>
          </a:p>
          <a:p>
            <a:r>
              <a:rPr lang="en-GB" dirty="0">
                <a:solidFill>
                  <a:schemeClr val="accent6"/>
                </a:solidFill>
              </a:rPr>
              <a:t>From April to September 2023 we have given out </a:t>
            </a:r>
            <a:r>
              <a:rPr lang="en-GB" b="1" dirty="0">
                <a:solidFill>
                  <a:srgbClr val="FF0000"/>
                </a:solidFill>
              </a:rPr>
              <a:t>XXX many </a:t>
            </a:r>
            <a:r>
              <a:rPr lang="en-GB" dirty="0">
                <a:solidFill>
                  <a:schemeClr val="accent6"/>
                </a:solidFill>
              </a:rPr>
              <a:t>emergency parcels to people in </a:t>
            </a:r>
            <a:r>
              <a:rPr lang="en-GB" b="1" dirty="0">
                <a:solidFill>
                  <a:srgbClr val="FF0000"/>
                </a:solidFill>
              </a:rPr>
              <a:t>[insert area]</a:t>
            </a:r>
          </a:p>
          <a:p>
            <a:r>
              <a:rPr lang="en-GB" dirty="0">
                <a:solidFill>
                  <a:srgbClr val="424242"/>
                </a:solidFill>
              </a:rPr>
              <a:t> </a:t>
            </a:r>
            <a:r>
              <a:rPr lang="en-GB" b="1" dirty="0">
                <a:solidFill>
                  <a:srgbClr val="FF0000"/>
                </a:solidFill>
              </a:rPr>
              <a:t>XXX</a:t>
            </a:r>
            <a:r>
              <a:rPr lang="en-GB" dirty="0">
                <a:solidFill>
                  <a:schemeClr val="accent6"/>
                </a:solidFill>
              </a:rPr>
              <a:t> of these were provided for children.</a:t>
            </a:r>
          </a:p>
          <a:p>
            <a:r>
              <a:rPr lang="en-GB" dirty="0">
                <a:solidFill>
                  <a:schemeClr val="accent6"/>
                </a:solidFill>
              </a:rPr>
              <a:t>This represents a </a:t>
            </a:r>
            <a:r>
              <a:rPr lang="en-GB" b="1" dirty="0">
                <a:solidFill>
                  <a:srgbClr val="FF0000"/>
                </a:solidFill>
              </a:rPr>
              <a:t>XX%</a:t>
            </a:r>
            <a:r>
              <a:rPr lang="en-GB" b="1" dirty="0">
                <a:solidFill>
                  <a:schemeClr val="accent1"/>
                </a:solidFill>
              </a:rPr>
              <a:t> </a:t>
            </a:r>
            <a:r>
              <a:rPr lang="en-GB" dirty="0">
                <a:solidFill>
                  <a:schemeClr val="accent6"/>
                </a:solidFill>
              </a:rPr>
              <a:t>increase</a:t>
            </a:r>
            <a:r>
              <a:rPr lang="en-GB" b="1" dirty="0">
                <a:solidFill>
                  <a:schemeClr val="accent1"/>
                </a:solidFill>
              </a:rPr>
              <a:t> </a:t>
            </a:r>
            <a:r>
              <a:rPr lang="en-GB" dirty="0">
                <a:solidFill>
                  <a:schemeClr val="accent6"/>
                </a:solidFill>
              </a:rPr>
              <a:t>from last year and a </a:t>
            </a:r>
            <a:r>
              <a:rPr lang="en-GB" b="1" dirty="0">
                <a:solidFill>
                  <a:srgbClr val="FF0000"/>
                </a:solidFill>
              </a:rPr>
              <a:t>XX% </a:t>
            </a:r>
            <a:r>
              <a:rPr lang="en-GB" dirty="0">
                <a:solidFill>
                  <a:schemeClr val="accent6"/>
                </a:solidFill>
              </a:rPr>
              <a:t>increase</a:t>
            </a:r>
            <a:r>
              <a:rPr lang="en-GB" b="1" dirty="0">
                <a:solidFill>
                  <a:schemeClr val="accent1"/>
                </a:solidFill>
              </a:rPr>
              <a:t> </a:t>
            </a:r>
            <a:r>
              <a:rPr lang="en-GB" dirty="0">
                <a:solidFill>
                  <a:schemeClr val="accent6"/>
                </a:solidFill>
              </a:rPr>
              <a:t>from pre-pandemic levels. </a:t>
            </a:r>
          </a:p>
          <a:p>
            <a:r>
              <a:rPr lang="en-GB" b="0" i="0" u="none" strike="noStrike" dirty="0">
                <a:solidFill>
                  <a:srgbClr val="424242"/>
                </a:solidFill>
                <a:effectLst/>
                <a:latin typeface="Calibri" panose="020F0502020204030204" pitchFamily="34" charset="0"/>
              </a:rPr>
              <a:t>It’s not right that people in our community are needing a charity’s help to put food on the table. Everyone in </a:t>
            </a:r>
            <a:r>
              <a:rPr lang="en-GB" b="1" i="0" u="none" strike="noStrike" dirty="0">
                <a:solidFill>
                  <a:srgbClr val="FF0000"/>
                </a:solidFill>
                <a:effectLst/>
                <a:latin typeface="Calibri" panose="020F0502020204030204" pitchFamily="34" charset="0"/>
              </a:rPr>
              <a:t>[insert area]</a:t>
            </a:r>
            <a:r>
              <a:rPr lang="en-GB" b="1" i="0" u="none" strike="noStrike" dirty="0">
                <a:solidFill>
                  <a:srgbClr val="424242"/>
                </a:solidFill>
                <a:effectLst/>
                <a:latin typeface="Calibri" panose="020F0502020204030204" pitchFamily="34" charset="0"/>
              </a:rPr>
              <a:t> </a:t>
            </a:r>
            <a:r>
              <a:rPr lang="en-GB" b="0" i="0" u="none" strike="noStrike" dirty="0">
                <a:solidFill>
                  <a:srgbClr val="424242"/>
                </a:solidFill>
                <a:effectLst/>
                <a:latin typeface="Calibri" panose="020F0502020204030204" pitchFamily="34" charset="0"/>
              </a:rPr>
              <a:t>should be able to afford the essentials.</a:t>
            </a:r>
            <a:r>
              <a:rPr lang="en-GB" b="0" i="0" dirty="0">
                <a:solidFill>
                  <a:srgbClr val="000000"/>
                </a:solidFill>
                <a:effectLst/>
                <a:latin typeface="Calibri" panose="020F0502020204030204" pitchFamily="34" charset="0"/>
              </a:rPr>
              <a:t>​</a:t>
            </a:r>
          </a:p>
          <a:p>
            <a:r>
              <a:rPr lang="en-GB" b="0" i="0" u="none" strike="noStrike" dirty="0">
                <a:solidFill>
                  <a:srgbClr val="424242"/>
                </a:solidFill>
                <a:effectLst/>
                <a:latin typeface="Calibri" panose="020F0502020204030204" pitchFamily="34" charset="0"/>
              </a:rPr>
              <a:t>But the rise in the cost of living is pushing more and more families through the doors of food banks. </a:t>
            </a:r>
            <a:endParaRPr lang="en-GB" b="1" dirty="0">
              <a:solidFill>
                <a:srgbClr val="FF0000"/>
              </a:solidFill>
            </a:endParaRPr>
          </a:p>
          <a:p>
            <a:endParaRPr lang="en-GB" dirty="0"/>
          </a:p>
        </p:txBody>
      </p:sp>
      <p:sp>
        <p:nvSpPr>
          <p:cNvPr id="4" name="Slide Number Placeholder 3"/>
          <p:cNvSpPr>
            <a:spLocks noGrp="1"/>
          </p:cNvSpPr>
          <p:nvPr>
            <p:ph type="sldNum" sz="quarter" idx="5"/>
          </p:nvPr>
        </p:nvSpPr>
        <p:spPr/>
        <p:txBody>
          <a:bodyPr/>
          <a:lstStyle/>
          <a:p>
            <a:fld id="{07C88900-6B2F-804E-88EC-4DF05AEC2879}" type="slidenum">
              <a:rPr lang="en-GB" smtClean="0"/>
              <a:t>25</a:t>
            </a:fld>
            <a:endParaRPr lang="en-GB"/>
          </a:p>
        </p:txBody>
      </p:sp>
    </p:spTree>
    <p:extLst>
      <p:ext uri="{BB962C8B-B14F-4D97-AF65-F5344CB8AC3E}">
        <p14:creationId xmlns:p14="http://schemas.microsoft.com/office/powerpoint/2010/main" val="4056767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Symbol" panose="05050102010706020507" pitchFamily="18" charset="2"/>
              <a:buChar char=""/>
            </a:pPr>
            <a:endParaRPr lang="en-GB"/>
          </a:p>
        </p:txBody>
      </p:sp>
      <p:sp>
        <p:nvSpPr>
          <p:cNvPr id="4" name="Slide Number Placeholder 3"/>
          <p:cNvSpPr>
            <a:spLocks noGrp="1"/>
          </p:cNvSpPr>
          <p:nvPr>
            <p:ph type="sldNum" sz="quarter" idx="5"/>
          </p:nvPr>
        </p:nvSpPr>
        <p:spPr/>
        <p:txBody>
          <a:bodyPr/>
          <a:lstStyle/>
          <a:p>
            <a:fld id="{07C88900-6B2F-804E-88EC-4DF05AEC2879}" type="slidenum">
              <a:rPr lang="en-GB" smtClean="0"/>
              <a:t>26</a:t>
            </a:fld>
            <a:endParaRPr lang="en-GB"/>
          </a:p>
        </p:txBody>
      </p:sp>
    </p:spTree>
    <p:extLst>
      <p:ext uri="{BB962C8B-B14F-4D97-AF65-F5344CB8AC3E}">
        <p14:creationId xmlns:p14="http://schemas.microsoft.com/office/powerpoint/2010/main" val="845292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C88900-6B2F-804E-88EC-4DF05AEC2879}" type="slidenum">
              <a:rPr lang="en-GB" smtClean="0"/>
              <a:t>27</a:t>
            </a:fld>
            <a:endParaRPr lang="en-GB"/>
          </a:p>
        </p:txBody>
      </p:sp>
    </p:spTree>
    <p:extLst>
      <p:ext uri="{BB962C8B-B14F-4D97-AF65-F5344CB8AC3E}">
        <p14:creationId xmlns:p14="http://schemas.microsoft.com/office/powerpoint/2010/main" val="18297859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2B11D21C-6873-504C-A622-044414961246}"/>
              </a:ext>
            </a:extLst>
          </p:cNvPr>
          <p:cNvSpPr>
            <a:spLocks noGrp="1"/>
          </p:cNvSpPr>
          <p:nvPr>
            <p:ph type="pic" sz="quarter" idx="12" hasCustomPrompt="1"/>
          </p:nvPr>
        </p:nvSpPr>
        <p:spPr>
          <a:xfrm>
            <a:off x="7331908" y="-1615"/>
            <a:ext cx="4860092" cy="6859615"/>
          </a:xfrm>
          <a:custGeom>
            <a:avLst/>
            <a:gdLst>
              <a:gd name="connsiteX0" fmla="*/ 39942 w 5578475"/>
              <a:gd name="connsiteY0" fmla="*/ 3797300 h 6859615"/>
              <a:gd name="connsiteX1" fmla="*/ 79884 w 5578475"/>
              <a:gd name="connsiteY1" fmla="*/ 3870097 h 6859615"/>
              <a:gd name="connsiteX2" fmla="*/ 39942 w 5578475"/>
              <a:gd name="connsiteY2" fmla="*/ 3942894 h 6859615"/>
              <a:gd name="connsiteX3" fmla="*/ 0 w 5578475"/>
              <a:gd name="connsiteY3" fmla="*/ 3870097 h 6859615"/>
              <a:gd name="connsiteX4" fmla="*/ 39942 w 5578475"/>
              <a:gd name="connsiteY4" fmla="*/ 3797300 h 6859615"/>
              <a:gd name="connsiteX5" fmla="*/ 5572379 w 5578475"/>
              <a:gd name="connsiteY5" fmla="*/ 0 h 6859615"/>
              <a:gd name="connsiteX6" fmla="*/ 5578475 w 5578475"/>
              <a:gd name="connsiteY6" fmla="*/ 6857986 h 6859615"/>
              <a:gd name="connsiteX7" fmla="*/ 771923 w 5578475"/>
              <a:gd name="connsiteY7" fmla="*/ 6859615 h 6859615"/>
              <a:gd name="connsiteX8" fmla="*/ 777729 w 5578475"/>
              <a:gd name="connsiteY8" fmla="*/ 6185420 h 6859615"/>
              <a:gd name="connsiteX9" fmla="*/ 843996 w 5578475"/>
              <a:gd name="connsiteY9" fmla="*/ 5874333 h 6859615"/>
              <a:gd name="connsiteX10" fmla="*/ 798557 w 5578475"/>
              <a:gd name="connsiteY10" fmla="*/ 5140414 h 6859615"/>
              <a:gd name="connsiteX11" fmla="*/ 792163 w 5578475"/>
              <a:gd name="connsiteY11" fmla="*/ 4302231 h 6859615"/>
              <a:gd name="connsiteX12" fmla="*/ 786829 w 5578475"/>
              <a:gd name="connsiteY12" fmla="*/ 2775529 h 6859615"/>
              <a:gd name="connsiteX13" fmla="*/ 808463 w 5578475"/>
              <a:gd name="connsiteY13" fmla="*/ 1862862 h 6859615"/>
              <a:gd name="connsiteX14" fmla="*/ 807229 w 5578475"/>
              <a:gd name="connsiteY14" fmla="*/ 1228384 h 6859615"/>
              <a:gd name="connsiteX15" fmla="*/ 783825 w 5578475"/>
              <a:gd name="connsiteY15" fmla="*/ 666410 h 6859615"/>
              <a:gd name="connsiteX16" fmla="*/ 801641 w 5578475"/>
              <a:gd name="connsiteY16" fmla="*/ 724 h 6859615"/>
              <a:gd name="connsiteX0" fmla="*/ 80848 w 5619381"/>
              <a:gd name="connsiteY0" fmla="*/ 3797300 h 6859615"/>
              <a:gd name="connsiteX1" fmla="*/ 120790 w 5619381"/>
              <a:gd name="connsiteY1" fmla="*/ 3870097 h 6859615"/>
              <a:gd name="connsiteX2" fmla="*/ 697637 w 5619381"/>
              <a:gd name="connsiteY2" fmla="*/ 5758755 h 6859615"/>
              <a:gd name="connsiteX3" fmla="*/ 40906 w 5619381"/>
              <a:gd name="connsiteY3" fmla="*/ 3870097 h 6859615"/>
              <a:gd name="connsiteX4" fmla="*/ 80848 w 5619381"/>
              <a:gd name="connsiteY4" fmla="*/ 3797300 h 6859615"/>
              <a:gd name="connsiteX5" fmla="*/ 5613285 w 5619381"/>
              <a:gd name="connsiteY5" fmla="*/ 0 h 6859615"/>
              <a:gd name="connsiteX6" fmla="*/ 5619381 w 5619381"/>
              <a:gd name="connsiteY6" fmla="*/ 6857986 h 6859615"/>
              <a:gd name="connsiteX7" fmla="*/ 812829 w 5619381"/>
              <a:gd name="connsiteY7" fmla="*/ 6859615 h 6859615"/>
              <a:gd name="connsiteX8" fmla="*/ 818635 w 5619381"/>
              <a:gd name="connsiteY8" fmla="*/ 6185420 h 6859615"/>
              <a:gd name="connsiteX9" fmla="*/ 884902 w 5619381"/>
              <a:gd name="connsiteY9" fmla="*/ 5874333 h 6859615"/>
              <a:gd name="connsiteX10" fmla="*/ 839463 w 5619381"/>
              <a:gd name="connsiteY10" fmla="*/ 5140414 h 6859615"/>
              <a:gd name="connsiteX11" fmla="*/ 833069 w 5619381"/>
              <a:gd name="connsiteY11" fmla="*/ 4302231 h 6859615"/>
              <a:gd name="connsiteX12" fmla="*/ 827735 w 5619381"/>
              <a:gd name="connsiteY12" fmla="*/ 2775529 h 6859615"/>
              <a:gd name="connsiteX13" fmla="*/ 849369 w 5619381"/>
              <a:gd name="connsiteY13" fmla="*/ 1862862 h 6859615"/>
              <a:gd name="connsiteX14" fmla="*/ 848135 w 5619381"/>
              <a:gd name="connsiteY14" fmla="*/ 1228384 h 6859615"/>
              <a:gd name="connsiteX15" fmla="*/ 824731 w 5619381"/>
              <a:gd name="connsiteY15" fmla="*/ 666410 h 6859615"/>
              <a:gd name="connsiteX16" fmla="*/ 842547 w 5619381"/>
              <a:gd name="connsiteY16" fmla="*/ 724 h 6859615"/>
              <a:gd name="connsiteX17" fmla="*/ 5613285 w 5619381"/>
              <a:gd name="connsiteY17" fmla="*/ 0 h 6859615"/>
              <a:gd name="connsiteX0" fmla="*/ 104617 w 5643150"/>
              <a:gd name="connsiteY0" fmla="*/ 3797300 h 6859615"/>
              <a:gd name="connsiteX1" fmla="*/ 774287 w 5643150"/>
              <a:gd name="connsiteY1" fmla="*/ 5315022 h 6859615"/>
              <a:gd name="connsiteX2" fmla="*/ 721406 w 5643150"/>
              <a:gd name="connsiteY2" fmla="*/ 5758755 h 6859615"/>
              <a:gd name="connsiteX3" fmla="*/ 64675 w 5643150"/>
              <a:gd name="connsiteY3" fmla="*/ 3870097 h 6859615"/>
              <a:gd name="connsiteX4" fmla="*/ 104617 w 5643150"/>
              <a:gd name="connsiteY4" fmla="*/ 3797300 h 6859615"/>
              <a:gd name="connsiteX5" fmla="*/ 5637054 w 5643150"/>
              <a:gd name="connsiteY5" fmla="*/ 0 h 6859615"/>
              <a:gd name="connsiteX6" fmla="*/ 5643150 w 5643150"/>
              <a:gd name="connsiteY6" fmla="*/ 6857986 h 6859615"/>
              <a:gd name="connsiteX7" fmla="*/ 836598 w 5643150"/>
              <a:gd name="connsiteY7" fmla="*/ 6859615 h 6859615"/>
              <a:gd name="connsiteX8" fmla="*/ 842404 w 5643150"/>
              <a:gd name="connsiteY8" fmla="*/ 6185420 h 6859615"/>
              <a:gd name="connsiteX9" fmla="*/ 908671 w 5643150"/>
              <a:gd name="connsiteY9" fmla="*/ 5874333 h 6859615"/>
              <a:gd name="connsiteX10" fmla="*/ 863232 w 5643150"/>
              <a:gd name="connsiteY10" fmla="*/ 5140414 h 6859615"/>
              <a:gd name="connsiteX11" fmla="*/ 856838 w 5643150"/>
              <a:gd name="connsiteY11" fmla="*/ 4302231 h 6859615"/>
              <a:gd name="connsiteX12" fmla="*/ 851504 w 5643150"/>
              <a:gd name="connsiteY12" fmla="*/ 2775529 h 6859615"/>
              <a:gd name="connsiteX13" fmla="*/ 873138 w 5643150"/>
              <a:gd name="connsiteY13" fmla="*/ 1862862 h 6859615"/>
              <a:gd name="connsiteX14" fmla="*/ 871904 w 5643150"/>
              <a:gd name="connsiteY14" fmla="*/ 1228384 h 6859615"/>
              <a:gd name="connsiteX15" fmla="*/ 848500 w 5643150"/>
              <a:gd name="connsiteY15" fmla="*/ 666410 h 6859615"/>
              <a:gd name="connsiteX16" fmla="*/ 866316 w 5643150"/>
              <a:gd name="connsiteY16" fmla="*/ 724 h 6859615"/>
              <a:gd name="connsiteX17" fmla="*/ 5637054 w 5643150"/>
              <a:gd name="connsiteY17" fmla="*/ 0 h 6859615"/>
              <a:gd name="connsiteX0" fmla="*/ 669677 w 5578482"/>
              <a:gd name="connsiteY0" fmla="*/ 5086949 h 6859615"/>
              <a:gd name="connsiteX1" fmla="*/ 709619 w 5578482"/>
              <a:gd name="connsiteY1" fmla="*/ 5315022 h 6859615"/>
              <a:gd name="connsiteX2" fmla="*/ 656738 w 5578482"/>
              <a:gd name="connsiteY2" fmla="*/ 5758755 h 6859615"/>
              <a:gd name="connsiteX3" fmla="*/ 7 w 5578482"/>
              <a:gd name="connsiteY3" fmla="*/ 3870097 h 6859615"/>
              <a:gd name="connsiteX4" fmla="*/ 669677 w 5578482"/>
              <a:gd name="connsiteY4" fmla="*/ 5086949 h 6859615"/>
              <a:gd name="connsiteX5" fmla="*/ 5572386 w 5578482"/>
              <a:gd name="connsiteY5" fmla="*/ 0 h 6859615"/>
              <a:gd name="connsiteX6" fmla="*/ 5578482 w 5578482"/>
              <a:gd name="connsiteY6" fmla="*/ 6857986 h 6859615"/>
              <a:gd name="connsiteX7" fmla="*/ 771930 w 5578482"/>
              <a:gd name="connsiteY7" fmla="*/ 6859615 h 6859615"/>
              <a:gd name="connsiteX8" fmla="*/ 777736 w 5578482"/>
              <a:gd name="connsiteY8" fmla="*/ 6185420 h 6859615"/>
              <a:gd name="connsiteX9" fmla="*/ 844003 w 5578482"/>
              <a:gd name="connsiteY9" fmla="*/ 5874333 h 6859615"/>
              <a:gd name="connsiteX10" fmla="*/ 798564 w 5578482"/>
              <a:gd name="connsiteY10" fmla="*/ 5140414 h 6859615"/>
              <a:gd name="connsiteX11" fmla="*/ 792170 w 5578482"/>
              <a:gd name="connsiteY11" fmla="*/ 4302231 h 6859615"/>
              <a:gd name="connsiteX12" fmla="*/ 786836 w 5578482"/>
              <a:gd name="connsiteY12" fmla="*/ 2775529 h 6859615"/>
              <a:gd name="connsiteX13" fmla="*/ 808470 w 5578482"/>
              <a:gd name="connsiteY13" fmla="*/ 1862862 h 6859615"/>
              <a:gd name="connsiteX14" fmla="*/ 807236 w 5578482"/>
              <a:gd name="connsiteY14" fmla="*/ 1228384 h 6859615"/>
              <a:gd name="connsiteX15" fmla="*/ 783832 w 5578482"/>
              <a:gd name="connsiteY15" fmla="*/ 666410 h 6859615"/>
              <a:gd name="connsiteX16" fmla="*/ 801648 w 5578482"/>
              <a:gd name="connsiteY16" fmla="*/ 724 h 6859615"/>
              <a:gd name="connsiteX17" fmla="*/ 5572386 w 5578482"/>
              <a:gd name="connsiteY17" fmla="*/ 0 h 6859615"/>
              <a:gd name="connsiteX0" fmla="*/ 74523 w 4983328"/>
              <a:gd name="connsiteY0" fmla="*/ 5086949 h 6859615"/>
              <a:gd name="connsiteX1" fmla="*/ 114465 w 4983328"/>
              <a:gd name="connsiteY1" fmla="*/ 5315022 h 6859615"/>
              <a:gd name="connsiteX2" fmla="*/ 61584 w 4983328"/>
              <a:gd name="connsiteY2" fmla="*/ 5758755 h 6859615"/>
              <a:gd name="connsiteX3" fmla="*/ 76 w 4983328"/>
              <a:gd name="connsiteY3" fmla="*/ 5396972 h 6859615"/>
              <a:gd name="connsiteX4" fmla="*/ 74523 w 4983328"/>
              <a:gd name="connsiteY4" fmla="*/ 5086949 h 6859615"/>
              <a:gd name="connsiteX5" fmla="*/ 4977232 w 4983328"/>
              <a:gd name="connsiteY5" fmla="*/ 0 h 6859615"/>
              <a:gd name="connsiteX6" fmla="*/ 4983328 w 4983328"/>
              <a:gd name="connsiteY6" fmla="*/ 6857986 h 6859615"/>
              <a:gd name="connsiteX7" fmla="*/ 176776 w 4983328"/>
              <a:gd name="connsiteY7" fmla="*/ 6859615 h 6859615"/>
              <a:gd name="connsiteX8" fmla="*/ 182582 w 4983328"/>
              <a:gd name="connsiteY8" fmla="*/ 6185420 h 6859615"/>
              <a:gd name="connsiteX9" fmla="*/ 248849 w 4983328"/>
              <a:gd name="connsiteY9" fmla="*/ 5874333 h 6859615"/>
              <a:gd name="connsiteX10" fmla="*/ 203410 w 4983328"/>
              <a:gd name="connsiteY10" fmla="*/ 5140414 h 6859615"/>
              <a:gd name="connsiteX11" fmla="*/ 197016 w 4983328"/>
              <a:gd name="connsiteY11" fmla="*/ 4302231 h 6859615"/>
              <a:gd name="connsiteX12" fmla="*/ 191682 w 4983328"/>
              <a:gd name="connsiteY12" fmla="*/ 2775529 h 6859615"/>
              <a:gd name="connsiteX13" fmla="*/ 213316 w 4983328"/>
              <a:gd name="connsiteY13" fmla="*/ 1862862 h 6859615"/>
              <a:gd name="connsiteX14" fmla="*/ 212082 w 4983328"/>
              <a:gd name="connsiteY14" fmla="*/ 1228384 h 6859615"/>
              <a:gd name="connsiteX15" fmla="*/ 188678 w 4983328"/>
              <a:gd name="connsiteY15" fmla="*/ 666410 h 6859615"/>
              <a:gd name="connsiteX16" fmla="*/ 206494 w 4983328"/>
              <a:gd name="connsiteY16" fmla="*/ 724 h 6859615"/>
              <a:gd name="connsiteX17" fmla="*/ 4977232 w 4983328"/>
              <a:gd name="connsiteY17" fmla="*/ 0 h 6859615"/>
              <a:gd name="connsiteX0" fmla="*/ 74454 w 4983259"/>
              <a:gd name="connsiteY0" fmla="*/ 5086949 h 6859615"/>
              <a:gd name="connsiteX1" fmla="*/ 114396 w 4983259"/>
              <a:gd name="connsiteY1" fmla="*/ 5315022 h 6859615"/>
              <a:gd name="connsiteX2" fmla="*/ 78767 w 4983259"/>
              <a:gd name="connsiteY2" fmla="*/ 5456830 h 6859615"/>
              <a:gd name="connsiteX3" fmla="*/ 7 w 4983259"/>
              <a:gd name="connsiteY3" fmla="*/ 5396972 h 6859615"/>
              <a:gd name="connsiteX4" fmla="*/ 74454 w 4983259"/>
              <a:gd name="connsiteY4" fmla="*/ 5086949 h 6859615"/>
              <a:gd name="connsiteX5" fmla="*/ 4977163 w 4983259"/>
              <a:gd name="connsiteY5" fmla="*/ 0 h 6859615"/>
              <a:gd name="connsiteX6" fmla="*/ 4983259 w 4983259"/>
              <a:gd name="connsiteY6" fmla="*/ 6857986 h 6859615"/>
              <a:gd name="connsiteX7" fmla="*/ 176707 w 4983259"/>
              <a:gd name="connsiteY7" fmla="*/ 6859615 h 6859615"/>
              <a:gd name="connsiteX8" fmla="*/ 182513 w 4983259"/>
              <a:gd name="connsiteY8" fmla="*/ 6185420 h 6859615"/>
              <a:gd name="connsiteX9" fmla="*/ 248780 w 4983259"/>
              <a:gd name="connsiteY9" fmla="*/ 5874333 h 6859615"/>
              <a:gd name="connsiteX10" fmla="*/ 203341 w 4983259"/>
              <a:gd name="connsiteY10" fmla="*/ 5140414 h 6859615"/>
              <a:gd name="connsiteX11" fmla="*/ 196947 w 4983259"/>
              <a:gd name="connsiteY11" fmla="*/ 4302231 h 6859615"/>
              <a:gd name="connsiteX12" fmla="*/ 191613 w 4983259"/>
              <a:gd name="connsiteY12" fmla="*/ 2775529 h 6859615"/>
              <a:gd name="connsiteX13" fmla="*/ 213247 w 4983259"/>
              <a:gd name="connsiteY13" fmla="*/ 1862862 h 6859615"/>
              <a:gd name="connsiteX14" fmla="*/ 212013 w 4983259"/>
              <a:gd name="connsiteY14" fmla="*/ 1228384 h 6859615"/>
              <a:gd name="connsiteX15" fmla="*/ 188609 w 4983259"/>
              <a:gd name="connsiteY15" fmla="*/ 666410 h 6859615"/>
              <a:gd name="connsiteX16" fmla="*/ 206425 w 4983259"/>
              <a:gd name="connsiteY16" fmla="*/ 724 h 6859615"/>
              <a:gd name="connsiteX17" fmla="*/ 4977163 w 4983259"/>
              <a:gd name="connsiteY17" fmla="*/ 0 h 6859615"/>
              <a:gd name="connsiteX0" fmla="*/ 44956 w 4983953"/>
              <a:gd name="connsiteY0" fmla="*/ 5293983 h 6859615"/>
              <a:gd name="connsiteX1" fmla="*/ 115090 w 4983953"/>
              <a:gd name="connsiteY1" fmla="*/ 5315022 h 6859615"/>
              <a:gd name="connsiteX2" fmla="*/ 79461 w 4983953"/>
              <a:gd name="connsiteY2" fmla="*/ 5456830 h 6859615"/>
              <a:gd name="connsiteX3" fmla="*/ 701 w 4983953"/>
              <a:gd name="connsiteY3" fmla="*/ 5396972 h 6859615"/>
              <a:gd name="connsiteX4" fmla="*/ 44956 w 4983953"/>
              <a:gd name="connsiteY4" fmla="*/ 5293983 h 6859615"/>
              <a:gd name="connsiteX5" fmla="*/ 4977857 w 4983953"/>
              <a:gd name="connsiteY5" fmla="*/ 0 h 6859615"/>
              <a:gd name="connsiteX6" fmla="*/ 4983953 w 4983953"/>
              <a:gd name="connsiteY6" fmla="*/ 6857986 h 6859615"/>
              <a:gd name="connsiteX7" fmla="*/ 177401 w 4983953"/>
              <a:gd name="connsiteY7" fmla="*/ 6859615 h 6859615"/>
              <a:gd name="connsiteX8" fmla="*/ 183207 w 4983953"/>
              <a:gd name="connsiteY8" fmla="*/ 6185420 h 6859615"/>
              <a:gd name="connsiteX9" fmla="*/ 249474 w 4983953"/>
              <a:gd name="connsiteY9" fmla="*/ 5874333 h 6859615"/>
              <a:gd name="connsiteX10" fmla="*/ 204035 w 4983953"/>
              <a:gd name="connsiteY10" fmla="*/ 5140414 h 6859615"/>
              <a:gd name="connsiteX11" fmla="*/ 197641 w 4983953"/>
              <a:gd name="connsiteY11" fmla="*/ 4302231 h 6859615"/>
              <a:gd name="connsiteX12" fmla="*/ 192307 w 4983953"/>
              <a:gd name="connsiteY12" fmla="*/ 2775529 h 6859615"/>
              <a:gd name="connsiteX13" fmla="*/ 213941 w 4983953"/>
              <a:gd name="connsiteY13" fmla="*/ 1862862 h 6859615"/>
              <a:gd name="connsiteX14" fmla="*/ 212707 w 4983953"/>
              <a:gd name="connsiteY14" fmla="*/ 1228384 h 6859615"/>
              <a:gd name="connsiteX15" fmla="*/ 189303 w 4983953"/>
              <a:gd name="connsiteY15" fmla="*/ 666410 h 6859615"/>
              <a:gd name="connsiteX16" fmla="*/ 207119 w 4983953"/>
              <a:gd name="connsiteY16" fmla="*/ 724 h 6859615"/>
              <a:gd name="connsiteX17" fmla="*/ 4977857 w 4983953"/>
              <a:gd name="connsiteY17" fmla="*/ 0 h 6859615"/>
              <a:gd name="connsiteX0" fmla="*/ 4084 w 4943081"/>
              <a:gd name="connsiteY0" fmla="*/ 5293983 h 6859615"/>
              <a:gd name="connsiteX1" fmla="*/ 74218 w 4943081"/>
              <a:gd name="connsiteY1" fmla="*/ 5315022 h 6859615"/>
              <a:gd name="connsiteX2" fmla="*/ 38589 w 4943081"/>
              <a:gd name="connsiteY2" fmla="*/ 5456830 h 6859615"/>
              <a:gd name="connsiteX3" fmla="*/ 11587 w 4943081"/>
              <a:gd name="connsiteY3" fmla="*/ 5388346 h 6859615"/>
              <a:gd name="connsiteX4" fmla="*/ 4084 w 4943081"/>
              <a:gd name="connsiteY4" fmla="*/ 5293983 h 6859615"/>
              <a:gd name="connsiteX5" fmla="*/ 4936985 w 4943081"/>
              <a:gd name="connsiteY5" fmla="*/ 0 h 6859615"/>
              <a:gd name="connsiteX6" fmla="*/ 4943081 w 4943081"/>
              <a:gd name="connsiteY6" fmla="*/ 6857986 h 6859615"/>
              <a:gd name="connsiteX7" fmla="*/ 136529 w 4943081"/>
              <a:gd name="connsiteY7" fmla="*/ 6859615 h 6859615"/>
              <a:gd name="connsiteX8" fmla="*/ 142335 w 4943081"/>
              <a:gd name="connsiteY8" fmla="*/ 6185420 h 6859615"/>
              <a:gd name="connsiteX9" fmla="*/ 208602 w 4943081"/>
              <a:gd name="connsiteY9" fmla="*/ 5874333 h 6859615"/>
              <a:gd name="connsiteX10" fmla="*/ 163163 w 4943081"/>
              <a:gd name="connsiteY10" fmla="*/ 5140414 h 6859615"/>
              <a:gd name="connsiteX11" fmla="*/ 156769 w 4943081"/>
              <a:gd name="connsiteY11" fmla="*/ 4302231 h 6859615"/>
              <a:gd name="connsiteX12" fmla="*/ 151435 w 4943081"/>
              <a:gd name="connsiteY12" fmla="*/ 2775529 h 6859615"/>
              <a:gd name="connsiteX13" fmla="*/ 173069 w 4943081"/>
              <a:gd name="connsiteY13" fmla="*/ 1862862 h 6859615"/>
              <a:gd name="connsiteX14" fmla="*/ 171835 w 4943081"/>
              <a:gd name="connsiteY14" fmla="*/ 1228384 h 6859615"/>
              <a:gd name="connsiteX15" fmla="*/ 148431 w 4943081"/>
              <a:gd name="connsiteY15" fmla="*/ 666410 h 6859615"/>
              <a:gd name="connsiteX16" fmla="*/ 166247 w 4943081"/>
              <a:gd name="connsiteY16" fmla="*/ 724 h 6859615"/>
              <a:gd name="connsiteX17" fmla="*/ 4936985 w 4943081"/>
              <a:gd name="connsiteY17" fmla="*/ 0 h 6859615"/>
              <a:gd name="connsiteX0" fmla="*/ 4648 w 4943645"/>
              <a:gd name="connsiteY0" fmla="*/ 5293983 h 6859615"/>
              <a:gd name="connsiteX1" fmla="*/ 74782 w 4943645"/>
              <a:gd name="connsiteY1" fmla="*/ 5315022 h 6859615"/>
              <a:gd name="connsiteX2" fmla="*/ 57153 w 4943645"/>
              <a:gd name="connsiteY2" fmla="*/ 5413630 h 6859615"/>
              <a:gd name="connsiteX3" fmla="*/ 12151 w 4943645"/>
              <a:gd name="connsiteY3" fmla="*/ 5388346 h 6859615"/>
              <a:gd name="connsiteX4" fmla="*/ 4648 w 4943645"/>
              <a:gd name="connsiteY4" fmla="*/ 5293983 h 6859615"/>
              <a:gd name="connsiteX5" fmla="*/ 4937549 w 4943645"/>
              <a:gd name="connsiteY5" fmla="*/ 0 h 6859615"/>
              <a:gd name="connsiteX6" fmla="*/ 4943645 w 4943645"/>
              <a:gd name="connsiteY6" fmla="*/ 6857986 h 6859615"/>
              <a:gd name="connsiteX7" fmla="*/ 137093 w 4943645"/>
              <a:gd name="connsiteY7" fmla="*/ 6859615 h 6859615"/>
              <a:gd name="connsiteX8" fmla="*/ 142899 w 4943645"/>
              <a:gd name="connsiteY8" fmla="*/ 6185420 h 6859615"/>
              <a:gd name="connsiteX9" fmla="*/ 209166 w 4943645"/>
              <a:gd name="connsiteY9" fmla="*/ 5874333 h 6859615"/>
              <a:gd name="connsiteX10" fmla="*/ 163727 w 4943645"/>
              <a:gd name="connsiteY10" fmla="*/ 5140414 h 6859615"/>
              <a:gd name="connsiteX11" fmla="*/ 157333 w 4943645"/>
              <a:gd name="connsiteY11" fmla="*/ 4302231 h 6859615"/>
              <a:gd name="connsiteX12" fmla="*/ 151999 w 4943645"/>
              <a:gd name="connsiteY12" fmla="*/ 2775529 h 6859615"/>
              <a:gd name="connsiteX13" fmla="*/ 173633 w 4943645"/>
              <a:gd name="connsiteY13" fmla="*/ 1862862 h 6859615"/>
              <a:gd name="connsiteX14" fmla="*/ 172399 w 4943645"/>
              <a:gd name="connsiteY14" fmla="*/ 1228384 h 6859615"/>
              <a:gd name="connsiteX15" fmla="*/ 148995 w 4943645"/>
              <a:gd name="connsiteY15" fmla="*/ 666410 h 6859615"/>
              <a:gd name="connsiteX16" fmla="*/ 166811 w 4943645"/>
              <a:gd name="connsiteY16" fmla="*/ 724 h 6859615"/>
              <a:gd name="connsiteX17" fmla="*/ 4937549 w 4943645"/>
              <a:gd name="connsiteY17" fmla="*/ 0 h 6859615"/>
              <a:gd name="connsiteX0" fmla="*/ 15612 w 4933009"/>
              <a:gd name="connsiteY0" fmla="*/ 5319183 h 6859615"/>
              <a:gd name="connsiteX1" fmla="*/ 64146 w 4933009"/>
              <a:gd name="connsiteY1" fmla="*/ 5315022 h 6859615"/>
              <a:gd name="connsiteX2" fmla="*/ 46517 w 4933009"/>
              <a:gd name="connsiteY2" fmla="*/ 5413630 h 6859615"/>
              <a:gd name="connsiteX3" fmla="*/ 1515 w 4933009"/>
              <a:gd name="connsiteY3" fmla="*/ 5388346 h 6859615"/>
              <a:gd name="connsiteX4" fmla="*/ 15612 w 4933009"/>
              <a:gd name="connsiteY4" fmla="*/ 5319183 h 6859615"/>
              <a:gd name="connsiteX5" fmla="*/ 4926913 w 4933009"/>
              <a:gd name="connsiteY5" fmla="*/ 0 h 6859615"/>
              <a:gd name="connsiteX6" fmla="*/ 4933009 w 4933009"/>
              <a:gd name="connsiteY6" fmla="*/ 6857986 h 6859615"/>
              <a:gd name="connsiteX7" fmla="*/ 126457 w 4933009"/>
              <a:gd name="connsiteY7" fmla="*/ 6859615 h 6859615"/>
              <a:gd name="connsiteX8" fmla="*/ 132263 w 4933009"/>
              <a:gd name="connsiteY8" fmla="*/ 6185420 h 6859615"/>
              <a:gd name="connsiteX9" fmla="*/ 198530 w 4933009"/>
              <a:gd name="connsiteY9" fmla="*/ 5874333 h 6859615"/>
              <a:gd name="connsiteX10" fmla="*/ 153091 w 4933009"/>
              <a:gd name="connsiteY10" fmla="*/ 5140414 h 6859615"/>
              <a:gd name="connsiteX11" fmla="*/ 146697 w 4933009"/>
              <a:gd name="connsiteY11" fmla="*/ 4302231 h 6859615"/>
              <a:gd name="connsiteX12" fmla="*/ 141363 w 4933009"/>
              <a:gd name="connsiteY12" fmla="*/ 2775529 h 6859615"/>
              <a:gd name="connsiteX13" fmla="*/ 162997 w 4933009"/>
              <a:gd name="connsiteY13" fmla="*/ 1862862 h 6859615"/>
              <a:gd name="connsiteX14" fmla="*/ 161763 w 4933009"/>
              <a:gd name="connsiteY14" fmla="*/ 1228384 h 6859615"/>
              <a:gd name="connsiteX15" fmla="*/ 138359 w 4933009"/>
              <a:gd name="connsiteY15" fmla="*/ 666410 h 6859615"/>
              <a:gd name="connsiteX16" fmla="*/ 156175 w 4933009"/>
              <a:gd name="connsiteY16" fmla="*/ 724 h 6859615"/>
              <a:gd name="connsiteX17" fmla="*/ 4926913 w 4933009"/>
              <a:gd name="connsiteY17" fmla="*/ 0 h 6859615"/>
              <a:gd name="connsiteX0" fmla="*/ 20639 w 4938036"/>
              <a:gd name="connsiteY0" fmla="*/ 5319183 h 6859615"/>
              <a:gd name="connsiteX1" fmla="*/ 69173 w 4938036"/>
              <a:gd name="connsiteY1" fmla="*/ 5315022 h 6859615"/>
              <a:gd name="connsiteX2" fmla="*/ 123544 w 4938036"/>
              <a:gd name="connsiteY2" fmla="*/ 5615230 h 6859615"/>
              <a:gd name="connsiteX3" fmla="*/ 6542 w 4938036"/>
              <a:gd name="connsiteY3" fmla="*/ 5388346 h 6859615"/>
              <a:gd name="connsiteX4" fmla="*/ 20639 w 4938036"/>
              <a:gd name="connsiteY4" fmla="*/ 5319183 h 6859615"/>
              <a:gd name="connsiteX5" fmla="*/ 4931940 w 4938036"/>
              <a:gd name="connsiteY5" fmla="*/ 0 h 6859615"/>
              <a:gd name="connsiteX6" fmla="*/ 4938036 w 4938036"/>
              <a:gd name="connsiteY6" fmla="*/ 6857986 h 6859615"/>
              <a:gd name="connsiteX7" fmla="*/ 131484 w 4938036"/>
              <a:gd name="connsiteY7" fmla="*/ 6859615 h 6859615"/>
              <a:gd name="connsiteX8" fmla="*/ 137290 w 4938036"/>
              <a:gd name="connsiteY8" fmla="*/ 6185420 h 6859615"/>
              <a:gd name="connsiteX9" fmla="*/ 203557 w 4938036"/>
              <a:gd name="connsiteY9" fmla="*/ 5874333 h 6859615"/>
              <a:gd name="connsiteX10" fmla="*/ 158118 w 4938036"/>
              <a:gd name="connsiteY10" fmla="*/ 5140414 h 6859615"/>
              <a:gd name="connsiteX11" fmla="*/ 151724 w 4938036"/>
              <a:gd name="connsiteY11" fmla="*/ 4302231 h 6859615"/>
              <a:gd name="connsiteX12" fmla="*/ 146390 w 4938036"/>
              <a:gd name="connsiteY12" fmla="*/ 2775529 h 6859615"/>
              <a:gd name="connsiteX13" fmla="*/ 168024 w 4938036"/>
              <a:gd name="connsiteY13" fmla="*/ 1862862 h 6859615"/>
              <a:gd name="connsiteX14" fmla="*/ 166790 w 4938036"/>
              <a:gd name="connsiteY14" fmla="*/ 1228384 h 6859615"/>
              <a:gd name="connsiteX15" fmla="*/ 143386 w 4938036"/>
              <a:gd name="connsiteY15" fmla="*/ 666410 h 6859615"/>
              <a:gd name="connsiteX16" fmla="*/ 161202 w 4938036"/>
              <a:gd name="connsiteY16" fmla="*/ 724 h 6859615"/>
              <a:gd name="connsiteX17" fmla="*/ 4931940 w 4938036"/>
              <a:gd name="connsiteY17" fmla="*/ 0 h 6859615"/>
              <a:gd name="connsiteX0" fmla="*/ 21862 w 4939259"/>
              <a:gd name="connsiteY0" fmla="*/ 5319183 h 6859615"/>
              <a:gd name="connsiteX1" fmla="*/ 109996 w 4939259"/>
              <a:gd name="connsiteY1" fmla="*/ 5437422 h 6859615"/>
              <a:gd name="connsiteX2" fmla="*/ 124767 w 4939259"/>
              <a:gd name="connsiteY2" fmla="*/ 5615230 h 6859615"/>
              <a:gd name="connsiteX3" fmla="*/ 7765 w 4939259"/>
              <a:gd name="connsiteY3" fmla="*/ 5388346 h 6859615"/>
              <a:gd name="connsiteX4" fmla="*/ 21862 w 4939259"/>
              <a:gd name="connsiteY4" fmla="*/ 5319183 h 6859615"/>
              <a:gd name="connsiteX5" fmla="*/ 4933163 w 4939259"/>
              <a:gd name="connsiteY5" fmla="*/ 0 h 6859615"/>
              <a:gd name="connsiteX6" fmla="*/ 4939259 w 4939259"/>
              <a:gd name="connsiteY6" fmla="*/ 6857986 h 6859615"/>
              <a:gd name="connsiteX7" fmla="*/ 132707 w 4939259"/>
              <a:gd name="connsiteY7" fmla="*/ 6859615 h 6859615"/>
              <a:gd name="connsiteX8" fmla="*/ 138513 w 4939259"/>
              <a:gd name="connsiteY8" fmla="*/ 6185420 h 6859615"/>
              <a:gd name="connsiteX9" fmla="*/ 204780 w 4939259"/>
              <a:gd name="connsiteY9" fmla="*/ 5874333 h 6859615"/>
              <a:gd name="connsiteX10" fmla="*/ 159341 w 4939259"/>
              <a:gd name="connsiteY10" fmla="*/ 5140414 h 6859615"/>
              <a:gd name="connsiteX11" fmla="*/ 152947 w 4939259"/>
              <a:gd name="connsiteY11" fmla="*/ 4302231 h 6859615"/>
              <a:gd name="connsiteX12" fmla="*/ 147613 w 4939259"/>
              <a:gd name="connsiteY12" fmla="*/ 2775529 h 6859615"/>
              <a:gd name="connsiteX13" fmla="*/ 169247 w 4939259"/>
              <a:gd name="connsiteY13" fmla="*/ 1862862 h 6859615"/>
              <a:gd name="connsiteX14" fmla="*/ 168013 w 4939259"/>
              <a:gd name="connsiteY14" fmla="*/ 1228384 h 6859615"/>
              <a:gd name="connsiteX15" fmla="*/ 144609 w 4939259"/>
              <a:gd name="connsiteY15" fmla="*/ 666410 h 6859615"/>
              <a:gd name="connsiteX16" fmla="*/ 162425 w 4939259"/>
              <a:gd name="connsiteY16" fmla="*/ 724 h 6859615"/>
              <a:gd name="connsiteX17" fmla="*/ 4933163 w 4939259"/>
              <a:gd name="connsiteY17" fmla="*/ 0 h 6859615"/>
              <a:gd name="connsiteX0" fmla="*/ 93439 w 4931636"/>
              <a:gd name="connsiteY0" fmla="*/ 5394783 h 6859615"/>
              <a:gd name="connsiteX1" fmla="*/ 102373 w 4931636"/>
              <a:gd name="connsiteY1" fmla="*/ 5437422 h 6859615"/>
              <a:gd name="connsiteX2" fmla="*/ 117144 w 4931636"/>
              <a:gd name="connsiteY2" fmla="*/ 5615230 h 6859615"/>
              <a:gd name="connsiteX3" fmla="*/ 142 w 4931636"/>
              <a:gd name="connsiteY3" fmla="*/ 5388346 h 6859615"/>
              <a:gd name="connsiteX4" fmla="*/ 93439 w 4931636"/>
              <a:gd name="connsiteY4" fmla="*/ 5394783 h 6859615"/>
              <a:gd name="connsiteX5" fmla="*/ 4925540 w 4931636"/>
              <a:gd name="connsiteY5" fmla="*/ 0 h 6859615"/>
              <a:gd name="connsiteX6" fmla="*/ 4931636 w 4931636"/>
              <a:gd name="connsiteY6" fmla="*/ 6857986 h 6859615"/>
              <a:gd name="connsiteX7" fmla="*/ 125084 w 4931636"/>
              <a:gd name="connsiteY7" fmla="*/ 6859615 h 6859615"/>
              <a:gd name="connsiteX8" fmla="*/ 130890 w 4931636"/>
              <a:gd name="connsiteY8" fmla="*/ 6185420 h 6859615"/>
              <a:gd name="connsiteX9" fmla="*/ 197157 w 4931636"/>
              <a:gd name="connsiteY9" fmla="*/ 5874333 h 6859615"/>
              <a:gd name="connsiteX10" fmla="*/ 151718 w 4931636"/>
              <a:gd name="connsiteY10" fmla="*/ 5140414 h 6859615"/>
              <a:gd name="connsiteX11" fmla="*/ 145324 w 4931636"/>
              <a:gd name="connsiteY11" fmla="*/ 4302231 h 6859615"/>
              <a:gd name="connsiteX12" fmla="*/ 139990 w 4931636"/>
              <a:gd name="connsiteY12" fmla="*/ 2775529 h 6859615"/>
              <a:gd name="connsiteX13" fmla="*/ 161624 w 4931636"/>
              <a:gd name="connsiteY13" fmla="*/ 1862862 h 6859615"/>
              <a:gd name="connsiteX14" fmla="*/ 160390 w 4931636"/>
              <a:gd name="connsiteY14" fmla="*/ 1228384 h 6859615"/>
              <a:gd name="connsiteX15" fmla="*/ 136986 w 4931636"/>
              <a:gd name="connsiteY15" fmla="*/ 666410 h 6859615"/>
              <a:gd name="connsiteX16" fmla="*/ 154802 w 4931636"/>
              <a:gd name="connsiteY16" fmla="*/ 724 h 6859615"/>
              <a:gd name="connsiteX17" fmla="*/ 4925540 w 4931636"/>
              <a:gd name="connsiteY17" fmla="*/ 0 h 6859615"/>
              <a:gd name="connsiteX0" fmla="*/ 93444 w 4931641"/>
              <a:gd name="connsiteY0" fmla="*/ 5394783 h 6859615"/>
              <a:gd name="connsiteX1" fmla="*/ 123978 w 4931641"/>
              <a:gd name="connsiteY1" fmla="*/ 5559822 h 6859615"/>
              <a:gd name="connsiteX2" fmla="*/ 117149 w 4931641"/>
              <a:gd name="connsiteY2" fmla="*/ 5615230 h 6859615"/>
              <a:gd name="connsiteX3" fmla="*/ 147 w 4931641"/>
              <a:gd name="connsiteY3" fmla="*/ 5388346 h 6859615"/>
              <a:gd name="connsiteX4" fmla="*/ 93444 w 4931641"/>
              <a:gd name="connsiteY4" fmla="*/ 5394783 h 6859615"/>
              <a:gd name="connsiteX5" fmla="*/ 4925545 w 4931641"/>
              <a:gd name="connsiteY5" fmla="*/ 0 h 6859615"/>
              <a:gd name="connsiteX6" fmla="*/ 4931641 w 4931641"/>
              <a:gd name="connsiteY6" fmla="*/ 6857986 h 6859615"/>
              <a:gd name="connsiteX7" fmla="*/ 125089 w 4931641"/>
              <a:gd name="connsiteY7" fmla="*/ 6859615 h 6859615"/>
              <a:gd name="connsiteX8" fmla="*/ 130895 w 4931641"/>
              <a:gd name="connsiteY8" fmla="*/ 6185420 h 6859615"/>
              <a:gd name="connsiteX9" fmla="*/ 197162 w 4931641"/>
              <a:gd name="connsiteY9" fmla="*/ 5874333 h 6859615"/>
              <a:gd name="connsiteX10" fmla="*/ 151723 w 4931641"/>
              <a:gd name="connsiteY10" fmla="*/ 5140414 h 6859615"/>
              <a:gd name="connsiteX11" fmla="*/ 145329 w 4931641"/>
              <a:gd name="connsiteY11" fmla="*/ 4302231 h 6859615"/>
              <a:gd name="connsiteX12" fmla="*/ 139995 w 4931641"/>
              <a:gd name="connsiteY12" fmla="*/ 2775529 h 6859615"/>
              <a:gd name="connsiteX13" fmla="*/ 161629 w 4931641"/>
              <a:gd name="connsiteY13" fmla="*/ 1862862 h 6859615"/>
              <a:gd name="connsiteX14" fmla="*/ 160395 w 4931641"/>
              <a:gd name="connsiteY14" fmla="*/ 1228384 h 6859615"/>
              <a:gd name="connsiteX15" fmla="*/ 136991 w 4931641"/>
              <a:gd name="connsiteY15" fmla="*/ 666410 h 6859615"/>
              <a:gd name="connsiteX16" fmla="*/ 154807 w 4931641"/>
              <a:gd name="connsiteY16" fmla="*/ 724 h 6859615"/>
              <a:gd name="connsiteX17" fmla="*/ 4925545 w 4931641"/>
              <a:gd name="connsiteY17" fmla="*/ 0 h 6859615"/>
              <a:gd name="connsiteX0" fmla="*/ 21895 w 4860092"/>
              <a:gd name="connsiteY0" fmla="*/ 53947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3947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4860092"/>
              <a:gd name="connsiteY0" fmla="*/ 55243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5243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0092" h="6859615">
                <a:moveTo>
                  <a:pt x="21895" y="5524383"/>
                </a:moveTo>
                <a:cubicBezTo>
                  <a:pt x="30533" y="5516962"/>
                  <a:pt x="48478" y="5544681"/>
                  <a:pt x="52429" y="5559822"/>
                </a:cubicBezTo>
                <a:cubicBezTo>
                  <a:pt x="56380" y="5574963"/>
                  <a:pt x="54238" y="5607809"/>
                  <a:pt x="45600" y="5615230"/>
                </a:cubicBezTo>
                <a:cubicBezTo>
                  <a:pt x="36962" y="5622651"/>
                  <a:pt x="4549" y="5619487"/>
                  <a:pt x="598" y="5604346"/>
                </a:cubicBezTo>
                <a:cubicBezTo>
                  <a:pt x="-3353" y="5589205"/>
                  <a:pt x="13257" y="5531804"/>
                  <a:pt x="21895" y="5524383"/>
                </a:cubicBezTo>
                <a:close/>
                <a:moveTo>
                  <a:pt x="4853996" y="0"/>
                </a:moveTo>
                <a:lnTo>
                  <a:pt x="4860092" y="6857986"/>
                </a:lnTo>
                <a:lnTo>
                  <a:pt x="53540" y="6859615"/>
                </a:lnTo>
                <a:cubicBezTo>
                  <a:pt x="50713" y="6672582"/>
                  <a:pt x="38360" y="6239103"/>
                  <a:pt x="59346" y="6185420"/>
                </a:cubicBezTo>
                <a:cubicBezTo>
                  <a:pt x="186210" y="6016637"/>
                  <a:pt x="98761" y="6014541"/>
                  <a:pt x="125613" y="5874333"/>
                </a:cubicBezTo>
                <a:cubicBezTo>
                  <a:pt x="104117" y="5642393"/>
                  <a:pt x="30232" y="5410454"/>
                  <a:pt x="80174" y="5140414"/>
                </a:cubicBezTo>
                <a:cubicBezTo>
                  <a:pt x="108205" y="4681633"/>
                  <a:pt x="45749" y="4761013"/>
                  <a:pt x="73780" y="4302231"/>
                </a:cubicBezTo>
                <a:cubicBezTo>
                  <a:pt x="65652" y="3779043"/>
                  <a:pt x="124199" y="3798779"/>
                  <a:pt x="68446" y="2775529"/>
                </a:cubicBezTo>
                <a:cubicBezTo>
                  <a:pt x="80419" y="1837895"/>
                  <a:pt x="68581" y="2081359"/>
                  <a:pt x="90080" y="1862862"/>
                </a:cubicBezTo>
                <a:cubicBezTo>
                  <a:pt x="34106" y="1156069"/>
                  <a:pt x="116245" y="1658952"/>
                  <a:pt x="88846" y="1228384"/>
                </a:cubicBezTo>
                <a:lnTo>
                  <a:pt x="65442" y="666410"/>
                </a:lnTo>
                <a:cubicBezTo>
                  <a:pt x="74556" y="522302"/>
                  <a:pt x="64619" y="344857"/>
                  <a:pt x="83258" y="724"/>
                </a:cubicBezTo>
                <a:lnTo>
                  <a:pt x="4853996" y="0"/>
                </a:lnTo>
                <a:close/>
              </a:path>
            </a:pathLst>
          </a:custGeom>
          <a:solidFill>
            <a:srgbClr val="5BAC26"/>
          </a:solidFill>
          <a:ln>
            <a:noFill/>
          </a:ln>
        </p:spPr>
        <p:txBody>
          <a:bodyPr wrap="square">
            <a:noAutofit/>
          </a:bodyPr>
          <a:lstStyle>
            <a:lvl1pPr>
              <a:defRPr sz="1800">
                <a:solidFill>
                  <a:schemeClr val="bg2"/>
                </a:solidFill>
              </a:defRPr>
            </a:lvl1pPr>
          </a:lstStyle>
          <a:p>
            <a:r>
              <a:rPr lang="en-GB"/>
              <a:t>This is an image placeholder. Click the little icon behind the square image to add a picture</a:t>
            </a:r>
          </a:p>
        </p:txBody>
      </p:sp>
      <p:sp>
        <p:nvSpPr>
          <p:cNvPr id="2" name="Title 1">
            <a:extLst>
              <a:ext uri="{FF2B5EF4-FFF2-40B4-BE49-F238E27FC236}">
                <a16:creationId xmlns:a16="http://schemas.microsoft.com/office/drawing/2014/main" id="{D6D9A0C0-4960-3842-A965-E517B32C40D3}"/>
              </a:ext>
            </a:extLst>
          </p:cNvPr>
          <p:cNvSpPr>
            <a:spLocks noGrp="1"/>
          </p:cNvSpPr>
          <p:nvPr>
            <p:ph type="ctrTitle" hasCustomPrompt="1"/>
          </p:nvPr>
        </p:nvSpPr>
        <p:spPr>
          <a:xfrm>
            <a:off x="334963" y="2677886"/>
            <a:ext cx="5761037" cy="2208439"/>
          </a:xfrm>
        </p:spPr>
        <p:txBody>
          <a:bodyPr anchor="t">
            <a:normAutofit/>
          </a:bodyPr>
          <a:lstStyle>
            <a:lvl1pPr algn="l">
              <a:defRPr sz="3600"/>
            </a:lvl1pPr>
          </a:lstStyle>
          <a:p>
            <a:r>
              <a:rPr lang="en-US"/>
              <a:t>Title of your presentation </a:t>
            </a:r>
            <a:br>
              <a:rPr lang="en-US"/>
            </a:br>
            <a:r>
              <a:rPr lang="en-US"/>
              <a:t>goes here</a:t>
            </a:r>
            <a:endParaRPr lang="en-GB"/>
          </a:p>
        </p:txBody>
      </p:sp>
      <p:sp>
        <p:nvSpPr>
          <p:cNvPr id="3" name="Subtitle 2">
            <a:extLst>
              <a:ext uri="{FF2B5EF4-FFF2-40B4-BE49-F238E27FC236}">
                <a16:creationId xmlns:a16="http://schemas.microsoft.com/office/drawing/2014/main" id="{F281CB52-78B7-0C41-8AA4-983207946085}"/>
              </a:ext>
            </a:extLst>
          </p:cNvPr>
          <p:cNvSpPr>
            <a:spLocks noGrp="1"/>
          </p:cNvSpPr>
          <p:nvPr>
            <p:ph type="subTitle" idx="1" hasCustomPrompt="1"/>
          </p:nvPr>
        </p:nvSpPr>
        <p:spPr>
          <a:xfrm>
            <a:off x="334963" y="5157788"/>
            <a:ext cx="5761037" cy="842962"/>
          </a:xfrm>
        </p:spPr>
        <p:txBody>
          <a:bodyPr>
            <a:normAutofit/>
          </a:bodyPr>
          <a:lstStyle>
            <a:lvl1pPr marL="0" indent="0" algn="l">
              <a:buNone/>
              <a:defRPr sz="28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endParaRPr lang="en-GB"/>
          </a:p>
        </p:txBody>
      </p:sp>
      <p:sp>
        <p:nvSpPr>
          <p:cNvPr id="19" name="Picture Placeholder 18">
            <a:extLst>
              <a:ext uri="{FF2B5EF4-FFF2-40B4-BE49-F238E27FC236}">
                <a16:creationId xmlns:a16="http://schemas.microsoft.com/office/drawing/2014/main" id="{D45FCE02-F1F3-2A41-9380-F9CD5291EED6}"/>
              </a:ext>
            </a:extLst>
          </p:cNvPr>
          <p:cNvSpPr>
            <a:spLocks noGrp="1"/>
          </p:cNvSpPr>
          <p:nvPr>
            <p:ph type="pic" sz="quarter" idx="10"/>
          </p:nvPr>
        </p:nvSpPr>
        <p:spPr>
          <a:xfrm>
            <a:off x="6585209" y="1066006"/>
            <a:ext cx="4725987" cy="4725987"/>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pic>
        <p:nvPicPr>
          <p:cNvPr id="20" name="Picture 19">
            <a:extLst>
              <a:ext uri="{FF2B5EF4-FFF2-40B4-BE49-F238E27FC236}">
                <a16:creationId xmlns:a16="http://schemas.microsoft.com/office/drawing/2014/main" id="{532B067F-1C8D-0E49-B572-20209154F9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4963" y="336283"/>
            <a:ext cx="1865312" cy="1949716"/>
          </a:xfrm>
          <a:prstGeom prst="rect">
            <a:avLst/>
          </a:prstGeom>
        </p:spPr>
      </p:pic>
    </p:spTree>
    <p:extLst>
      <p:ext uri="{BB962C8B-B14F-4D97-AF65-F5344CB8AC3E}">
        <p14:creationId xmlns:p14="http://schemas.microsoft.com/office/powerpoint/2010/main" val="811600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lternativ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4DD461-4689-7F4B-A49A-64CB1DD2375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5877019"/>
            <a:ext cx="12192000" cy="980980"/>
          </a:xfrm>
          <a:prstGeom prst="rect">
            <a:avLst/>
          </a:prstGeom>
        </p:spPr>
      </p:pic>
      <p:sp>
        <p:nvSpPr>
          <p:cNvPr id="2" name="Title 1">
            <a:extLst>
              <a:ext uri="{FF2B5EF4-FFF2-40B4-BE49-F238E27FC236}">
                <a16:creationId xmlns:a16="http://schemas.microsoft.com/office/drawing/2014/main" id="{D6D9A0C0-4960-3842-A965-E517B32C40D3}"/>
              </a:ext>
            </a:extLst>
          </p:cNvPr>
          <p:cNvSpPr>
            <a:spLocks noGrp="1"/>
          </p:cNvSpPr>
          <p:nvPr>
            <p:ph type="ctrTitle" hasCustomPrompt="1"/>
          </p:nvPr>
        </p:nvSpPr>
        <p:spPr>
          <a:xfrm>
            <a:off x="334963" y="2906162"/>
            <a:ext cx="5761037" cy="1980163"/>
          </a:xfrm>
        </p:spPr>
        <p:txBody>
          <a:bodyPr anchor="t">
            <a:normAutofit/>
          </a:bodyPr>
          <a:lstStyle>
            <a:lvl1pPr algn="l">
              <a:defRPr sz="3600"/>
            </a:lvl1pPr>
          </a:lstStyle>
          <a:p>
            <a:r>
              <a:rPr lang="en-US"/>
              <a:t>Title of your presentation goes here please</a:t>
            </a:r>
            <a:endParaRPr lang="en-GB"/>
          </a:p>
        </p:txBody>
      </p:sp>
      <p:sp>
        <p:nvSpPr>
          <p:cNvPr id="3" name="Subtitle 2">
            <a:extLst>
              <a:ext uri="{FF2B5EF4-FFF2-40B4-BE49-F238E27FC236}">
                <a16:creationId xmlns:a16="http://schemas.microsoft.com/office/drawing/2014/main" id="{F281CB52-78B7-0C41-8AA4-983207946085}"/>
              </a:ext>
            </a:extLst>
          </p:cNvPr>
          <p:cNvSpPr>
            <a:spLocks noGrp="1"/>
          </p:cNvSpPr>
          <p:nvPr>
            <p:ph type="subTitle" idx="1" hasCustomPrompt="1"/>
          </p:nvPr>
        </p:nvSpPr>
        <p:spPr>
          <a:xfrm>
            <a:off x="334963" y="5157788"/>
            <a:ext cx="5761037" cy="842962"/>
          </a:xfrm>
        </p:spPr>
        <p:txBody>
          <a:bodyPr>
            <a:normAutofit/>
          </a:bodyPr>
          <a:lstStyle>
            <a:lvl1pPr marL="0" indent="0" algn="l">
              <a:buNone/>
              <a:defRPr sz="28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endParaRPr lang="en-GB"/>
          </a:p>
        </p:txBody>
      </p:sp>
      <p:sp>
        <p:nvSpPr>
          <p:cNvPr id="19" name="Picture Placeholder 18">
            <a:extLst>
              <a:ext uri="{FF2B5EF4-FFF2-40B4-BE49-F238E27FC236}">
                <a16:creationId xmlns:a16="http://schemas.microsoft.com/office/drawing/2014/main" id="{D45FCE02-F1F3-2A41-9380-F9CD5291EED6}"/>
              </a:ext>
            </a:extLst>
          </p:cNvPr>
          <p:cNvSpPr>
            <a:spLocks noGrp="1"/>
          </p:cNvSpPr>
          <p:nvPr>
            <p:ph type="pic" sz="quarter" idx="10"/>
          </p:nvPr>
        </p:nvSpPr>
        <p:spPr>
          <a:xfrm>
            <a:off x="7207315" y="784836"/>
            <a:ext cx="3714736" cy="3714736"/>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pic>
        <p:nvPicPr>
          <p:cNvPr id="20" name="Picture 19">
            <a:extLst>
              <a:ext uri="{FF2B5EF4-FFF2-40B4-BE49-F238E27FC236}">
                <a16:creationId xmlns:a16="http://schemas.microsoft.com/office/drawing/2014/main" id="{532B067F-1C8D-0E49-B572-20209154F95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4963" y="336283"/>
            <a:ext cx="1865312" cy="1949716"/>
          </a:xfrm>
          <a:prstGeom prst="rect">
            <a:avLst/>
          </a:prstGeom>
        </p:spPr>
      </p:pic>
      <p:sp>
        <p:nvSpPr>
          <p:cNvPr id="8" name="Picture Placeholder 18">
            <a:extLst>
              <a:ext uri="{FF2B5EF4-FFF2-40B4-BE49-F238E27FC236}">
                <a16:creationId xmlns:a16="http://schemas.microsoft.com/office/drawing/2014/main" id="{21D77384-8863-7640-BFDD-3B9016104FC1}"/>
              </a:ext>
            </a:extLst>
          </p:cNvPr>
          <p:cNvSpPr>
            <a:spLocks noGrp="1"/>
          </p:cNvSpPr>
          <p:nvPr>
            <p:ph type="pic" sz="quarter" idx="14"/>
          </p:nvPr>
        </p:nvSpPr>
        <p:spPr>
          <a:xfrm>
            <a:off x="9802501" y="3696164"/>
            <a:ext cx="1821240" cy="1821240"/>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pic>
        <p:nvPicPr>
          <p:cNvPr id="11" name="Picture 10">
            <a:extLst>
              <a:ext uri="{FF2B5EF4-FFF2-40B4-BE49-F238E27FC236}">
                <a16:creationId xmlns:a16="http://schemas.microsoft.com/office/drawing/2014/main" id="{A7637CF1-8938-F04A-A23B-CD4FAD62D16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0800000">
            <a:off x="0" y="-2060"/>
            <a:ext cx="12192000" cy="296924"/>
          </a:xfrm>
          <a:prstGeom prst="rect">
            <a:avLst/>
          </a:prstGeom>
        </p:spPr>
      </p:pic>
      <p:sp>
        <p:nvSpPr>
          <p:cNvPr id="12" name="Picture Placeholder 18">
            <a:extLst>
              <a:ext uri="{FF2B5EF4-FFF2-40B4-BE49-F238E27FC236}">
                <a16:creationId xmlns:a16="http://schemas.microsoft.com/office/drawing/2014/main" id="{9865C99D-AABA-DC49-8394-33099C33EB65}"/>
              </a:ext>
            </a:extLst>
          </p:cNvPr>
          <p:cNvSpPr>
            <a:spLocks noGrp="1"/>
          </p:cNvSpPr>
          <p:nvPr>
            <p:ph type="pic" sz="quarter" idx="15"/>
          </p:nvPr>
        </p:nvSpPr>
        <p:spPr>
          <a:xfrm>
            <a:off x="4771176" y="336283"/>
            <a:ext cx="2235444" cy="2235444"/>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spTree>
    <p:extLst>
      <p:ext uri="{BB962C8B-B14F-4D97-AF65-F5344CB8AC3E}">
        <p14:creationId xmlns:p14="http://schemas.microsoft.com/office/powerpoint/2010/main" val="298982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A0C0-4960-3842-A965-E517B32C40D3}"/>
              </a:ext>
            </a:extLst>
          </p:cNvPr>
          <p:cNvSpPr>
            <a:spLocks noGrp="1"/>
          </p:cNvSpPr>
          <p:nvPr>
            <p:ph type="ctrTitle" hasCustomPrompt="1"/>
          </p:nvPr>
        </p:nvSpPr>
        <p:spPr>
          <a:xfrm>
            <a:off x="334963" y="1122363"/>
            <a:ext cx="5761037" cy="1620837"/>
          </a:xfrm>
        </p:spPr>
        <p:txBody>
          <a:bodyPr anchor="t">
            <a:normAutofit/>
          </a:bodyPr>
          <a:lstStyle>
            <a:lvl1pPr algn="l">
              <a:defRPr sz="3600"/>
            </a:lvl1pPr>
          </a:lstStyle>
          <a:p>
            <a:r>
              <a:rPr lang="en-US"/>
              <a:t>Section header title goes here</a:t>
            </a:r>
            <a:endParaRPr lang="en-GB"/>
          </a:p>
        </p:txBody>
      </p:sp>
      <p:sp>
        <p:nvSpPr>
          <p:cNvPr id="3" name="Subtitle 2">
            <a:extLst>
              <a:ext uri="{FF2B5EF4-FFF2-40B4-BE49-F238E27FC236}">
                <a16:creationId xmlns:a16="http://schemas.microsoft.com/office/drawing/2014/main" id="{F281CB52-78B7-0C41-8AA4-983207946085}"/>
              </a:ext>
            </a:extLst>
          </p:cNvPr>
          <p:cNvSpPr>
            <a:spLocks noGrp="1"/>
          </p:cNvSpPr>
          <p:nvPr>
            <p:ph type="subTitle" idx="1" hasCustomPrompt="1"/>
          </p:nvPr>
        </p:nvSpPr>
        <p:spPr>
          <a:xfrm>
            <a:off x="334963" y="3096285"/>
            <a:ext cx="5761037" cy="2161515"/>
          </a:xfrm>
        </p:spPr>
        <p:txBody>
          <a:bodyPr/>
          <a:lstStyle>
            <a:lvl1pPr marL="0" indent="0" algn="l">
              <a:buNone/>
              <a:defRPr sz="2400">
                <a:solidFill>
                  <a:srgbClr val="00875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Section Header subtitle</a:t>
            </a:r>
            <a:endParaRPr lang="en-GB"/>
          </a:p>
        </p:txBody>
      </p:sp>
      <p:sp>
        <p:nvSpPr>
          <p:cNvPr id="5" name="Picture Placeholder 4">
            <a:extLst>
              <a:ext uri="{FF2B5EF4-FFF2-40B4-BE49-F238E27FC236}">
                <a16:creationId xmlns:a16="http://schemas.microsoft.com/office/drawing/2014/main" id="{FA0A0A96-40C3-5D41-AAA0-64249BFE4B1E}"/>
              </a:ext>
            </a:extLst>
          </p:cNvPr>
          <p:cNvSpPr>
            <a:spLocks noGrp="1"/>
          </p:cNvSpPr>
          <p:nvPr>
            <p:ph type="pic" sz="quarter" idx="12" hasCustomPrompt="1"/>
          </p:nvPr>
        </p:nvSpPr>
        <p:spPr>
          <a:xfrm>
            <a:off x="7331908" y="-1615"/>
            <a:ext cx="4860092" cy="6859615"/>
          </a:xfrm>
          <a:custGeom>
            <a:avLst/>
            <a:gdLst>
              <a:gd name="connsiteX0" fmla="*/ 39942 w 5578475"/>
              <a:gd name="connsiteY0" fmla="*/ 3797300 h 6859615"/>
              <a:gd name="connsiteX1" fmla="*/ 79884 w 5578475"/>
              <a:gd name="connsiteY1" fmla="*/ 3870097 h 6859615"/>
              <a:gd name="connsiteX2" fmla="*/ 39942 w 5578475"/>
              <a:gd name="connsiteY2" fmla="*/ 3942894 h 6859615"/>
              <a:gd name="connsiteX3" fmla="*/ 0 w 5578475"/>
              <a:gd name="connsiteY3" fmla="*/ 3870097 h 6859615"/>
              <a:gd name="connsiteX4" fmla="*/ 39942 w 5578475"/>
              <a:gd name="connsiteY4" fmla="*/ 3797300 h 6859615"/>
              <a:gd name="connsiteX5" fmla="*/ 5572379 w 5578475"/>
              <a:gd name="connsiteY5" fmla="*/ 0 h 6859615"/>
              <a:gd name="connsiteX6" fmla="*/ 5578475 w 5578475"/>
              <a:gd name="connsiteY6" fmla="*/ 6857986 h 6859615"/>
              <a:gd name="connsiteX7" fmla="*/ 771923 w 5578475"/>
              <a:gd name="connsiteY7" fmla="*/ 6859615 h 6859615"/>
              <a:gd name="connsiteX8" fmla="*/ 777729 w 5578475"/>
              <a:gd name="connsiteY8" fmla="*/ 6185420 h 6859615"/>
              <a:gd name="connsiteX9" fmla="*/ 843996 w 5578475"/>
              <a:gd name="connsiteY9" fmla="*/ 5874333 h 6859615"/>
              <a:gd name="connsiteX10" fmla="*/ 798557 w 5578475"/>
              <a:gd name="connsiteY10" fmla="*/ 5140414 h 6859615"/>
              <a:gd name="connsiteX11" fmla="*/ 792163 w 5578475"/>
              <a:gd name="connsiteY11" fmla="*/ 4302231 h 6859615"/>
              <a:gd name="connsiteX12" fmla="*/ 786829 w 5578475"/>
              <a:gd name="connsiteY12" fmla="*/ 2775529 h 6859615"/>
              <a:gd name="connsiteX13" fmla="*/ 808463 w 5578475"/>
              <a:gd name="connsiteY13" fmla="*/ 1862862 h 6859615"/>
              <a:gd name="connsiteX14" fmla="*/ 807229 w 5578475"/>
              <a:gd name="connsiteY14" fmla="*/ 1228384 h 6859615"/>
              <a:gd name="connsiteX15" fmla="*/ 783825 w 5578475"/>
              <a:gd name="connsiteY15" fmla="*/ 666410 h 6859615"/>
              <a:gd name="connsiteX16" fmla="*/ 801641 w 5578475"/>
              <a:gd name="connsiteY16" fmla="*/ 724 h 6859615"/>
              <a:gd name="connsiteX0" fmla="*/ 80848 w 5619381"/>
              <a:gd name="connsiteY0" fmla="*/ 3797300 h 6859615"/>
              <a:gd name="connsiteX1" fmla="*/ 120790 w 5619381"/>
              <a:gd name="connsiteY1" fmla="*/ 3870097 h 6859615"/>
              <a:gd name="connsiteX2" fmla="*/ 697637 w 5619381"/>
              <a:gd name="connsiteY2" fmla="*/ 5758755 h 6859615"/>
              <a:gd name="connsiteX3" fmla="*/ 40906 w 5619381"/>
              <a:gd name="connsiteY3" fmla="*/ 3870097 h 6859615"/>
              <a:gd name="connsiteX4" fmla="*/ 80848 w 5619381"/>
              <a:gd name="connsiteY4" fmla="*/ 3797300 h 6859615"/>
              <a:gd name="connsiteX5" fmla="*/ 5613285 w 5619381"/>
              <a:gd name="connsiteY5" fmla="*/ 0 h 6859615"/>
              <a:gd name="connsiteX6" fmla="*/ 5619381 w 5619381"/>
              <a:gd name="connsiteY6" fmla="*/ 6857986 h 6859615"/>
              <a:gd name="connsiteX7" fmla="*/ 812829 w 5619381"/>
              <a:gd name="connsiteY7" fmla="*/ 6859615 h 6859615"/>
              <a:gd name="connsiteX8" fmla="*/ 818635 w 5619381"/>
              <a:gd name="connsiteY8" fmla="*/ 6185420 h 6859615"/>
              <a:gd name="connsiteX9" fmla="*/ 884902 w 5619381"/>
              <a:gd name="connsiteY9" fmla="*/ 5874333 h 6859615"/>
              <a:gd name="connsiteX10" fmla="*/ 839463 w 5619381"/>
              <a:gd name="connsiteY10" fmla="*/ 5140414 h 6859615"/>
              <a:gd name="connsiteX11" fmla="*/ 833069 w 5619381"/>
              <a:gd name="connsiteY11" fmla="*/ 4302231 h 6859615"/>
              <a:gd name="connsiteX12" fmla="*/ 827735 w 5619381"/>
              <a:gd name="connsiteY12" fmla="*/ 2775529 h 6859615"/>
              <a:gd name="connsiteX13" fmla="*/ 849369 w 5619381"/>
              <a:gd name="connsiteY13" fmla="*/ 1862862 h 6859615"/>
              <a:gd name="connsiteX14" fmla="*/ 848135 w 5619381"/>
              <a:gd name="connsiteY14" fmla="*/ 1228384 h 6859615"/>
              <a:gd name="connsiteX15" fmla="*/ 824731 w 5619381"/>
              <a:gd name="connsiteY15" fmla="*/ 666410 h 6859615"/>
              <a:gd name="connsiteX16" fmla="*/ 842547 w 5619381"/>
              <a:gd name="connsiteY16" fmla="*/ 724 h 6859615"/>
              <a:gd name="connsiteX17" fmla="*/ 5613285 w 5619381"/>
              <a:gd name="connsiteY17" fmla="*/ 0 h 6859615"/>
              <a:gd name="connsiteX0" fmla="*/ 104617 w 5643150"/>
              <a:gd name="connsiteY0" fmla="*/ 3797300 h 6859615"/>
              <a:gd name="connsiteX1" fmla="*/ 774287 w 5643150"/>
              <a:gd name="connsiteY1" fmla="*/ 5315022 h 6859615"/>
              <a:gd name="connsiteX2" fmla="*/ 721406 w 5643150"/>
              <a:gd name="connsiteY2" fmla="*/ 5758755 h 6859615"/>
              <a:gd name="connsiteX3" fmla="*/ 64675 w 5643150"/>
              <a:gd name="connsiteY3" fmla="*/ 3870097 h 6859615"/>
              <a:gd name="connsiteX4" fmla="*/ 104617 w 5643150"/>
              <a:gd name="connsiteY4" fmla="*/ 3797300 h 6859615"/>
              <a:gd name="connsiteX5" fmla="*/ 5637054 w 5643150"/>
              <a:gd name="connsiteY5" fmla="*/ 0 h 6859615"/>
              <a:gd name="connsiteX6" fmla="*/ 5643150 w 5643150"/>
              <a:gd name="connsiteY6" fmla="*/ 6857986 h 6859615"/>
              <a:gd name="connsiteX7" fmla="*/ 836598 w 5643150"/>
              <a:gd name="connsiteY7" fmla="*/ 6859615 h 6859615"/>
              <a:gd name="connsiteX8" fmla="*/ 842404 w 5643150"/>
              <a:gd name="connsiteY8" fmla="*/ 6185420 h 6859615"/>
              <a:gd name="connsiteX9" fmla="*/ 908671 w 5643150"/>
              <a:gd name="connsiteY9" fmla="*/ 5874333 h 6859615"/>
              <a:gd name="connsiteX10" fmla="*/ 863232 w 5643150"/>
              <a:gd name="connsiteY10" fmla="*/ 5140414 h 6859615"/>
              <a:gd name="connsiteX11" fmla="*/ 856838 w 5643150"/>
              <a:gd name="connsiteY11" fmla="*/ 4302231 h 6859615"/>
              <a:gd name="connsiteX12" fmla="*/ 851504 w 5643150"/>
              <a:gd name="connsiteY12" fmla="*/ 2775529 h 6859615"/>
              <a:gd name="connsiteX13" fmla="*/ 873138 w 5643150"/>
              <a:gd name="connsiteY13" fmla="*/ 1862862 h 6859615"/>
              <a:gd name="connsiteX14" fmla="*/ 871904 w 5643150"/>
              <a:gd name="connsiteY14" fmla="*/ 1228384 h 6859615"/>
              <a:gd name="connsiteX15" fmla="*/ 848500 w 5643150"/>
              <a:gd name="connsiteY15" fmla="*/ 666410 h 6859615"/>
              <a:gd name="connsiteX16" fmla="*/ 866316 w 5643150"/>
              <a:gd name="connsiteY16" fmla="*/ 724 h 6859615"/>
              <a:gd name="connsiteX17" fmla="*/ 5637054 w 5643150"/>
              <a:gd name="connsiteY17" fmla="*/ 0 h 6859615"/>
              <a:gd name="connsiteX0" fmla="*/ 669677 w 5578482"/>
              <a:gd name="connsiteY0" fmla="*/ 5086949 h 6859615"/>
              <a:gd name="connsiteX1" fmla="*/ 709619 w 5578482"/>
              <a:gd name="connsiteY1" fmla="*/ 5315022 h 6859615"/>
              <a:gd name="connsiteX2" fmla="*/ 656738 w 5578482"/>
              <a:gd name="connsiteY2" fmla="*/ 5758755 h 6859615"/>
              <a:gd name="connsiteX3" fmla="*/ 7 w 5578482"/>
              <a:gd name="connsiteY3" fmla="*/ 3870097 h 6859615"/>
              <a:gd name="connsiteX4" fmla="*/ 669677 w 5578482"/>
              <a:gd name="connsiteY4" fmla="*/ 5086949 h 6859615"/>
              <a:gd name="connsiteX5" fmla="*/ 5572386 w 5578482"/>
              <a:gd name="connsiteY5" fmla="*/ 0 h 6859615"/>
              <a:gd name="connsiteX6" fmla="*/ 5578482 w 5578482"/>
              <a:gd name="connsiteY6" fmla="*/ 6857986 h 6859615"/>
              <a:gd name="connsiteX7" fmla="*/ 771930 w 5578482"/>
              <a:gd name="connsiteY7" fmla="*/ 6859615 h 6859615"/>
              <a:gd name="connsiteX8" fmla="*/ 777736 w 5578482"/>
              <a:gd name="connsiteY8" fmla="*/ 6185420 h 6859615"/>
              <a:gd name="connsiteX9" fmla="*/ 844003 w 5578482"/>
              <a:gd name="connsiteY9" fmla="*/ 5874333 h 6859615"/>
              <a:gd name="connsiteX10" fmla="*/ 798564 w 5578482"/>
              <a:gd name="connsiteY10" fmla="*/ 5140414 h 6859615"/>
              <a:gd name="connsiteX11" fmla="*/ 792170 w 5578482"/>
              <a:gd name="connsiteY11" fmla="*/ 4302231 h 6859615"/>
              <a:gd name="connsiteX12" fmla="*/ 786836 w 5578482"/>
              <a:gd name="connsiteY12" fmla="*/ 2775529 h 6859615"/>
              <a:gd name="connsiteX13" fmla="*/ 808470 w 5578482"/>
              <a:gd name="connsiteY13" fmla="*/ 1862862 h 6859615"/>
              <a:gd name="connsiteX14" fmla="*/ 807236 w 5578482"/>
              <a:gd name="connsiteY14" fmla="*/ 1228384 h 6859615"/>
              <a:gd name="connsiteX15" fmla="*/ 783832 w 5578482"/>
              <a:gd name="connsiteY15" fmla="*/ 666410 h 6859615"/>
              <a:gd name="connsiteX16" fmla="*/ 801648 w 5578482"/>
              <a:gd name="connsiteY16" fmla="*/ 724 h 6859615"/>
              <a:gd name="connsiteX17" fmla="*/ 5572386 w 5578482"/>
              <a:gd name="connsiteY17" fmla="*/ 0 h 6859615"/>
              <a:gd name="connsiteX0" fmla="*/ 74523 w 4983328"/>
              <a:gd name="connsiteY0" fmla="*/ 5086949 h 6859615"/>
              <a:gd name="connsiteX1" fmla="*/ 114465 w 4983328"/>
              <a:gd name="connsiteY1" fmla="*/ 5315022 h 6859615"/>
              <a:gd name="connsiteX2" fmla="*/ 61584 w 4983328"/>
              <a:gd name="connsiteY2" fmla="*/ 5758755 h 6859615"/>
              <a:gd name="connsiteX3" fmla="*/ 76 w 4983328"/>
              <a:gd name="connsiteY3" fmla="*/ 5396972 h 6859615"/>
              <a:gd name="connsiteX4" fmla="*/ 74523 w 4983328"/>
              <a:gd name="connsiteY4" fmla="*/ 5086949 h 6859615"/>
              <a:gd name="connsiteX5" fmla="*/ 4977232 w 4983328"/>
              <a:gd name="connsiteY5" fmla="*/ 0 h 6859615"/>
              <a:gd name="connsiteX6" fmla="*/ 4983328 w 4983328"/>
              <a:gd name="connsiteY6" fmla="*/ 6857986 h 6859615"/>
              <a:gd name="connsiteX7" fmla="*/ 176776 w 4983328"/>
              <a:gd name="connsiteY7" fmla="*/ 6859615 h 6859615"/>
              <a:gd name="connsiteX8" fmla="*/ 182582 w 4983328"/>
              <a:gd name="connsiteY8" fmla="*/ 6185420 h 6859615"/>
              <a:gd name="connsiteX9" fmla="*/ 248849 w 4983328"/>
              <a:gd name="connsiteY9" fmla="*/ 5874333 h 6859615"/>
              <a:gd name="connsiteX10" fmla="*/ 203410 w 4983328"/>
              <a:gd name="connsiteY10" fmla="*/ 5140414 h 6859615"/>
              <a:gd name="connsiteX11" fmla="*/ 197016 w 4983328"/>
              <a:gd name="connsiteY11" fmla="*/ 4302231 h 6859615"/>
              <a:gd name="connsiteX12" fmla="*/ 191682 w 4983328"/>
              <a:gd name="connsiteY12" fmla="*/ 2775529 h 6859615"/>
              <a:gd name="connsiteX13" fmla="*/ 213316 w 4983328"/>
              <a:gd name="connsiteY13" fmla="*/ 1862862 h 6859615"/>
              <a:gd name="connsiteX14" fmla="*/ 212082 w 4983328"/>
              <a:gd name="connsiteY14" fmla="*/ 1228384 h 6859615"/>
              <a:gd name="connsiteX15" fmla="*/ 188678 w 4983328"/>
              <a:gd name="connsiteY15" fmla="*/ 666410 h 6859615"/>
              <a:gd name="connsiteX16" fmla="*/ 206494 w 4983328"/>
              <a:gd name="connsiteY16" fmla="*/ 724 h 6859615"/>
              <a:gd name="connsiteX17" fmla="*/ 4977232 w 4983328"/>
              <a:gd name="connsiteY17" fmla="*/ 0 h 6859615"/>
              <a:gd name="connsiteX0" fmla="*/ 74454 w 4983259"/>
              <a:gd name="connsiteY0" fmla="*/ 5086949 h 6859615"/>
              <a:gd name="connsiteX1" fmla="*/ 114396 w 4983259"/>
              <a:gd name="connsiteY1" fmla="*/ 5315022 h 6859615"/>
              <a:gd name="connsiteX2" fmla="*/ 78767 w 4983259"/>
              <a:gd name="connsiteY2" fmla="*/ 5456830 h 6859615"/>
              <a:gd name="connsiteX3" fmla="*/ 7 w 4983259"/>
              <a:gd name="connsiteY3" fmla="*/ 5396972 h 6859615"/>
              <a:gd name="connsiteX4" fmla="*/ 74454 w 4983259"/>
              <a:gd name="connsiteY4" fmla="*/ 5086949 h 6859615"/>
              <a:gd name="connsiteX5" fmla="*/ 4977163 w 4983259"/>
              <a:gd name="connsiteY5" fmla="*/ 0 h 6859615"/>
              <a:gd name="connsiteX6" fmla="*/ 4983259 w 4983259"/>
              <a:gd name="connsiteY6" fmla="*/ 6857986 h 6859615"/>
              <a:gd name="connsiteX7" fmla="*/ 176707 w 4983259"/>
              <a:gd name="connsiteY7" fmla="*/ 6859615 h 6859615"/>
              <a:gd name="connsiteX8" fmla="*/ 182513 w 4983259"/>
              <a:gd name="connsiteY8" fmla="*/ 6185420 h 6859615"/>
              <a:gd name="connsiteX9" fmla="*/ 248780 w 4983259"/>
              <a:gd name="connsiteY9" fmla="*/ 5874333 h 6859615"/>
              <a:gd name="connsiteX10" fmla="*/ 203341 w 4983259"/>
              <a:gd name="connsiteY10" fmla="*/ 5140414 h 6859615"/>
              <a:gd name="connsiteX11" fmla="*/ 196947 w 4983259"/>
              <a:gd name="connsiteY11" fmla="*/ 4302231 h 6859615"/>
              <a:gd name="connsiteX12" fmla="*/ 191613 w 4983259"/>
              <a:gd name="connsiteY12" fmla="*/ 2775529 h 6859615"/>
              <a:gd name="connsiteX13" fmla="*/ 213247 w 4983259"/>
              <a:gd name="connsiteY13" fmla="*/ 1862862 h 6859615"/>
              <a:gd name="connsiteX14" fmla="*/ 212013 w 4983259"/>
              <a:gd name="connsiteY14" fmla="*/ 1228384 h 6859615"/>
              <a:gd name="connsiteX15" fmla="*/ 188609 w 4983259"/>
              <a:gd name="connsiteY15" fmla="*/ 666410 h 6859615"/>
              <a:gd name="connsiteX16" fmla="*/ 206425 w 4983259"/>
              <a:gd name="connsiteY16" fmla="*/ 724 h 6859615"/>
              <a:gd name="connsiteX17" fmla="*/ 4977163 w 4983259"/>
              <a:gd name="connsiteY17" fmla="*/ 0 h 6859615"/>
              <a:gd name="connsiteX0" fmla="*/ 44956 w 4983953"/>
              <a:gd name="connsiteY0" fmla="*/ 5293983 h 6859615"/>
              <a:gd name="connsiteX1" fmla="*/ 115090 w 4983953"/>
              <a:gd name="connsiteY1" fmla="*/ 5315022 h 6859615"/>
              <a:gd name="connsiteX2" fmla="*/ 79461 w 4983953"/>
              <a:gd name="connsiteY2" fmla="*/ 5456830 h 6859615"/>
              <a:gd name="connsiteX3" fmla="*/ 701 w 4983953"/>
              <a:gd name="connsiteY3" fmla="*/ 5396972 h 6859615"/>
              <a:gd name="connsiteX4" fmla="*/ 44956 w 4983953"/>
              <a:gd name="connsiteY4" fmla="*/ 5293983 h 6859615"/>
              <a:gd name="connsiteX5" fmla="*/ 4977857 w 4983953"/>
              <a:gd name="connsiteY5" fmla="*/ 0 h 6859615"/>
              <a:gd name="connsiteX6" fmla="*/ 4983953 w 4983953"/>
              <a:gd name="connsiteY6" fmla="*/ 6857986 h 6859615"/>
              <a:gd name="connsiteX7" fmla="*/ 177401 w 4983953"/>
              <a:gd name="connsiteY7" fmla="*/ 6859615 h 6859615"/>
              <a:gd name="connsiteX8" fmla="*/ 183207 w 4983953"/>
              <a:gd name="connsiteY8" fmla="*/ 6185420 h 6859615"/>
              <a:gd name="connsiteX9" fmla="*/ 249474 w 4983953"/>
              <a:gd name="connsiteY9" fmla="*/ 5874333 h 6859615"/>
              <a:gd name="connsiteX10" fmla="*/ 204035 w 4983953"/>
              <a:gd name="connsiteY10" fmla="*/ 5140414 h 6859615"/>
              <a:gd name="connsiteX11" fmla="*/ 197641 w 4983953"/>
              <a:gd name="connsiteY11" fmla="*/ 4302231 h 6859615"/>
              <a:gd name="connsiteX12" fmla="*/ 192307 w 4983953"/>
              <a:gd name="connsiteY12" fmla="*/ 2775529 h 6859615"/>
              <a:gd name="connsiteX13" fmla="*/ 213941 w 4983953"/>
              <a:gd name="connsiteY13" fmla="*/ 1862862 h 6859615"/>
              <a:gd name="connsiteX14" fmla="*/ 212707 w 4983953"/>
              <a:gd name="connsiteY14" fmla="*/ 1228384 h 6859615"/>
              <a:gd name="connsiteX15" fmla="*/ 189303 w 4983953"/>
              <a:gd name="connsiteY15" fmla="*/ 666410 h 6859615"/>
              <a:gd name="connsiteX16" fmla="*/ 207119 w 4983953"/>
              <a:gd name="connsiteY16" fmla="*/ 724 h 6859615"/>
              <a:gd name="connsiteX17" fmla="*/ 4977857 w 4983953"/>
              <a:gd name="connsiteY17" fmla="*/ 0 h 6859615"/>
              <a:gd name="connsiteX0" fmla="*/ 4084 w 4943081"/>
              <a:gd name="connsiteY0" fmla="*/ 5293983 h 6859615"/>
              <a:gd name="connsiteX1" fmla="*/ 74218 w 4943081"/>
              <a:gd name="connsiteY1" fmla="*/ 5315022 h 6859615"/>
              <a:gd name="connsiteX2" fmla="*/ 38589 w 4943081"/>
              <a:gd name="connsiteY2" fmla="*/ 5456830 h 6859615"/>
              <a:gd name="connsiteX3" fmla="*/ 11587 w 4943081"/>
              <a:gd name="connsiteY3" fmla="*/ 5388346 h 6859615"/>
              <a:gd name="connsiteX4" fmla="*/ 4084 w 4943081"/>
              <a:gd name="connsiteY4" fmla="*/ 5293983 h 6859615"/>
              <a:gd name="connsiteX5" fmla="*/ 4936985 w 4943081"/>
              <a:gd name="connsiteY5" fmla="*/ 0 h 6859615"/>
              <a:gd name="connsiteX6" fmla="*/ 4943081 w 4943081"/>
              <a:gd name="connsiteY6" fmla="*/ 6857986 h 6859615"/>
              <a:gd name="connsiteX7" fmla="*/ 136529 w 4943081"/>
              <a:gd name="connsiteY7" fmla="*/ 6859615 h 6859615"/>
              <a:gd name="connsiteX8" fmla="*/ 142335 w 4943081"/>
              <a:gd name="connsiteY8" fmla="*/ 6185420 h 6859615"/>
              <a:gd name="connsiteX9" fmla="*/ 208602 w 4943081"/>
              <a:gd name="connsiteY9" fmla="*/ 5874333 h 6859615"/>
              <a:gd name="connsiteX10" fmla="*/ 163163 w 4943081"/>
              <a:gd name="connsiteY10" fmla="*/ 5140414 h 6859615"/>
              <a:gd name="connsiteX11" fmla="*/ 156769 w 4943081"/>
              <a:gd name="connsiteY11" fmla="*/ 4302231 h 6859615"/>
              <a:gd name="connsiteX12" fmla="*/ 151435 w 4943081"/>
              <a:gd name="connsiteY12" fmla="*/ 2775529 h 6859615"/>
              <a:gd name="connsiteX13" fmla="*/ 173069 w 4943081"/>
              <a:gd name="connsiteY13" fmla="*/ 1862862 h 6859615"/>
              <a:gd name="connsiteX14" fmla="*/ 171835 w 4943081"/>
              <a:gd name="connsiteY14" fmla="*/ 1228384 h 6859615"/>
              <a:gd name="connsiteX15" fmla="*/ 148431 w 4943081"/>
              <a:gd name="connsiteY15" fmla="*/ 666410 h 6859615"/>
              <a:gd name="connsiteX16" fmla="*/ 166247 w 4943081"/>
              <a:gd name="connsiteY16" fmla="*/ 724 h 6859615"/>
              <a:gd name="connsiteX17" fmla="*/ 4936985 w 4943081"/>
              <a:gd name="connsiteY17" fmla="*/ 0 h 6859615"/>
              <a:gd name="connsiteX0" fmla="*/ 4648 w 4943645"/>
              <a:gd name="connsiteY0" fmla="*/ 5293983 h 6859615"/>
              <a:gd name="connsiteX1" fmla="*/ 74782 w 4943645"/>
              <a:gd name="connsiteY1" fmla="*/ 5315022 h 6859615"/>
              <a:gd name="connsiteX2" fmla="*/ 57153 w 4943645"/>
              <a:gd name="connsiteY2" fmla="*/ 5413630 h 6859615"/>
              <a:gd name="connsiteX3" fmla="*/ 12151 w 4943645"/>
              <a:gd name="connsiteY3" fmla="*/ 5388346 h 6859615"/>
              <a:gd name="connsiteX4" fmla="*/ 4648 w 4943645"/>
              <a:gd name="connsiteY4" fmla="*/ 5293983 h 6859615"/>
              <a:gd name="connsiteX5" fmla="*/ 4937549 w 4943645"/>
              <a:gd name="connsiteY5" fmla="*/ 0 h 6859615"/>
              <a:gd name="connsiteX6" fmla="*/ 4943645 w 4943645"/>
              <a:gd name="connsiteY6" fmla="*/ 6857986 h 6859615"/>
              <a:gd name="connsiteX7" fmla="*/ 137093 w 4943645"/>
              <a:gd name="connsiteY7" fmla="*/ 6859615 h 6859615"/>
              <a:gd name="connsiteX8" fmla="*/ 142899 w 4943645"/>
              <a:gd name="connsiteY8" fmla="*/ 6185420 h 6859615"/>
              <a:gd name="connsiteX9" fmla="*/ 209166 w 4943645"/>
              <a:gd name="connsiteY9" fmla="*/ 5874333 h 6859615"/>
              <a:gd name="connsiteX10" fmla="*/ 163727 w 4943645"/>
              <a:gd name="connsiteY10" fmla="*/ 5140414 h 6859615"/>
              <a:gd name="connsiteX11" fmla="*/ 157333 w 4943645"/>
              <a:gd name="connsiteY11" fmla="*/ 4302231 h 6859615"/>
              <a:gd name="connsiteX12" fmla="*/ 151999 w 4943645"/>
              <a:gd name="connsiteY12" fmla="*/ 2775529 h 6859615"/>
              <a:gd name="connsiteX13" fmla="*/ 173633 w 4943645"/>
              <a:gd name="connsiteY13" fmla="*/ 1862862 h 6859615"/>
              <a:gd name="connsiteX14" fmla="*/ 172399 w 4943645"/>
              <a:gd name="connsiteY14" fmla="*/ 1228384 h 6859615"/>
              <a:gd name="connsiteX15" fmla="*/ 148995 w 4943645"/>
              <a:gd name="connsiteY15" fmla="*/ 666410 h 6859615"/>
              <a:gd name="connsiteX16" fmla="*/ 166811 w 4943645"/>
              <a:gd name="connsiteY16" fmla="*/ 724 h 6859615"/>
              <a:gd name="connsiteX17" fmla="*/ 4937549 w 4943645"/>
              <a:gd name="connsiteY17" fmla="*/ 0 h 6859615"/>
              <a:gd name="connsiteX0" fmla="*/ 15612 w 4933009"/>
              <a:gd name="connsiteY0" fmla="*/ 5319183 h 6859615"/>
              <a:gd name="connsiteX1" fmla="*/ 64146 w 4933009"/>
              <a:gd name="connsiteY1" fmla="*/ 5315022 h 6859615"/>
              <a:gd name="connsiteX2" fmla="*/ 46517 w 4933009"/>
              <a:gd name="connsiteY2" fmla="*/ 5413630 h 6859615"/>
              <a:gd name="connsiteX3" fmla="*/ 1515 w 4933009"/>
              <a:gd name="connsiteY3" fmla="*/ 5388346 h 6859615"/>
              <a:gd name="connsiteX4" fmla="*/ 15612 w 4933009"/>
              <a:gd name="connsiteY4" fmla="*/ 5319183 h 6859615"/>
              <a:gd name="connsiteX5" fmla="*/ 4926913 w 4933009"/>
              <a:gd name="connsiteY5" fmla="*/ 0 h 6859615"/>
              <a:gd name="connsiteX6" fmla="*/ 4933009 w 4933009"/>
              <a:gd name="connsiteY6" fmla="*/ 6857986 h 6859615"/>
              <a:gd name="connsiteX7" fmla="*/ 126457 w 4933009"/>
              <a:gd name="connsiteY7" fmla="*/ 6859615 h 6859615"/>
              <a:gd name="connsiteX8" fmla="*/ 132263 w 4933009"/>
              <a:gd name="connsiteY8" fmla="*/ 6185420 h 6859615"/>
              <a:gd name="connsiteX9" fmla="*/ 198530 w 4933009"/>
              <a:gd name="connsiteY9" fmla="*/ 5874333 h 6859615"/>
              <a:gd name="connsiteX10" fmla="*/ 153091 w 4933009"/>
              <a:gd name="connsiteY10" fmla="*/ 5140414 h 6859615"/>
              <a:gd name="connsiteX11" fmla="*/ 146697 w 4933009"/>
              <a:gd name="connsiteY11" fmla="*/ 4302231 h 6859615"/>
              <a:gd name="connsiteX12" fmla="*/ 141363 w 4933009"/>
              <a:gd name="connsiteY12" fmla="*/ 2775529 h 6859615"/>
              <a:gd name="connsiteX13" fmla="*/ 162997 w 4933009"/>
              <a:gd name="connsiteY13" fmla="*/ 1862862 h 6859615"/>
              <a:gd name="connsiteX14" fmla="*/ 161763 w 4933009"/>
              <a:gd name="connsiteY14" fmla="*/ 1228384 h 6859615"/>
              <a:gd name="connsiteX15" fmla="*/ 138359 w 4933009"/>
              <a:gd name="connsiteY15" fmla="*/ 666410 h 6859615"/>
              <a:gd name="connsiteX16" fmla="*/ 156175 w 4933009"/>
              <a:gd name="connsiteY16" fmla="*/ 724 h 6859615"/>
              <a:gd name="connsiteX17" fmla="*/ 4926913 w 4933009"/>
              <a:gd name="connsiteY17" fmla="*/ 0 h 6859615"/>
              <a:gd name="connsiteX0" fmla="*/ 20639 w 4938036"/>
              <a:gd name="connsiteY0" fmla="*/ 5319183 h 6859615"/>
              <a:gd name="connsiteX1" fmla="*/ 69173 w 4938036"/>
              <a:gd name="connsiteY1" fmla="*/ 5315022 h 6859615"/>
              <a:gd name="connsiteX2" fmla="*/ 123544 w 4938036"/>
              <a:gd name="connsiteY2" fmla="*/ 5615230 h 6859615"/>
              <a:gd name="connsiteX3" fmla="*/ 6542 w 4938036"/>
              <a:gd name="connsiteY3" fmla="*/ 5388346 h 6859615"/>
              <a:gd name="connsiteX4" fmla="*/ 20639 w 4938036"/>
              <a:gd name="connsiteY4" fmla="*/ 5319183 h 6859615"/>
              <a:gd name="connsiteX5" fmla="*/ 4931940 w 4938036"/>
              <a:gd name="connsiteY5" fmla="*/ 0 h 6859615"/>
              <a:gd name="connsiteX6" fmla="*/ 4938036 w 4938036"/>
              <a:gd name="connsiteY6" fmla="*/ 6857986 h 6859615"/>
              <a:gd name="connsiteX7" fmla="*/ 131484 w 4938036"/>
              <a:gd name="connsiteY7" fmla="*/ 6859615 h 6859615"/>
              <a:gd name="connsiteX8" fmla="*/ 137290 w 4938036"/>
              <a:gd name="connsiteY8" fmla="*/ 6185420 h 6859615"/>
              <a:gd name="connsiteX9" fmla="*/ 203557 w 4938036"/>
              <a:gd name="connsiteY9" fmla="*/ 5874333 h 6859615"/>
              <a:gd name="connsiteX10" fmla="*/ 158118 w 4938036"/>
              <a:gd name="connsiteY10" fmla="*/ 5140414 h 6859615"/>
              <a:gd name="connsiteX11" fmla="*/ 151724 w 4938036"/>
              <a:gd name="connsiteY11" fmla="*/ 4302231 h 6859615"/>
              <a:gd name="connsiteX12" fmla="*/ 146390 w 4938036"/>
              <a:gd name="connsiteY12" fmla="*/ 2775529 h 6859615"/>
              <a:gd name="connsiteX13" fmla="*/ 168024 w 4938036"/>
              <a:gd name="connsiteY13" fmla="*/ 1862862 h 6859615"/>
              <a:gd name="connsiteX14" fmla="*/ 166790 w 4938036"/>
              <a:gd name="connsiteY14" fmla="*/ 1228384 h 6859615"/>
              <a:gd name="connsiteX15" fmla="*/ 143386 w 4938036"/>
              <a:gd name="connsiteY15" fmla="*/ 666410 h 6859615"/>
              <a:gd name="connsiteX16" fmla="*/ 161202 w 4938036"/>
              <a:gd name="connsiteY16" fmla="*/ 724 h 6859615"/>
              <a:gd name="connsiteX17" fmla="*/ 4931940 w 4938036"/>
              <a:gd name="connsiteY17" fmla="*/ 0 h 6859615"/>
              <a:gd name="connsiteX0" fmla="*/ 21862 w 4939259"/>
              <a:gd name="connsiteY0" fmla="*/ 5319183 h 6859615"/>
              <a:gd name="connsiteX1" fmla="*/ 109996 w 4939259"/>
              <a:gd name="connsiteY1" fmla="*/ 5437422 h 6859615"/>
              <a:gd name="connsiteX2" fmla="*/ 124767 w 4939259"/>
              <a:gd name="connsiteY2" fmla="*/ 5615230 h 6859615"/>
              <a:gd name="connsiteX3" fmla="*/ 7765 w 4939259"/>
              <a:gd name="connsiteY3" fmla="*/ 5388346 h 6859615"/>
              <a:gd name="connsiteX4" fmla="*/ 21862 w 4939259"/>
              <a:gd name="connsiteY4" fmla="*/ 5319183 h 6859615"/>
              <a:gd name="connsiteX5" fmla="*/ 4933163 w 4939259"/>
              <a:gd name="connsiteY5" fmla="*/ 0 h 6859615"/>
              <a:gd name="connsiteX6" fmla="*/ 4939259 w 4939259"/>
              <a:gd name="connsiteY6" fmla="*/ 6857986 h 6859615"/>
              <a:gd name="connsiteX7" fmla="*/ 132707 w 4939259"/>
              <a:gd name="connsiteY7" fmla="*/ 6859615 h 6859615"/>
              <a:gd name="connsiteX8" fmla="*/ 138513 w 4939259"/>
              <a:gd name="connsiteY8" fmla="*/ 6185420 h 6859615"/>
              <a:gd name="connsiteX9" fmla="*/ 204780 w 4939259"/>
              <a:gd name="connsiteY9" fmla="*/ 5874333 h 6859615"/>
              <a:gd name="connsiteX10" fmla="*/ 159341 w 4939259"/>
              <a:gd name="connsiteY10" fmla="*/ 5140414 h 6859615"/>
              <a:gd name="connsiteX11" fmla="*/ 152947 w 4939259"/>
              <a:gd name="connsiteY11" fmla="*/ 4302231 h 6859615"/>
              <a:gd name="connsiteX12" fmla="*/ 147613 w 4939259"/>
              <a:gd name="connsiteY12" fmla="*/ 2775529 h 6859615"/>
              <a:gd name="connsiteX13" fmla="*/ 169247 w 4939259"/>
              <a:gd name="connsiteY13" fmla="*/ 1862862 h 6859615"/>
              <a:gd name="connsiteX14" fmla="*/ 168013 w 4939259"/>
              <a:gd name="connsiteY14" fmla="*/ 1228384 h 6859615"/>
              <a:gd name="connsiteX15" fmla="*/ 144609 w 4939259"/>
              <a:gd name="connsiteY15" fmla="*/ 666410 h 6859615"/>
              <a:gd name="connsiteX16" fmla="*/ 162425 w 4939259"/>
              <a:gd name="connsiteY16" fmla="*/ 724 h 6859615"/>
              <a:gd name="connsiteX17" fmla="*/ 4933163 w 4939259"/>
              <a:gd name="connsiteY17" fmla="*/ 0 h 6859615"/>
              <a:gd name="connsiteX0" fmla="*/ 93439 w 4931636"/>
              <a:gd name="connsiteY0" fmla="*/ 5394783 h 6859615"/>
              <a:gd name="connsiteX1" fmla="*/ 102373 w 4931636"/>
              <a:gd name="connsiteY1" fmla="*/ 5437422 h 6859615"/>
              <a:gd name="connsiteX2" fmla="*/ 117144 w 4931636"/>
              <a:gd name="connsiteY2" fmla="*/ 5615230 h 6859615"/>
              <a:gd name="connsiteX3" fmla="*/ 142 w 4931636"/>
              <a:gd name="connsiteY3" fmla="*/ 5388346 h 6859615"/>
              <a:gd name="connsiteX4" fmla="*/ 93439 w 4931636"/>
              <a:gd name="connsiteY4" fmla="*/ 5394783 h 6859615"/>
              <a:gd name="connsiteX5" fmla="*/ 4925540 w 4931636"/>
              <a:gd name="connsiteY5" fmla="*/ 0 h 6859615"/>
              <a:gd name="connsiteX6" fmla="*/ 4931636 w 4931636"/>
              <a:gd name="connsiteY6" fmla="*/ 6857986 h 6859615"/>
              <a:gd name="connsiteX7" fmla="*/ 125084 w 4931636"/>
              <a:gd name="connsiteY7" fmla="*/ 6859615 h 6859615"/>
              <a:gd name="connsiteX8" fmla="*/ 130890 w 4931636"/>
              <a:gd name="connsiteY8" fmla="*/ 6185420 h 6859615"/>
              <a:gd name="connsiteX9" fmla="*/ 197157 w 4931636"/>
              <a:gd name="connsiteY9" fmla="*/ 5874333 h 6859615"/>
              <a:gd name="connsiteX10" fmla="*/ 151718 w 4931636"/>
              <a:gd name="connsiteY10" fmla="*/ 5140414 h 6859615"/>
              <a:gd name="connsiteX11" fmla="*/ 145324 w 4931636"/>
              <a:gd name="connsiteY11" fmla="*/ 4302231 h 6859615"/>
              <a:gd name="connsiteX12" fmla="*/ 139990 w 4931636"/>
              <a:gd name="connsiteY12" fmla="*/ 2775529 h 6859615"/>
              <a:gd name="connsiteX13" fmla="*/ 161624 w 4931636"/>
              <a:gd name="connsiteY13" fmla="*/ 1862862 h 6859615"/>
              <a:gd name="connsiteX14" fmla="*/ 160390 w 4931636"/>
              <a:gd name="connsiteY14" fmla="*/ 1228384 h 6859615"/>
              <a:gd name="connsiteX15" fmla="*/ 136986 w 4931636"/>
              <a:gd name="connsiteY15" fmla="*/ 666410 h 6859615"/>
              <a:gd name="connsiteX16" fmla="*/ 154802 w 4931636"/>
              <a:gd name="connsiteY16" fmla="*/ 724 h 6859615"/>
              <a:gd name="connsiteX17" fmla="*/ 4925540 w 4931636"/>
              <a:gd name="connsiteY17" fmla="*/ 0 h 6859615"/>
              <a:gd name="connsiteX0" fmla="*/ 93444 w 4931641"/>
              <a:gd name="connsiteY0" fmla="*/ 5394783 h 6859615"/>
              <a:gd name="connsiteX1" fmla="*/ 123978 w 4931641"/>
              <a:gd name="connsiteY1" fmla="*/ 5559822 h 6859615"/>
              <a:gd name="connsiteX2" fmla="*/ 117149 w 4931641"/>
              <a:gd name="connsiteY2" fmla="*/ 5615230 h 6859615"/>
              <a:gd name="connsiteX3" fmla="*/ 147 w 4931641"/>
              <a:gd name="connsiteY3" fmla="*/ 5388346 h 6859615"/>
              <a:gd name="connsiteX4" fmla="*/ 93444 w 4931641"/>
              <a:gd name="connsiteY4" fmla="*/ 5394783 h 6859615"/>
              <a:gd name="connsiteX5" fmla="*/ 4925545 w 4931641"/>
              <a:gd name="connsiteY5" fmla="*/ 0 h 6859615"/>
              <a:gd name="connsiteX6" fmla="*/ 4931641 w 4931641"/>
              <a:gd name="connsiteY6" fmla="*/ 6857986 h 6859615"/>
              <a:gd name="connsiteX7" fmla="*/ 125089 w 4931641"/>
              <a:gd name="connsiteY7" fmla="*/ 6859615 h 6859615"/>
              <a:gd name="connsiteX8" fmla="*/ 130895 w 4931641"/>
              <a:gd name="connsiteY8" fmla="*/ 6185420 h 6859615"/>
              <a:gd name="connsiteX9" fmla="*/ 197162 w 4931641"/>
              <a:gd name="connsiteY9" fmla="*/ 5874333 h 6859615"/>
              <a:gd name="connsiteX10" fmla="*/ 151723 w 4931641"/>
              <a:gd name="connsiteY10" fmla="*/ 5140414 h 6859615"/>
              <a:gd name="connsiteX11" fmla="*/ 145329 w 4931641"/>
              <a:gd name="connsiteY11" fmla="*/ 4302231 h 6859615"/>
              <a:gd name="connsiteX12" fmla="*/ 139995 w 4931641"/>
              <a:gd name="connsiteY12" fmla="*/ 2775529 h 6859615"/>
              <a:gd name="connsiteX13" fmla="*/ 161629 w 4931641"/>
              <a:gd name="connsiteY13" fmla="*/ 1862862 h 6859615"/>
              <a:gd name="connsiteX14" fmla="*/ 160395 w 4931641"/>
              <a:gd name="connsiteY14" fmla="*/ 1228384 h 6859615"/>
              <a:gd name="connsiteX15" fmla="*/ 136991 w 4931641"/>
              <a:gd name="connsiteY15" fmla="*/ 666410 h 6859615"/>
              <a:gd name="connsiteX16" fmla="*/ 154807 w 4931641"/>
              <a:gd name="connsiteY16" fmla="*/ 724 h 6859615"/>
              <a:gd name="connsiteX17" fmla="*/ 4925545 w 4931641"/>
              <a:gd name="connsiteY17" fmla="*/ 0 h 6859615"/>
              <a:gd name="connsiteX0" fmla="*/ 21895 w 4860092"/>
              <a:gd name="connsiteY0" fmla="*/ 53947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3947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4860092"/>
              <a:gd name="connsiteY0" fmla="*/ 55243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5243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0092" h="6859615">
                <a:moveTo>
                  <a:pt x="21895" y="5524383"/>
                </a:moveTo>
                <a:cubicBezTo>
                  <a:pt x="30533" y="5516962"/>
                  <a:pt x="48478" y="5544681"/>
                  <a:pt x="52429" y="5559822"/>
                </a:cubicBezTo>
                <a:cubicBezTo>
                  <a:pt x="56380" y="5574963"/>
                  <a:pt x="54238" y="5607809"/>
                  <a:pt x="45600" y="5615230"/>
                </a:cubicBezTo>
                <a:cubicBezTo>
                  <a:pt x="36962" y="5622651"/>
                  <a:pt x="4549" y="5619487"/>
                  <a:pt x="598" y="5604346"/>
                </a:cubicBezTo>
                <a:cubicBezTo>
                  <a:pt x="-3353" y="5589205"/>
                  <a:pt x="13257" y="5531804"/>
                  <a:pt x="21895" y="5524383"/>
                </a:cubicBezTo>
                <a:close/>
                <a:moveTo>
                  <a:pt x="4853996" y="0"/>
                </a:moveTo>
                <a:lnTo>
                  <a:pt x="4860092" y="6857986"/>
                </a:lnTo>
                <a:lnTo>
                  <a:pt x="53540" y="6859615"/>
                </a:lnTo>
                <a:cubicBezTo>
                  <a:pt x="50713" y="6672582"/>
                  <a:pt x="38360" y="6239103"/>
                  <a:pt x="59346" y="6185420"/>
                </a:cubicBezTo>
                <a:cubicBezTo>
                  <a:pt x="186210" y="6016637"/>
                  <a:pt x="98761" y="6014541"/>
                  <a:pt x="125613" y="5874333"/>
                </a:cubicBezTo>
                <a:cubicBezTo>
                  <a:pt x="104117" y="5642393"/>
                  <a:pt x="30232" y="5410454"/>
                  <a:pt x="80174" y="5140414"/>
                </a:cubicBezTo>
                <a:cubicBezTo>
                  <a:pt x="108205" y="4681633"/>
                  <a:pt x="45749" y="4761013"/>
                  <a:pt x="73780" y="4302231"/>
                </a:cubicBezTo>
                <a:cubicBezTo>
                  <a:pt x="65652" y="3779043"/>
                  <a:pt x="124199" y="3798779"/>
                  <a:pt x="68446" y="2775529"/>
                </a:cubicBezTo>
                <a:cubicBezTo>
                  <a:pt x="80419" y="1837895"/>
                  <a:pt x="68581" y="2081359"/>
                  <a:pt x="90080" y="1862862"/>
                </a:cubicBezTo>
                <a:cubicBezTo>
                  <a:pt x="34106" y="1156069"/>
                  <a:pt x="116245" y="1658952"/>
                  <a:pt x="88846" y="1228384"/>
                </a:cubicBezTo>
                <a:lnTo>
                  <a:pt x="65442" y="666410"/>
                </a:lnTo>
                <a:cubicBezTo>
                  <a:pt x="74556" y="522302"/>
                  <a:pt x="64619" y="344857"/>
                  <a:pt x="83258" y="724"/>
                </a:cubicBezTo>
                <a:lnTo>
                  <a:pt x="4853996" y="0"/>
                </a:lnTo>
                <a:close/>
              </a:path>
            </a:pathLst>
          </a:custGeom>
          <a:solidFill>
            <a:srgbClr val="5BAC26"/>
          </a:solidFill>
          <a:ln>
            <a:noFill/>
          </a:ln>
        </p:spPr>
        <p:txBody>
          <a:bodyPr wrap="square">
            <a:noAutofit/>
          </a:bodyPr>
          <a:lstStyle>
            <a:lvl1pPr>
              <a:defRPr sz="1800">
                <a:solidFill>
                  <a:schemeClr val="bg2"/>
                </a:solidFill>
              </a:defRPr>
            </a:lvl1pPr>
          </a:lstStyle>
          <a:p>
            <a:r>
              <a:rPr lang="en-GB"/>
              <a:t>This is an image placeholder. Click the little icon to add a picture</a:t>
            </a:r>
          </a:p>
        </p:txBody>
      </p:sp>
    </p:spTree>
    <p:extLst>
      <p:ext uri="{BB962C8B-B14F-4D97-AF65-F5344CB8AC3E}">
        <p14:creationId xmlns:p14="http://schemas.microsoft.com/office/powerpoint/2010/main" val="343661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Quote image right light green">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2FCB43F-A4EC-7247-A685-C1582EB047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2088" y="225425"/>
            <a:ext cx="1854200" cy="1460500"/>
          </a:xfrm>
          <a:prstGeom prst="rect">
            <a:avLst/>
          </a:prstGeom>
        </p:spPr>
      </p:pic>
      <p:sp>
        <p:nvSpPr>
          <p:cNvPr id="5" name="Picture Placeholder 4">
            <a:extLst>
              <a:ext uri="{FF2B5EF4-FFF2-40B4-BE49-F238E27FC236}">
                <a16:creationId xmlns:a16="http://schemas.microsoft.com/office/drawing/2014/main" id="{FA0A0A96-40C3-5D41-AAA0-64249BFE4B1E}"/>
              </a:ext>
            </a:extLst>
          </p:cNvPr>
          <p:cNvSpPr>
            <a:spLocks noGrp="1"/>
          </p:cNvSpPr>
          <p:nvPr>
            <p:ph type="pic" sz="quarter" idx="12" hasCustomPrompt="1"/>
          </p:nvPr>
        </p:nvSpPr>
        <p:spPr>
          <a:xfrm>
            <a:off x="7331908" y="-1615"/>
            <a:ext cx="4860092" cy="6859615"/>
          </a:xfrm>
          <a:custGeom>
            <a:avLst/>
            <a:gdLst>
              <a:gd name="connsiteX0" fmla="*/ 39942 w 5578475"/>
              <a:gd name="connsiteY0" fmla="*/ 3797300 h 6859615"/>
              <a:gd name="connsiteX1" fmla="*/ 79884 w 5578475"/>
              <a:gd name="connsiteY1" fmla="*/ 3870097 h 6859615"/>
              <a:gd name="connsiteX2" fmla="*/ 39942 w 5578475"/>
              <a:gd name="connsiteY2" fmla="*/ 3942894 h 6859615"/>
              <a:gd name="connsiteX3" fmla="*/ 0 w 5578475"/>
              <a:gd name="connsiteY3" fmla="*/ 3870097 h 6859615"/>
              <a:gd name="connsiteX4" fmla="*/ 39942 w 5578475"/>
              <a:gd name="connsiteY4" fmla="*/ 3797300 h 6859615"/>
              <a:gd name="connsiteX5" fmla="*/ 5572379 w 5578475"/>
              <a:gd name="connsiteY5" fmla="*/ 0 h 6859615"/>
              <a:gd name="connsiteX6" fmla="*/ 5578475 w 5578475"/>
              <a:gd name="connsiteY6" fmla="*/ 6857986 h 6859615"/>
              <a:gd name="connsiteX7" fmla="*/ 771923 w 5578475"/>
              <a:gd name="connsiteY7" fmla="*/ 6859615 h 6859615"/>
              <a:gd name="connsiteX8" fmla="*/ 777729 w 5578475"/>
              <a:gd name="connsiteY8" fmla="*/ 6185420 h 6859615"/>
              <a:gd name="connsiteX9" fmla="*/ 843996 w 5578475"/>
              <a:gd name="connsiteY9" fmla="*/ 5874333 h 6859615"/>
              <a:gd name="connsiteX10" fmla="*/ 798557 w 5578475"/>
              <a:gd name="connsiteY10" fmla="*/ 5140414 h 6859615"/>
              <a:gd name="connsiteX11" fmla="*/ 792163 w 5578475"/>
              <a:gd name="connsiteY11" fmla="*/ 4302231 h 6859615"/>
              <a:gd name="connsiteX12" fmla="*/ 786829 w 5578475"/>
              <a:gd name="connsiteY12" fmla="*/ 2775529 h 6859615"/>
              <a:gd name="connsiteX13" fmla="*/ 808463 w 5578475"/>
              <a:gd name="connsiteY13" fmla="*/ 1862862 h 6859615"/>
              <a:gd name="connsiteX14" fmla="*/ 807229 w 5578475"/>
              <a:gd name="connsiteY14" fmla="*/ 1228384 h 6859615"/>
              <a:gd name="connsiteX15" fmla="*/ 783825 w 5578475"/>
              <a:gd name="connsiteY15" fmla="*/ 666410 h 6859615"/>
              <a:gd name="connsiteX16" fmla="*/ 801641 w 5578475"/>
              <a:gd name="connsiteY16" fmla="*/ 724 h 6859615"/>
              <a:gd name="connsiteX0" fmla="*/ 80848 w 5619381"/>
              <a:gd name="connsiteY0" fmla="*/ 3797300 h 6859615"/>
              <a:gd name="connsiteX1" fmla="*/ 120790 w 5619381"/>
              <a:gd name="connsiteY1" fmla="*/ 3870097 h 6859615"/>
              <a:gd name="connsiteX2" fmla="*/ 697637 w 5619381"/>
              <a:gd name="connsiteY2" fmla="*/ 5758755 h 6859615"/>
              <a:gd name="connsiteX3" fmla="*/ 40906 w 5619381"/>
              <a:gd name="connsiteY3" fmla="*/ 3870097 h 6859615"/>
              <a:gd name="connsiteX4" fmla="*/ 80848 w 5619381"/>
              <a:gd name="connsiteY4" fmla="*/ 3797300 h 6859615"/>
              <a:gd name="connsiteX5" fmla="*/ 5613285 w 5619381"/>
              <a:gd name="connsiteY5" fmla="*/ 0 h 6859615"/>
              <a:gd name="connsiteX6" fmla="*/ 5619381 w 5619381"/>
              <a:gd name="connsiteY6" fmla="*/ 6857986 h 6859615"/>
              <a:gd name="connsiteX7" fmla="*/ 812829 w 5619381"/>
              <a:gd name="connsiteY7" fmla="*/ 6859615 h 6859615"/>
              <a:gd name="connsiteX8" fmla="*/ 818635 w 5619381"/>
              <a:gd name="connsiteY8" fmla="*/ 6185420 h 6859615"/>
              <a:gd name="connsiteX9" fmla="*/ 884902 w 5619381"/>
              <a:gd name="connsiteY9" fmla="*/ 5874333 h 6859615"/>
              <a:gd name="connsiteX10" fmla="*/ 839463 w 5619381"/>
              <a:gd name="connsiteY10" fmla="*/ 5140414 h 6859615"/>
              <a:gd name="connsiteX11" fmla="*/ 833069 w 5619381"/>
              <a:gd name="connsiteY11" fmla="*/ 4302231 h 6859615"/>
              <a:gd name="connsiteX12" fmla="*/ 827735 w 5619381"/>
              <a:gd name="connsiteY12" fmla="*/ 2775529 h 6859615"/>
              <a:gd name="connsiteX13" fmla="*/ 849369 w 5619381"/>
              <a:gd name="connsiteY13" fmla="*/ 1862862 h 6859615"/>
              <a:gd name="connsiteX14" fmla="*/ 848135 w 5619381"/>
              <a:gd name="connsiteY14" fmla="*/ 1228384 h 6859615"/>
              <a:gd name="connsiteX15" fmla="*/ 824731 w 5619381"/>
              <a:gd name="connsiteY15" fmla="*/ 666410 h 6859615"/>
              <a:gd name="connsiteX16" fmla="*/ 842547 w 5619381"/>
              <a:gd name="connsiteY16" fmla="*/ 724 h 6859615"/>
              <a:gd name="connsiteX17" fmla="*/ 5613285 w 5619381"/>
              <a:gd name="connsiteY17" fmla="*/ 0 h 6859615"/>
              <a:gd name="connsiteX0" fmla="*/ 104617 w 5643150"/>
              <a:gd name="connsiteY0" fmla="*/ 3797300 h 6859615"/>
              <a:gd name="connsiteX1" fmla="*/ 774287 w 5643150"/>
              <a:gd name="connsiteY1" fmla="*/ 5315022 h 6859615"/>
              <a:gd name="connsiteX2" fmla="*/ 721406 w 5643150"/>
              <a:gd name="connsiteY2" fmla="*/ 5758755 h 6859615"/>
              <a:gd name="connsiteX3" fmla="*/ 64675 w 5643150"/>
              <a:gd name="connsiteY3" fmla="*/ 3870097 h 6859615"/>
              <a:gd name="connsiteX4" fmla="*/ 104617 w 5643150"/>
              <a:gd name="connsiteY4" fmla="*/ 3797300 h 6859615"/>
              <a:gd name="connsiteX5" fmla="*/ 5637054 w 5643150"/>
              <a:gd name="connsiteY5" fmla="*/ 0 h 6859615"/>
              <a:gd name="connsiteX6" fmla="*/ 5643150 w 5643150"/>
              <a:gd name="connsiteY6" fmla="*/ 6857986 h 6859615"/>
              <a:gd name="connsiteX7" fmla="*/ 836598 w 5643150"/>
              <a:gd name="connsiteY7" fmla="*/ 6859615 h 6859615"/>
              <a:gd name="connsiteX8" fmla="*/ 842404 w 5643150"/>
              <a:gd name="connsiteY8" fmla="*/ 6185420 h 6859615"/>
              <a:gd name="connsiteX9" fmla="*/ 908671 w 5643150"/>
              <a:gd name="connsiteY9" fmla="*/ 5874333 h 6859615"/>
              <a:gd name="connsiteX10" fmla="*/ 863232 w 5643150"/>
              <a:gd name="connsiteY10" fmla="*/ 5140414 h 6859615"/>
              <a:gd name="connsiteX11" fmla="*/ 856838 w 5643150"/>
              <a:gd name="connsiteY11" fmla="*/ 4302231 h 6859615"/>
              <a:gd name="connsiteX12" fmla="*/ 851504 w 5643150"/>
              <a:gd name="connsiteY12" fmla="*/ 2775529 h 6859615"/>
              <a:gd name="connsiteX13" fmla="*/ 873138 w 5643150"/>
              <a:gd name="connsiteY13" fmla="*/ 1862862 h 6859615"/>
              <a:gd name="connsiteX14" fmla="*/ 871904 w 5643150"/>
              <a:gd name="connsiteY14" fmla="*/ 1228384 h 6859615"/>
              <a:gd name="connsiteX15" fmla="*/ 848500 w 5643150"/>
              <a:gd name="connsiteY15" fmla="*/ 666410 h 6859615"/>
              <a:gd name="connsiteX16" fmla="*/ 866316 w 5643150"/>
              <a:gd name="connsiteY16" fmla="*/ 724 h 6859615"/>
              <a:gd name="connsiteX17" fmla="*/ 5637054 w 5643150"/>
              <a:gd name="connsiteY17" fmla="*/ 0 h 6859615"/>
              <a:gd name="connsiteX0" fmla="*/ 669677 w 5578482"/>
              <a:gd name="connsiteY0" fmla="*/ 5086949 h 6859615"/>
              <a:gd name="connsiteX1" fmla="*/ 709619 w 5578482"/>
              <a:gd name="connsiteY1" fmla="*/ 5315022 h 6859615"/>
              <a:gd name="connsiteX2" fmla="*/ 656738 w 5578482"/>
              <a:gd name="connsiteY2" fmla="*/ 5758755 h 6859615"/>
              <a:gd name="connsiteX3" fmla="*/ 7 w 5578482"/>
              <a:gd name="connsiteY3" fmla="*/ 3870097 h 6859615"/>
              <a:gd name="connsiteX4" fmla="*/ 669677 w 5578482"/>
              <a:gd name="connsiteY4" fmla="*/ 5086949 h 6859615"/>
              <a:gd name="connsiteX5" fmla="*/ 5572386 w 5578482"/>
              <a:gd name="connsiteY5" fmla="*/ 0 h 6859615"/>
              <a:gd name="connsiteX6" fmla="*/ 5578482 w 5578482"/>
              <a:gd name="connsiteY6" fmla="*/ 6857986 h 6859615"/>
              <a:gd name="connsiteX7" fmla="*/ 771930 w 5578482"/>
              <a:gd name="connsiteY7" fmla="*/ 6859615 h 6859615"/>
              <a:gd name="connsiteX8" fmla="*/ 777736 w 5578482"/>
              <a:gd name="connsiteY8" fmla="*/ 6185420 h 6859615"/>
              <a:gd name="connsiteX9" fmla="*/ 844003 w 5578482"/>
              <a:gd name="connsiteY9" fmla="*/ 5874333 h 6859615"/>
              <a:gd name="connsiteX10" fmla="*/ 798564 w 5578482"/>
              <a:gd name="connsiteY10" fmla="*/ 5140414 h 6859615"/>
              <a:gd name="connsiteX11" fmla="*/ 792170 w 5578482"/>
              <a:gd name="connsiteY11" fmla="*/ 4302231 h 6859615"/>
              <a:gd name="connsiteX12" fmla="*/ 786836 w 5578482"/>
              <a:gd name="connsiteY12" fmla="*/ 2775529 h 6859615"/>
              <a:gd name="connsiteX13" fmla="*/ 808470 w 5578482"/>
              <a:gd name="connsiteY13" fmla="*/ 1862862 h 6859615"/>
              <a:gd name="connsiteX14" fmla="*/ 807236 w 5578482"/>
              <a:gd name="connsiteY14" fmla="*/ 1228384 h 6859615"/>
              <a:gd name="connsiteX15" fmla="*/ 783832 w 5578482"/>
              <a:gd name="connsiteY15" fmla="*/ 666410 h 6859615"/>
              <a:gd name="connsiteX16" fmla="*/ 801648 w 5578482"/>
              <a:gd name="connsiteY16" fmla="*/ 724 h 6859615"/>
              <a:gd name="connsiteX17" fmla="*/ 5572386 w 5578482"/>
              <a:gd name="connsiteY17" fmla="*/ 0 h 6859615"/>
              <a:gd name="connsiteX0" fmla="*/ 74523 w 4983328"/>
              <a:gd name="connsiteY0" fmla="*/ 5086949 h 6859615"/>
              <a:gd name="connsiteX1" fmla="*/ 114465 w 4983328"/>
              <a:gd name="connsiteY1" fmla="*/ 5315022 h 6859615"/>
              <a:gd name="connsiteX2" fmla="*/ 61584 w 4983328"/>
              <a:gd name="connsiteY2" fmla="*/ 5758755 h 6859615"/>
              <a:gd name="connsiteX3" fmla="*/ 76 w 4983328"/>
              <a:gd name="connsiteY3" fmla="*/ 5396972 h 6859615"/>
              <a:gd name="connsiteX4" fmla="*/ 74523 w 4983328"/>
              <a:gd name="connsiteY4" fmla="*/ 5086949 h 6859615"/>
              <a:gd name="connsiteX5" fmla="*/ 4977232 w 4983328"/>
              <a:gd name="connsiteY5" fmla="*/ 0 h 6859615"/>
              <a:gd name="connsiteX6" fmla="*/ 4983328 w 4983328"/>
              <a:gd name="connsiteY6" fmla="*/ 6857986 h 6859615"/>
              <a:gd name="connsiteX7" fmla="*/ 176776 w 4983328"/>
              <a:gd name="connsiteY7" fmla="*/ 6859615 h 6859615"/>
              <a:gd name="connsiteX8" fmla="*/ 182582 w 4983328"/>
              <a:gd name="connsiteY8" fmla="*/ 6185420 h 6859615"/>
              <a:gd name="connsiteX9" fmla="*/ 248849 w 4983328"/>
              <a:gd name="connsiteY9" fmla="*/ 5874333 h 6859615"/>
              <a:gd name="connsiteX10" fmla="*/ 203410 w 4983328"/>
              <a:gd name="connsiteY10" fmla="*/ 5140414 h 6859615"/>
              <a:gd name="connsiteX11" fmla="*/ 197016 w 4983328"/>
              <a:gd name="connsiteY11" fmla="*/ 4302231 h 6859615"/>
              <a:gd name="connsiteX12" fmla="*/ 191682 w 4983328"/>
              <a:gd name="connsiteY12" fmla="*/ 2775529 h 6859615"/>
              <a:gd name="connsiteX13" fmla="*/ 213316 w 4983328"/>
              <a:gd name="connsiteY13" fmla="*/ 1862862 h 6859615"/>
              <a:gd name="connsiteX14" fmla="*/ 212082 w 4983328"/>
              <a:gd name="connsiteY14" fmla="*/ 1228384 h 6859615"/>
              <a:gd name="connsiteX15" fmla="*/ 188678 w 4983328"/>
              <a:gd name="connsiteY15" fmla="*/ 666410 h 6859615"/>
              <a:gd name="connsiteX16" fmla="*/ 206494 w 4983328"/>
              <a:gd name="connsiteY16" fmla="*/ 724 h 6859615"/>
              <a:gd name="connsiteX17" fmla="*/ 4977232 w 4983328"/>
              <a:gd name="connsiteY17" fmla="*/ 0 h 6859615"/>
              <a:gd name="connsiteX0" fmla="*/ 74454 w 4983259"/>
              <a:gd name="connsiteY0" fmla="*/ 5086949 h 6859615"/>
              <a:gd name="connsiteX1" fmla="*/ 114396 w 4983259"/>
              <a:gd name="connsiteY1" fmla="*/ 5315022 h 6859615"/>
              <a:gd name="connsiteX2" fmla="*/ 78767 w 4983259"/>
              <a:gd name="connsiteY2" fmla="*/ 5456830 h 6859615"/>
              <a:gd name="connsiteX3" fmla="*/ 7 w 4983259"/>
              <a:gd name="connsiteY3" fmla="*/ 5396972 h 6859615"/>
              <a:gd name="connsiteX4" fmla="*/ 74454 w 4983259"/>
              <a:gd name="connsiteY4" fmla="*/ 5086949 h 6859615"/>
              <a:gd name="connsiteX5" fmla="*/ 4977163 w 4983259"/>
              <a:gd name="connsiteY5" fmla="*/ 0 h 6859615"/>
              <a:gd name="connsiteX6" fmla="*/ 4983259 w 4983259"/>
              <a:gd name="connsiteY6" fmla="*/ 6857986 h 6859615"/>
              <a:gd name="connsiteX7" fmla="*/ 176707 w 4983259"/>
              <a:gd name="connsiteY7" fmla="*/ 6859615 h 6859615"/>
              <a:gd name="connsiteX8" fmla="*/ 182513 w 4983259"/>
              <a:gd name="connsiteY8" fmla="*/ 6185420 h 6859615"/>
              <a:gd name="connsiteX9" fmla="*/ 248780 w 4983259"/>
              <a:gd name="connsiteY9" fmla="*/ 5874333 h 6859615"/>
              <a:gd name="connsiteX10" fmla="*/ 203341 w 4983259"/>
              <a:gd name="connsiteY10" fmla="*/ 5140414 h 6859615"/>
              <a:gd name="connsiteX11" fmla="*/ 196947 w 4983259"/>
              <a:gd name="connsiteY11" fmla="*/ 4302231 h 6859615"/>
              <a:gd name="connsiteX12" fmla="*/ 191613 w 4983259"/>
              <a:gd name="connsiteY12" fmla="*/ 2775529 h 6859615"/>
              <a:gd name="connsiteX13" fmla="*/ 213247 w 4983259"/>
              <a:gd name="connsiteY13" fmla="*/ 1862862 h 6859615"/>
              <a:gd name="connsiteX14" fmla="*/ 212013 w 4983259"/>
              <a:gd name="connsiteY14" fmla="*/ 1228384 h 6859615"/>
              <a:gd name="connsiteX15" fmla="*/ 188609 w 4983259"/>
              <a:gd name="connsiteY15" fmla="*/ 666410 h 6859615"/>
              <a:gd name="connsiteX16" fmla="*/ 206425 w 4983259"/>
              <a:gd name="connsiteY16" fmla="*/ 724 h 6859615"/>
              <a:gd name="connsiteX17" fmla="*/ 4977163 w 4983259"/>
              <a:gd name="connsiteY17" fmla="*/ 0 h 6859615"/>
              <a:gd name="connsiteX0" fmla="*/ 44956 w 4983953"/>
              <a:gd name="connsiteY0" fmla="*/ 5293983 h 6859615"/>
              <a:gd name="connsiteX1" fmla="*/ 115090 w 4983953"/>
              <a:gd name="connsiteY1" fmla="*/ 5315022 h 6859615"/>
              <a:gd name="connsiteX2" fmla="*/ 79461 w 4983953"/>
              <a:gd name="connsiteY2" fmla="*/ 5456830 h 6859615"/>
              <a:gd name="connsiteX3" fmla="*/ 701 w 4983953"/>
              <a:gd name="connsiteY3" fmla="*/ 5396972 h 6859615"/>
              <a:gd name="connsiteX4" fmla="*/ 44956 w 4983953"/>
              <a:gd name="connsiteY4" fmla="*/ 5293983 h 6859615"/>
              <a:gd name="connsiteX5" fmla="*/ 4977857 w 4983953"/>
              <a:gd name="connsiteY5" fmla="*/ 0 h 6859615"/>
              <a:gd name="connsiteX6" fmla="*/ 4983953 w 4983953"/>
              <a:gd name="connsiteY6" fmla="*/ 6857986 h 6859615"/>
              <a:gd name="connsiteX7" fmla="*/ 177401 w 4983953"/>
              <a:gd name="connsiteY7" fmla="*/ 6859615 h 6859615"/>
              <a:gd name="connsiteX8" fmla="*/ 183207 w 4983953"/>
              <a:gd name="connsiteY8" fmla="*/ 6185420 h 6859615"/>
              <a:gd name="connsiteX9" fmla="*/ 249474 w 4983953"/>
              <a:gd name="connsiteY9" fmla="*/ 5874333 h 6859615"/>
              <a:gd name="connsiteX10" fmla="*/ 204035 w 4983953"/>
              <a:gd name="connsiteY10" fmla="*/ 5140414 h 6859615"/>
              <a:gd name="connsiteX11" fmla="*/ 197641 w 4983953"/>
              <a:gd name="connsiteY11" fmla="*/ 4302231 h 6859615"/>
              <a:gd name="connsiteX12" fmla="*/ 192307 w 4983953"/>
              <a:gd name="connsiteY12" fmla="*/ 2775529 h 6859615"/>
              <a:gd name="connsiteX13" fmla="*/ 213941 w 4983953"/>
              <a:gd name="connsiteY13" fmla="*/ 1862862 h 6859615"/>
              <a:gd name="connsiteX14" fmla="*/ 212707 w 4983953"/>
              <a:gd name="connsiteY14" fmla="*/ 1228384 h 6859615"/>
              <a:gd name="connsiteX15" fmla="*/ 189303 w 4983953"/>
              <a:gd name="connsiteY15" fmla="*/ 666410 h 6859615"/>
              <a:gd name="connsiteX16" fmla="*/ 207119 w 4983953"/>
              <a:gd name="connsiteY16" fmla="*/ 724 h 6859615"/>
              <a:gd name="connsiteX17" fmla="*/ 4977857 w 4983953"/>
              <a:gd name="connsiteY17" fmla="*/ 0 h 6859615"/>
              <a:gd name="connsiteX0" fmla="*/ 4084 w 4943081"/>
              <a:gd name="connsiteY0" fmla="*/ 5293983 h 6859615"/>
              <a:gd name="connsiteX1" fmla="*/ 74218 w 4943081"/>
              <a:gd name="connsiteY1" fmla="*/ 5315022 h 6859615"/>
              <a:gd name="connsiteX2" fmla="*/ 38589 w 4943081"/>
              <a:gd name="connsiteY2" fmla="*/ 5456830 h 6859615"/>
              <a:gd name="connsiteX3" fmla="*/ 11587 w 4943081"/>
              <a:gd name="connsiteY3" fmla="*/ 5388346 h 6859615"/>
              <a:gd name="connsiteX4" fmla="*/ 4084 w 4943081"/>
              <a:gd name="connsiteY4" fmla="*/ 5293983 h 6859615"/>
              <a:gd name="connsiteX5" fmla="*/ 4936985 w 4943081"/>
              <a:gd name="connsiteY5" fmla="*/ 0 h 6859615"/>
              <a:gd name="connsiteX6" fmla="*/ 4943081 w 4943081"/>
              <a:gd name="connsiteY6" fmla="*/ 6857986 h 6859615"/>
              <a:gd name="connsiteX7" fmla="*/ 136529 w 4943081"/>
              <a:gd name="connsiteY7" fmla="*/ 6859615 h 6859615"/>
              <a:gd name="connsiteX8" fmla="*/ 142335 w 4943081"/>
              <a:gd name="connsiteY8" fmla="*/ 6185420 h 6859615"/>
              <a:gd name="connsiteX9" fmla="*/ 208602 w 4943081"/>
              <a:gd name="connsiteY9" fmla="*/ 5874333 h 6859615"/>
              <a:gd name="connsiteX10" fmla="*/ 163163 w 4943081"/>
              <a:gd name="connsiteY10" fmla="*/ 5140414 h 6859615"/>
              <a:gd name="connsiteX11" fmla="*/ 156769 w 4943081"/>
              <a:gd name="connsiteY11" fmla="*/ 4302231 h 6859615"/>
              <a:gd name="connsiteX12" fmla="*/ 151435 w 4943081"/>
              <a:gd name="connsiteY12" fmla="*/ 2775529 h 6859615"/>
              <a:gd name="connsiteX13" fmla="*/ 173069 w 4943081"/>
              <a:gd name="connsiteY13" fmla="*/ 1862862 h 6859615"/>
              <a:gd name="connsiteX14" fmla="*/ 171835 w 4943081"/>
              <a:gd name="connsiteY14" fmla="*/ 1228384 h 6859615"/>
              <a:gd name="connsiteX15" fmla="*/ 148431 w 4943081"/>
              <a:gd name="connsiteY15" fmla="*/ 666410 h 6859615"/>
              <a:gd name="connsiteX16" fmla="*/ 166247 w 4943081"/>
              <a:gd name="connsiteY16" fmla="*/ 724 h 6859615"/>
              <a:gd name="connsiteX17" fmla="*/ 4936985 w 4943081"/>
              <a:gd name="connsiteY17" fmla="*/ 0 h 6859615"/>
              <a:gd name="connsiteX0" fmla="*/ 4648 w 4943645"/>
              <a:gd name="connsiteY0" fmla="*/ 5293983 h 6859615"/>
              <a:gd name="connsiteX1" fmla="*/ 74782 w 4943645"/>
              <a:gd name="connsiteY1" fmla="*/ 5315022 h 6859615"/>
              <a:gd name="connsiteX2" fmla="*/ 57153 w 4943645"/>
              <a:gd name="connsiteY2" fmla="*/ 5413630 h 6859615"/>
              <a:gd name="connsiteX3" fmla="*/ 12151 w 4943645"/>
              <a:gd name="connsiteY3" fmla="*/ 5388346 h 6859615"/>
              <a:gd name="connsiteX4" fmla="*/ 4648 w 4943645"/>
              <a:gd name="connsiteY4" fmla="*/ 5293983 h 6859615"/>
              <a:gd name="connsiteX5" fmla="*/ 4937549 w 4943645"/>
              <a:gd name="connsiteY5" fmla="*/ 0 h 6859615"/>
              <a:gd name="connsiteX6" fmla="*/ 4943645 w 4943645"/>
              <a:gd name="connsiteY6" fmla="*/ 6857986 h 6859615"/>
              <a:gd name="connsiteX7" fmla="*/ 137093 w 4943645"/>
              <a:gd name="connsiteY7" fmla="*/ 6859615 h 6859615"/>
              <a:gd name="connsiteX8" fmla="*/ 142899 w 4943645"/>
              <a:gd name="connsiteY8" fmla="*/ 6185420 h 6859615"/>
              <a:gd name="connsiteX9" fmla="*/ 209166 w 4943645"/>
              <a:gd name="connsiteY9" fmla="*/ 5874333 h 6859615"/>
              <a:gd name="connsiteX10" fmla="*/ 163727 w 4943645"/>
              <a:gd name="connsiteY10" fmla="*/ 5140414 h 6859615"/>
              <a:gd name="connsiteX11" fmla="*/ 157333 w 4943645"/>
              <a:gd name="connsiteY11" fmla="*/ 4302231 h 6859615"/>
              <a:gd name="connsiteX12" fmla="*/ 151999 w 4943645"/>
              <a:gd name="connsiteY12" fmla="*/ 2775529 h 6859615"/>
              <a:gd name="connsiteX13" fmla="*/ 173633 w 4943645"/>
              <a:gd name="connsiteY13" fmla="*/ 1862862 h 6859615"/>
              <a:gd name="connsiteX14" fmla="*/ 172399 w 4943645"/>
              <a:gd name="connsiteY14" fmla="*/ 1228384 h 6859615"/>
              <a:gd name="connsiteX15" fmla="*/ 148995 w 4943645"/>
              <a:gd name="connsiteY15" fmla="*/ 666410 h 6859615"/>
              <a:gd name="connsiteX16" fmla="*/ 166811 w 4943645"/>
              <a:gd name="connsiteY16" fmla="*/ 724 h 6859615"/>
              <a:gd name="connsiteX17" fmla="*/ 4937549 w 4943645"/>
              <a:gd name="connsiteY17" fmla="*/ 0 h 6859615"/>
              <a:gd name="connsiteX0" fmla="*/ 15612 w 4933009"/>
              <a:gd name="connsiteY0" fmla="*/ 5319183 h 6859615"/>
              <a:gd name="connsiteX1" fmla="*/ 64146 w 4933009"/>
              <a:gd name="connsiteY1" fmla="*/ 5315022 h 6859615"/>
              <a:gd name="connsiteX2" fmla="*/ 46517 w 4933009"/>
              <a:gd name="connsiteY2" fmla="*/ 5413630 h 6859615"/>
              <a:gd name="connsiteX3" fmla="*/ 1515 w 4933009"/>
              <a:gd name="connsiteY3" fmla="*/ 5388346 h 6859615"/>
              <a:gd name="connsiteX4" fmla="*/ 15612 w 4933009"/>
              <a:gd name="connsiteY4" fmla="*/ 5319183 h 6859615"/>
              <a:gd name="connsiteX5" fmla="*/ 4926913 w 4933009"/>
              <a:gd name="connsiteY5" fmla="*/ 0 h 6859615"/>
              <a:gd name="connsiteX6" fmla="*/ 4933009 w 4933009"/>
              <a:gd name="connsiteY6" fmla="*/ 6857986 h 6859615"/>
              <a:gd name="connsiteX7" fmla="*/ 126457 w 4933009"/>
              <a:gd name="connsiteY7" fmla="*/ 6859615 h 6859615"/>
              <a:gd name="connsiteX8" fmla="*/ 132263 w 4933009"/>
              <a:gd name="connsiteY8" fmla="*/ 6185420 h 6859615"/>
              <a:gd name="connsiteX9" fmla="*/ 198530 w 4933009"/>
              <a:gd name="connsiteY9" fmla="*/ 5874333 h 6859615"/>
              <a:gd name="connsiteX10" fmla="*/ 153091 w 4933009"/>
              <a:gd name="connsiteY10" fmla="*/ 5140414 h 6859615"/>
              <a:gd name="connsiteX11" fmla="*/ 146697 w 4933009"/>
              <a:gd name="connsiteY11" fmla="*/ 4302231 h 6859615"/>
              <a:gd name="connsiteX12" fmla="*/ 141363 w 4933009"/>
              <a:gd name="connsiteY12" fmla="*/ 2775529 h 6859615"/>
              <a:gd name="connsiteX13" fmla="*/ 162997 w 4933009"/>
              <a:gd name="connsiteY13" fmla="*/ 1862862 h 6859615"/>
              <a:gd name="connsiteX14" fmla="*/ 161763 w 4933009"/>
              <a:gd name="connsiteY14" fmla="*/ 1228384 h 6859615"/>
              <a:gd name="connsiteX15" fmla="*/ 138359 w 4933009"/>
              <a:gd name="connsiteY15" fmla="*/ 666410 h 6859615"/>
              <a:gd name="connsiteX16" fmla="*/ 156175 w 4933009"/>
              <a:gd name="connsiteY16" fmla="*/ 724 h 6859615"/>
              <a:gd name="connsiteX17" fmla="*/ 4926913 w 4933009"/>
              <a:gd name="connsiteY17" fmla="*/ 0 h 6859615"/>
              <a:gd name="connsiteX0" fmla="*/ 20639 w 4938036"/>
              <a:gd name="connsiteY0" fmla="*/ 5319183 h 6859615"/>
              <a:gd name="connsiteX1" fmla="*/ 69173 w 4938036"/>
              <a:gd name="connsiteY1" fmla="*/ 5315022 h 6859615"/>
              <a:gd name="connsiteX2" fmla="*/ 123544 w 4938036"/>
              <a:gd name="connsiteY2" fmla="*/ 5615230 h 6859615"/>
              <a:gd name="connsiteX3" fmla="*/ 6542 w 4938036"/>
              <a:gd name="connsiteY3" fmla="*/ 5388346 h 6859615"/>
              <a:gd name="connsiteX4" fmla="*/ 20639 w 4938036"/>
              <a:gd name="connsiteY4" fmla="*/ 5319183 h 6859615"/>
              <a:gd name="connsiteX5" fmla="*/ 4931940 w 4938036"/>
              <a:gd name="connsiteY5" fmla="*/ 0 h 6859615"/>
              <a:gd name="connsiteX6" fmla="*/ 4938036 w 4938036"/>
              <a:gd name="connsiteY6" fmla="*/ 6857986 h 6859615"/>
              <a:gd name="connsiteX7" fmla="*/ 131484 w 4938036"/>
              <a:gd name="connsiteY7" fmla="*/ 6859615 h 6859615"/>
              <a:gd name="connsiteX8" fmla="*/ 137290 w 4938036"/>
              <a:gd name="connsiteY8" fmla="*/ 6185420 h 6859615"/>
              <a:gd name="connsiteX9" fmla="*/ 203557 w 4938036"/>
              <a:gd name="connsiteY9" fmla="*/ 5874333 h 6859615"/>
              <a:gd name="connsiteX10" fmla="*/ 158118 w 4938036"/>
              <a:gd name="connsiteY10" fmla="*/ 5140414 h 6859615"/>
              <a:gd name="connsiteX11" fmla="*/ 151724 w 4938036"/>
              <a:gd name="connsiteY11" fmla="*/ 4302231 h 6859615"/>
              <a:gd name="connsiteX12" fmla="*/ 146390 w 4938036"/>
              <a:gd name="connsiteY12" fmla="*/ 2775529 h 6859615"/>
              <a:gd name="connsiteX13" fmla="*/ 168024 w 4938036"/>
              <a:gd name="connsiteY13" fmla="*/ 1862862 h 6859615"/>
              <a:gd name="connsiteX14" fmla="*/ 166790 w 4938036"/>
              <a:gd name="connsiteY14" fmla="*/ 1228384 h 6859615"/>
              <a:gd name="connsiteX15" fmla="*/ 143386 w 4938036"/>
              <a:gd name="connsiteY15" fmla="*/ 666410 h 6859615"/>
              <a:gd name="connsiteX16" fmla="*/ 161202 w 4938036"/>
              <a:gd name="connsiteY16" fmla="*/ 724 h 6859615"/>
              <a:gd name="connsiteX17" fmla="*/ 4931940 w 4938036"/>
              <a:gd name="connsiteY17" fmla="*/ 0 h 6859615"/>
              <a:gd name="connsiteX0" fmla="*/ 21862 w 4939259"/>
              <a:gd name="connsiteY0" fmla="*/ 5319183 h 6859615"/>
              <a:gd name="connsiteX1" fmla="*/ 109996 w 4939259"/>
              <a:gd name="connsiteY1" fmla="*/ 5437422 h 6859615"/>
              <a:gd name="connsiteX2" fmla="*/ 124767 w 4939259"/>
              <a:gd name="connsiteY2" fmla="*/ 5615230 h 6859615"/>
              <a:gd name="connsiteX3" fmla="*/ 7765 w 4939259"/>
              <a:gd name="connsiteY3" fmla="*/ 5388346 h 6859615"/>
              <a:gd name="connsiteX4" fmla="*/ 21862 w 4939259"/>
              <a:gd name="connsiteY4" fmla="*/ 5319183 h 6859615"/>
              <a:gd name="connsiteX5" fmla="*/ 4933163 w 4939259"/>
              <a:gd name="connsiteY5" fmla="*/ 0 h 6859615"/>
              <a:gd name="connsiteX6" fmla="*/ 4939259 w 4939259"/>
              <a:gd name="connsiteY6" fmla="*/ 6857986 h 6859615"/>
              <a:gd name="connsiteX7" fmla="*/ 132707 w 4939259"/>
              <a:gd name="connsiteY7" fmla="*/ 6859615 h 6859615"/>
              <a:gd name="connsiteX8" fmla="*/ 138513 w 4939259"/>
              <a:gd name="connsiteY8" fmla="*/ 6185420 h 6859615"/>
              <a:gd name="connsiteX9" fmla="*/ 204780 w 4939259"/>
              <a:gd name="connsiteY9" fmla="*/ 5874333 h 6859615"/>
              <a:gd name="connsiteX10" fmla="*/ 159341 w 4939259"/>
              <a:gd name="connsiteY10" fmla="*/ 5140414 h 6859615"/>
              <a:gd name="connsiteX11" fmla="*/ 152947 w 4939259"/>
              <a:gd name="connsiteY11" fmla="*/ 4302231 h 6859615"/>
              <a:gd name="connsiteX12" fmla="*/ 147613 w 4939259"/>
              <a:gd name="connsiteY12" fmla="*/ 2775529 h 6859615"/>
              <a:gd name="connsiteX13" fmla="*/ 169247 w 4939259"/>
              <a:gd name="connsiteY13" fmla="*/ 1862862 h 6859615"/>
              <a:gd name="connsiteX14" fmla="*/ 168013 w 4939259"/>
              <a:gd name="connsiteY14" fmla="*/ 1228384 h 6859615"/>
              <a:gd name="connsiteX15" fmla="*/ 144609 w 4939259"/>
              <a:gd name="connsiteY15" fmla="*/ 666410 h 6859615"/>
              <a:gd name="connsiteX16" fmla="*/ 162425 w 4939259"/>
              <a:gd name="connsiteY16" fmla="*/ 724 h 6859615"/>
              <a:gd name="connsiteX17" fmla="*/ 4933163 w 4939259"/>
              <a:gd name="connsiteY17" fmla="*/ 0 h 6859615"/>
              <a:gd name="connsiteX0" fmla="*/ 93439 w 4931636"/>
              <a:gd name="connsiteY0" fmla="*/ 5394783 h 6859615"/>
              <a:gd name="connsiteX1" fmla="*/ 102373 w 4931636"/>
              <a:gd name="connsiteY1" fmla="*/ 5437422 h 6859615"/>
              <a:gd name="connsiteX2" fmla="*/ 117144 w 4931636"/>
              <a:gd name="connsiteY2" fmla="*/ 5615230 h 6859615"/>
              <a:gd name="connsiteX3" fmla="*/ 142 w 4931636"/>
              <a:gd name="connsiteY3" fmla="*/ 5388346 h 6859615"/>
              <a:gd name="connsiteX4" fmla="*/ 93439 w 4931636"/>
              <a:gd name="connsiteY4" fmla="*/ 5394783 h 6859615"/>
              <a:gd name="connsiteX5" fmla="*/ 4925540 w 4931636"/>
              <a:gd name="connsiteY5" fmla="*/ 0 h 6859615"/>
              <a:gd name="connsiteX6" fmla="*/ 4931636 w 4931636"/>
              <a:gd name="connsiteY6" fmla="*/ 6857986 h 6859615"/>
              <a:gd name="connsiteX7" fmla="*/ 125084 w 4931636"/>
              <a:gd name="connsiteY7" fmla="*/ 6859615 h 6859615"/>
              <a:gd name="connsiteX8" fmla="*/ 130890 w 4931636"/>
              <a:gd name="connsiteY8" fmla="*/ 6185420 h 6859615"/>
              <a:gd name="connsiteX9" fmla="*/ 197157 w 4931636"/>
              <a:gd name="connsiteY9" fmla="*/ 5874333 h 6859615"/>
              <a:gd name="connsiteX10" fmla="*/ 151718 w 4931636"/>
              <a:gd name="connsiteY10" fmla="*/ 5140414 h 6859615"/>
              <a:gd name="connsiteX11" fmla="*/ 145324 w 4931636"/>
              <a:gd name="connsiteY11" fmla="*/ 4302231 h 6859615"/>
              <a:gd name="connsiteX12" fmla="*/ 139990 w 4931636"/>
              <a:gd name="connsiteY12" fmla="*/ 2775529 h 6859615"/>
              <a:gd name="connsiteX13" fmla="*/ 161624 w 4931636"/>
              <a:gd name="connsiteY13" fmla="*/ 1862862 h 6859615"/>
              <a:gd name="connsiteX14" fmla="*/ 160390 w 4931636"/>
              <a:gd name="connsiteY14" fmla="*/ 1228384 h 6859615"/>
              <a:gd name="connsiteX15" fmla="*/ 136986 w 4931636"/>
              <a:gd name="connsiteY15" fmla="*/ 666410 h 6859615"/>
              <a:gd name="connsiteX16" fmla="*/ 154802 w 4931636"/>
              <a:gd name="connsiteY16" fmla="*/ 724 h 6859615"/>
              <a:gd name="connsiteX17" fmla="*/ 4925540 w 4931636"/>
              <a:gd name="connsiteY17" fmla="*/ 0 h 6859615"/>
              <a:gd name="connsiteX0" fmla="*/ 93444 w 4931641"/>
              <a:gd name="connsiteY0" fmla="*/ 5394783 h 6859615"/>
              <a:gd name="connsiteX1" fmla="*/ 123978 w 4931641"/>
              <a:gd name="connsiteY1" fmla="*/ 5559822 h 6859615"/>
              <a:gd name="connsiteX2" fmla="*/ 117149 w 4931641"/>
              <a:gd name="connsiteY2" fmla="*/ 5615230 h 6859615"/>
              <a:gd name="connsiteX3" fmla="*/ 147 w 4931641"/>
              <a:gd name="connsiteY3" fmla="*/ 5388346 h 6859615"/>
              <a:gd name="connsiteX4" fmla="*/ 93444 w 4931641"/>
              <a:gd name="connsiteY4" fmla="*/ 5394783 h 6859615"/>
              <a:gd name="connsiteX5" fmla="*/ 4925545 w 4931641"/>
              <a:gd name="connsiteY5" fmla="*/ 0 h 6859615"/>
              <a:gd name="connsiteX6" fmla="*/ 4931641 w 4931641"/>
              <a:gd name="connsiteY6" fmla="*/ 6857986 h 6859615"/>
              <a:gd name="connsiteX7" fmla="*/ 125089 w 4931641"/>
              <a:gd name="connsiteY7" fmla="*/ 6859615 h 6859615"/>
              <a:gd name="connsiteX8" fmla="*/ 130895 w 4931641"/>
              <a:gd name="connsiteY8" fmla="*/ 6185420 h 6859615"/>
              <a:gd name="connsiteX9" fmla="*/ 197162 w 4931641"/>
              <a:gd name="connsiteY9" fmla="*/ 5874333 h 6859615"/>
              <a:gd name="connsiteX10" fmla="*/ 151723 w 4931641"/>
              <a:gd name="connsiteY10" fmla="*/ 5140414 h 6859615"/>
              <a:gd name="connsiteX11" fmla="*/ 145329 w 4931641"/>
              <a:gd name="connsiteY11" fmla="*/ 4302231 h 6859615"/>
              <a:gd name="connsiteX12" fmla="*/ 139995 w 4931641"/>
              <a:gd name="connsiteY12" fmla="*/ 2775529 h 6859615"/>
              <a:gd name="connsiteX13" fmla="*/ 161629 w 4931641"/>
              <a:gd name="connsiteY13" fmla="*/ 1862862 h 6859615"/>
              <a:gd name="connsiteX14" fmla="*/ 160395 w 4931641"/>
              <a:gd name="connsiteY14" fmla="*/ 1228384 h 6859615"/>
              <a:gd name="connsiteX15" fmla="*/ 136991 w 4931641"/>
              <a:gd name="connsiteY15" fmla="*/ 666410 h 6859615"/>
              <a:gd name="connsiteX16" fmla="*/ 154807 w 4931641"/>
              <a:gd name="connsiteY16" fmla="*/ 724 h 6859615"/>
              <a:gd name="connsiteX17" fmla="*/ 4925545 w 4931641"/>
              <a:gd name="connsiteY17" fmla="*/ 0 h 6859615"/>
              <a:gd name="connsiteX0" fmla="*/ 21895 w 4860092"/>
              <a:gd name="connsiteY0" fmla="*/ 53947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3947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4860092"/>
              <a:gd name="connsiteY0" fmla="*/ 55243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5243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0092" h="6859615">
                <a:moveTo>
                  <a:pt x="21895" y="5524383"/>
                </a:moveTo>
                <a:cubicBezTo>
                  <a:pt x="30533" y="5516962"/>
                  <a:pt x="48478" y="5544681"/>
                  <a:pt x="52429" y="5559822"/>
                </a:cubicBezTo>
                <a:cubicBezTo>
                  <a:pt x="56380" y="5574963"/>
                  <a:pt x="54238" y="5607809"/>
                  <a:pt x="45600" y="5615230"/>
                </a:cubicBezTo>
                <a:cubicBezTo>
                  <a:pt x="36962" y="5622651"/>
                  <a:pt x="4549" y="5619487"/>
                  <a:pt x="598" y="5604346"/>
                </a:cubicBezTo>
                <a:cubicBezTo>
                  <a:pt x="-3353" y="5589205"/>
                  <a:pt x="13257" y="5531804"/>
                  <a:pt x="21895" y="5524383"/>
                </a:cubicBezTo>
                <a:close/>
                <a:moveTo>
                  <a:pt x="4853996" y="0"/>
                </a:moveTo>
                <a:lnTo>
                  <a:pt x="4860092" y="6857986"/>
                </a:lnTo>
                <a:lnTo>
                  <a:pt x="53540" y="6859615"/>
                </a:lnTo>
                <a:cubicBezTo>
                  <a:pt x="50713" y="6672582"/>
                  <a:pt x="38360" y="6239103"/>
                  <a:pt x="59346" y="6185420"/>
                </a:cubicBezTo>
                <a:cubicBezTo>
                  <a:pt x="186210" y="6016637"/>
                  <a:pt x="98761" y="6014541"/>
                  <a:pt x="125613" y="5874333"/>
                </a:cubicBezTo>
                <a:cubicBezTo>
                  <a:pt x="104117" y="5642393"/>
                  <a:pt x="30232" y="5410454"/>
                  <a:pt x="80174" y="5140414"/>
                </a:cubicBezTo>
                <a:cubicBezTo>
                  <a:pt x="108205" y="4681633"/>
                  <a:pt x="45749" y="4761013"/>
                  <a:pt x="73780" y="4302231"/>
                </a:cubicBezTo>
                <a:cubicBezTo>
                  <a:pt x="65652" y="3779043"/>
                  <a:pt x="124199" y="3798779"/>
                  <a:pt x="68446" y="2775529"/>
                </a:cubicBezTo>
                <a:cubicBezTo>
                  <a:pt x="80419" y="1837895"/>
                  <a:pt x="68581" y="2081359"/>
                  <a:pt x="90080" y="1862862"/>
                </a:cubicBezTo>
                <a:cubicBezTo>
                  <a:pt x="34106" y="1156069"/>
                  <a:pt x="116245" y="1658952"/>
                  <a:pt x="88846" y="1228384"/>
                </a:cubicBezTo>
                <a:lnTo>
                  <a:pt x="65442" y="666410"/>
                </a:lnTo>
                <a:cubicBezTo>
                  <a:pt x="74556" y="522302"/>
                  <a:pt x="64619" y="344857"/>
                  <a:pt x="83258" y="724"/>
                </a:cubicBezTo>
                <a:lnTo>
                  <a:pt x="4853996" y="0"/>
                </a:lnTo>
                <a:close/>
              </a:path>
            </a:pathLst>
          </a:custGeom>
          <a:solidFill>
            <a:srgbClr val="5BAC26"/>
          </a:solidFill>
          <a:ln>
            <a:noFill/>
          </a:ln>
        </p:spPr>
        <p:txBody>
          <a:bodyPr wrap="square">
            <a:noAutofit/>
          </a:bodyPr>
          <a:lstStyle>
            <a:lvl1pPr>
              <a:defRPr sz="1800">
                <a:solidFill>
                  <a:schemeClr val="bg2"/>
                </a:solidFill>
              </a:defRPr>
            </a:lvl1pPr>
          </a:lstStyle>
          <a:p>
            <a:r>
              <a:rPr lang="en-GB"/>
              <a:t>This is an image placeholder. Click the little icon behind the square image to add a picture</a:t>
            </a:r>
          </a:p>
        </p:txBody>
      </p:sp>
      <p:sp>
        <p:nvSpPr>
          <p:cNvPr id="6" name="Picture Placeholder 18">
            <a:extLst>
              <a:ext uri="{FF2B5EF4-FFF2-40B4-BE49-F238E27FC236}">
                <a16:creationId xmlns:a16="http://schemas.microsoft.com/office/drawing/2014/main" id="{EFFFBC21-2E5E-8A47-8A7B-591B2BE8C26C}"/>
              </a:ext>
            </a:extLst>
          </p:cNvPr>
          <p:cNvSpPr>
            <a:spLocks noGrp="1"/>
          </p:cNvSpPr>
          <p:nvPr>
            <p:ph type="pic" sz="quarter" idx="10"/>
          </p:nvPr>
        </p:nvSpPr>
        <p:spPr>
          <a:xfrm>
            <a:off x="6585209" y="1066006"/>
            <a:ext cx="4725987" cy="4725987"/>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pic>
        <p:nvPicPr>
          <p:cNvPr id="9" name="Graphic 8">
            <a:extLst>
              <a:ext uri="{FF2B5EF4-FFF2-40B4-BE49-F238E27FC236}">
                <a16:creationId xmlns:a16="http://schemas.microsoft.com/office/drawing/2014/main" id="{FA6042CF-4ABF-B842-B0FA-3A293950DD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641206" y="5114296"/>
            <a:ext cx="1854200" cy="1460500"/>
          </a:xfrm>
          <a:prstGeom prst="rect">
            <a:avLst/>
          </a:prstGeom>
        </p:spPr>
      </p:pic>
      <p:sp>
        <p:nvSpPr>
          <p:cNvPr id="10" name="Subtitle 2">
            <a:extLst>
              <a:ext uri="{FF2B5EF4-FFF2-40B4-BE49-F238E27FC236}">
                <a16:creationId xmlns:a16="http://schemas.microsoft.com/office/drawing/2014/main" id="{88502177-AFDB-A948-968F-8DB137658680}"/>
              </a:ext>
            </a:extLst>
          </p:cNvPr>
          <p:cNvSpPr>
            <a:spLocks noGrp="1"/>
          </p:cNvSpPr>
          <p:nvPr>
            <p:ph type="subTitle" idx="1" hasCustomPrompt="1"/>
          </p:nvPr>
        </p:nvSpPr>
        <p:spPr>
          <a:xfrm>
            <a:off x="903642" y="1685925"/>
            <a:ext cx="5192357" cy="2444435"/>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lang="en-GB" sz="2800" b="0" i="1" smtClean="0">
                <a:solidFill>
                  <a:srgbClr val="5BAC26"/>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goes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endParaRPr lang="en-GB"/>
          </a:p>
        </p:txBody>
      </p:sp>
      <p:sp>
        <p:nvSpPr>
          <p:cNvPr id="13" name="Content Placeholder 12">
            <a:extLst>
              <a:ext uri="{FF2B5EF4-FFF2-40B4-BE49-F238E27FC236}">
                <a16:creationId xmlns:a16="http://schemas.microsoft.com/office/drawing/2014/main" id="{8A9A82B7-2D35-5D45-A9BF-27A02FD260B8}"/>
              </a:ext>
            </a:extLst>
          </p:cNvPr>
          <p:cNvSpPr>
            <a:spLocks noGrp="1"/>
          </p:cNvSpPr>
          <p:nvPr>
            <p:ph sz="quarter" idx="13" hasCustomPrompt="1"/>
          </p:nvPr>
        </p:nvSpPr>
        <p:spPr>
          <a:xfrm>
            <a:off x="903642" y="4663017"/>
            <a:ext cx="5192356" cy="603250"/>
          </a:xfrm>
        </p:spPr>
        <p:txBody>
          <a:bodyPr>
            <a:normAutofit/>
          </a:bodyPr>
          <a:lstStyle>
            <a:lvl1pPr marL="0" indent="0">
              <a:buNone/>
              <a:defRPr sz="2800"/>
            </a:lvl1pPr>
          </a:lstStyle>
          <a:p>
            <a:r>
              <a:rPr lang="en-US" b="1" i="0">
                <a:solidFill>
                  <a:srgbClr val="424242"/>
                </a:solidFill>
              </a:rPr>
              <a:t>Name goes here</a:t>
            </a:r>
          </a:p>
        </p:txBody>
      </p:sp>
    </p:spTree>
    <p:extLst>
      <p:ext uri="{BB962C8B-B14F-4D97-AF65-F5344CB8AC3E}">
        <p14:creationId xmlns:p14="http://schemas.microsoft.com/office/powerpoint/2010/main" val="196565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Quote image left dark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0A0A96-40C3-5D41-AAA0-64249BFE4B1E}"/>
              </a:ext>
            </a:extLst>
          </p:cNvPr>
          <p:cNvSpPr>
            <a:spLocks noGrp="1"/>
          </p:cNvSpPr>
          <p:nvPr>
            <p:ph type="pic" sz="quarter" idx="12" hasCustomPrompt="1"/>
          </p:nvPr>
        </p:nvSpPr>
        <p:spPr>
          <a:xfrm flipH="1">
            <a:off x="0" y="-1615"/>
            <a:ext cx="4860092" cy="6859615"/>
          </a:xfrm>
          <a:custGeom>
            <a:avLst/>
            <a:gdLst>
              <a:gd name="connsiteX0" fmla="*/ 39942 w 5578475"/>
              <a:gd name="connsiteY0" fmla="*/ 3797300 h 6859615"/>
              <a:gd name="connsiteX1" fmla="*/ 79884 w 5578475"/>
              <a:gd name="connsiteY1" fmla="*/ 3870097 h 6859615"/>
              <a:gd name="connsiteX2" fmla="*/ 39942 w 5578475"/>
              <a:gd name="connsiteY2" fmla="*/ 3942894 h 6859615"/>
              <a:gd name="connsiteX3" fmla="*/ 0 w 5578475"/>
              <a:gd name="connsiteY3" fmla="*/ 3870097 h 6859615"/>
              <a:gd name="connsiteX4" fmla="*/ 39942 w 5578475"/>
              <a:gd name="connsiteY4" fmla="*/ 3797300 h 6859615"/>
              <a:gd name="connsiteX5" fmla="*/ 5572379 w 5578475"/>
              <a:gd name="connsiteY5" fmla="*/ 0 h 6859615"/>
              <a:gd name="connsiteX6" fmla="*/ 5578475 w 5578475"/>
              <a:gd name="connsiteY6" fmla="*/ 6857986 h 6859615"/>
              <a:gd name="connsiteX7" fmla="*/ 771923 w 5578475"/>
              <a:gd name="connsiteY7" fmla="*/ 6859615 h 6859615"/>
              <a:gd name="connsiteX8" fmla="*/ 777729 w 5578475"/>
              <a:gd name="connsiteY8" fmla="*/ 6185420 h 6859615"/>
              <a:gd name="connsiteX9" fmla="*/ 843996 w 5578475"/>
              <a:gd name="connsiteY9" fmla="*/ 5874333 h 6859615"/>
              <a:gd name="connsiteX10" fmla="*/ 798557 w 5578475"/>
              <a:gd name="connsiteY10" fmla="*/ 5140414 h 6859615"/>
              <a:gd name="connsiteX11" fmla="*/ 792163 w 5578475"/>
              <a:gd name="connsiteY11" fmla="*/ 4302231 h 6859615"/>
              <a:gd name="connsiteX12" fmla="*/ 786829 w 5578475"/>
              <a:gd name="connsiteY12" fmla="*/ 2775529 h 6859615"/>
              <a:gd name="connsiteX13" fmla="*/ 808463 w 5578475"/>
              <a:gd name="connsiteY13" fmla="*/ 1862862 h 6859615"/>
              <a:gd name="connsiteX14" fmla="*/ 807229 w 5578475"/>
              <a:gd name="connsiteY14" fmla="*/ 1228384 h 6859615"/>
              <a:gd name="connsiteX15" fmla="*/ 783825 w 5578475"/>
              <a:gd name="connsiteY15" fmla="*/ 666410 h 6859615"/>
              <a:gd name="connsiteX16" fmla="*/ 801641 w 5578475"/>
              <a:gd name="connsiteY16" fmla="*/ 724 h 6859615"/>
              <a:gd name="connsiteX0" fmla="*/ 80848 w 5619381"/>
              <a:gd name="connsiteY0" fmla="*/ 3797300 h 6859615"/>
              <a:gd name="connsiteX1" fmla="*/ 120790 w 5619381"/>
              <a:gd name="connsiteY1" fmla="*/ 3870097 h 6859615"/>
              <a:gd name="connsiteX2" fmla="*/ 697637 w 5619381"/>
              <a:gd name="connsiteY2" fmla="*/ 5758755 h 6859615"/>
              <a:gd name="connsiteX3" fmla="*/ 40906 w 5619381"/>
              <a:gd name="connsiteY3" fmla="*/ 3870097 h 6859615"/>
              <a:gd name="connsiteX4" fmla="*/ 80848 w 5619381"/>
              <a:gd name="connsiteY4" fmla="*/ 3797300 h 6859615"/>
              <a:gd name="connsiteX5" fmla="*/ 5613285 w 5619381"/>
              <a:gd name="connsiteY5" fmla="*/ 0 h 6859615"/>
              <a:gd name="connsiteX6" fmla="*/ 5619381 w 5619381"/>
              <a:gd name="connsiteY6" fmla="*/ 6857986 h 6859615"/>
              <a:gd name="connsiteX7" fmla="*/ 812829 w 5619381"/>
              <a:gd name="connsiteY7" fmla="*/ 6859615 h 6859615"/>
              <a:gd name="connsiteX8" fmla="*/ 818635 w 5619381"/>
              <a:gd name="connsiteY8" fmla="*/ 6185420 h 6859615"/>
              <a:gd name="connsiteX9" fmla="*/ 884902 w 5619381"/>
              <a:gd name="connsiteY9" fmla="*/ 5874333 h 6859615"/>
              <a:gd name="connsiteX10" fmla="*/ 839463 w 5619381"/>
              <a:gd name="connsiteY10" fmla="*/ 5140414 h 6859615"/>
              <a:gd name="connsiteX11" fmla="*/ 833069 w 5619381"/>
              <a:gd name="connsiteY11" fmla="*/ 4302231 h 6859615"/>
              <a:gd name="connsiteX12" fmla="*/ 827735 w 5619381"/>
              <a:gd name="connsiteY12" fmla="*/ 2775529 h 6859615"/>
              <a:gd name="connsiteX13" fmla="*/ 849369 w 5619381"/>
              <a:gd name="connsiteY13" fmla="*/ 1862862 h 6859615"/>
              <a:gd name="connsiteX14" fmla="*/ 848135 w 5619381"/>
              <a:gd name="connsiteY14" fmla="*/ 1228384 h 6859615"/>
              <a:gd name="connsiteX15" fmla="*/ 824731 w 5619381"/>
              <a:gd name="connsiteY15" fmla="*/ 666410 h 6859615"/>
              <a:gd name="connsiteX16" fmla="*/ 842547 w 5619381"/>
              <a:gd name="connsiteY16" fmla="*/ 724 h 6859615"/>
              <a:gd name="connsiteX17" fmla="*/ 5613285 w 5619381"/>
              <a:gd name="connsiteY17" fmla="*/ 0 h 6859615"/>
              <a:gd name="connsiteX0" fmla="*/ 104617 w 5643150"/>
              <a:gd name="connsiteY0" fmla="*/ 3797300 h 6859615"/>
              <a:gd name="connsiteX1" fmla="*/ 774287 w 5643150"/>
              <a:gd name="connsiteY1" fmla="*/ 5315022 h 6859615"/>
              <a:gd name="connsiteX2" fmla="*/ 721406 w 5643150"/>
              <a:gd name="connsiteY2" fmla="*/ 5758755 h 6859615"/>
              <a:gd name="connsiteX3" fmla="*/ 64675 w 5643150"/>
              <a:gd name="connsiteY3" fmla="*/ 3870097 h 6859615"/>
              <a:gd name="connsiteX4" fmla="*/ 104617 w 5643150"/>
              <a:gd name="connsiteY4" fmla="*/ 3797300 h 6859615"/>
              <a:gd name="connsiteX5" fmla="*/ 5637054 w 5643150"/>
              <a:gd name="connsiteY5" fmla="*/ 0 h 6859615"/>
              <a:gd name="connsiteX6" fmla="*/ 5643150 w 5643150"/>
              <a:gd name="connsiteY6" fmla="*/ 6857986 h 6859615"/>
              <a:gd name="connsiteX7" fmla="*/ 836598 w 5643150"/>
              <a:gd name="connsiteY7" fmla="*/ 6859615 h 6859615"/>
              <a:gd name="connsiteX8" fmla="*/ 842404 w 5643150"/>
              <a:gd name="connsiteY8" fmla="*/ 6185420 h 6859615"/>
              <a:gd name="connsiteX9" fmla="*/ 908671 w 5643150"/>
              <a:gd name="connsiteY9" fmla="*/ 5874333 h 6859615"/>
              <a:gd name="connsiteX10" fmla="*/ 863232 w 5643150"/>
              <a:gd name="connsiteY10" fmla="*/ 5140414 h 6859615"/>
              <a:gd name="connsiteX11" fmla="*/ 856838 w 5643150"/>
              <a:gd name="connsiteY11" fmla="*/ 4302231 h 6859615"/>
              <a:gd name="connsiteX12" fmla="*/ 851504 w 5643150"/>
              <a:gd name="connsiteY12" fmla="*/ 2775529 h 6859615"/>
              <a:gd name="connsiteX13" fmla="*/ 873138 w 5643150"/>
              <a:gd name="connsiteY13" fmla="*/ 1862862 h 6859615"/>
              <a:gd name="connsiteX14" fmla="*/ 871904 w 5643150"/>
              <a:gd name="connsiteY14" fmla="*/ 1228384 h 6859615"/>
              <a:gd name="connsiteX15" fmla="*/ 848500 w 5643150"/>
              <a:gd name="connsiteY15" fmla="*/ 666410 h 6859615"/>
              <a:gd name="connsiteX16" fmla="*/ 866316 w 5643150"/>
              <a:gd name="connsiteY16" fmla="*/ 724 h 6859615"/>
              <a:gd name="connsiteX17" fmla="*/ 5637054 w 5643150"/>
              <a:gd name="connsiteY17" fmla="*/ 0 h 6859615"/>
              <a:gd name="connsiteX0" fmla="*/ 669677 w 5578482"/>
              <a:gd name="connsiteY0" fmla="*/ 5086949 h 6859615"/>
              <a:gd name="connsiteX1" fmla="*/ 709619 w 5578482"/>
              <a:gd name="connsiteY1" fmla="*/ 5315022 h 6859615"/>
              <a:gd name="connsiteX2" fmla="*/ 656738 w 5578482"/>
              <a:gd name="connsiteY2" fmla="*/ 5758755 h 6859615"/>
              <a:gd name="connsiteX3" fmla="*/ 7 w 5578482"/>
              <a:gd name="connsiteY3" fmla="*/ 3870097 h 6859615"/>
              <a:gd name="connsiteX4" fmla="*/ 669677 w 5578482"/>
              <a:gd name="connsiteY4" fmla="*/ 5086949 h 6859615"/>
              <a:gd name="connsiteX5" fmla="*/ 5572386 w 5578482"/>
              <a:gd name="connsiteY5" fmla="*/ 0 h 6859615"/>
              <a:gd name="connsiteX6" fmla="*/ 5578482 w 5578482"/>
              <a:gd name="connsiteY6" fmla="*/ 6857986 h 6859615"/>
              <a:gd name="connsiteX7" fmla="*/ 771930 w 5578482"/>
              <a:gd name="connsiteY7" fmla="*/ 6859615 h 6859615"/>
              <a:gd name="connsiteX8" fmla="*/ 777736 w 5578482"/>
              <a:gd name="connsiteY8" fmla="*/ 6185420 h 6859615"/>
              <a:gd name="connsiteX9" fmla="*/ 844003 w 5578482"/>
              <a:gd name="connsiteY9" fmla="*/ 5874333 h 6859615"/>
              <a:gd name="connsiteX10" fmla="*/ 798564 w 5578482"/>
              <a:gd name="connsiteY10" fmla="*/ 5140414 h 6859615"/>
              <a:gd name="connsiteX11" fmla="*/ 792170 w 5578482"/>
              <a:gd name="connsiteY11" fmla="*/ 4302231 h 6859615"/>
              <a:gd name="connsiteX12" fmla="*/ 786836 w 5578482"/>
              <a:gd name="connsiteY12" fmla="*/ 2775529 h 6859615"/>
              <a:gd name="connsiteX13" fmla="*/ 808470 w 5578482"/>
              <a:gd name="connsiteY13" fmla="*/ 1862862 h 6859615"/>
              <a:gd name="connsiteX14" fmla="*/ 807236 w 5578482"/>
              <a:gd name="connsiteY14" fmla="*/ 1228384 h 6859615"/>
              <a:gd name="connsiteX15" fmla="*/ 783832 w 5578482"/>
              <a:gd name="connsiteY15" fmla="*/ 666410 h 6859615"/>
              <a:gd name="connsiteX16" fmla="*/ 801648 w 5578482"/>
              <a:gd name="connsiteY16" fmla="*/ 724 h 6859615"/>
              <a:gd name="connsiteX17" fmla="*/ 5572386 w 5578482"/>
              <a:gd name="connsiteY17" fmla="*/ 0 h 6859615"/>
              <a:gd name="connsiteX0" fmla="*/ 74523 w 4983328"/>
              <a:gd name="connsiteY0" fmla="*/ 5086949 h 6859615"/>
              <a:gd name="connsiteX1" fmla="*/ 114465 w 4983328"/>
              <a:gd name="connsiteY1" fmla="*/ 5315022 h 6859615"/>
              <a:gd name="connsiteX2" fmla="*/ 61584 w 4983328"/>
              <a:gd name="connsiteY2" fmla="*/ 5758755 h 6859615"/>
              <a:gd name="connsiteX3" fmla="*/ 76 w 4983328"/>
              <a:gd name="connsiteY3" fmla="*/ 5396972 h 6859615"/>
              <a:gd name="connsiteX4" fmla="*/ 74523 w 4983328"/>
              <a:gd name="connsiteY4" fmla="*/ 5086949 h 6859615"/>
              <a:gd name="connsiteX5" fmla="*/ 4977232 w 4983328"/>
              <a:gd name="connsiteY5" fmla="*/ 0 h 6859615"/>
              <a:gd name="connsiteX6" fmla="*/ 4983328 w 4983328"/>
              <a:gd name="connsiteY6" fmla="*/ 6857986 h 6859615"/>
              <a:gd name="connsiteX7" fmla="*/ 176776 w 4983328"/>
              <a:gd name="connsiteY7" fmla="*/ 6859615 h 6859615"/>
              <a:gd name="connsiteX8" fmla="*/ 182582 w 4983328"/>
              <a:gd name="connsiteY8" fmla="*/ 6185420 h 6859615"/>
              <a:gd name="connsiteX9" fmla="*/ 248849 w 4983328"/>
              <a:gd name="connsiteY9" fmla="*/ 5874333 h 6859615"/>
              <a:gd name="connsiteX10" fmla="*/ 203410 w 4983328"/>
              <a:gd name="connsiteY10" fmla="*/ 5140414 h 6859615"/>
              <a:gd name="connsiteX11" fmla="*/ 197016 w 4983328"/>
              <a:gd name="connsiteY11" fmla="*/ 4302231 h 6859615"/>
              <a:gd name="connsiteX12" fmla="*/ 191682 w 4983328"/>
              <a:gd name="connsiteY12" fmla="*/ 2775529 h 6859615"/>
              <a:gd name="connsiteX13" fmla="*/ 213316 w 4983328"/>
              <a:gd name="connsiteY13" fmla="*/ 1862862 h 6859615"/>
              <a:gd name="connsiteX14" fmla="*/ 212082 w 4983328"/>
              <a:gd name="connsiteY14" fmla="*/ 1228384 h 6859615"/>
              <a:gd name="connsiteX15" fmla="*/ 188678 w 4983328"/>
              <a:gd name="connsiteY15" fmla="*/ 666410 h 6859615"/>
              <a:gd name="connsiteX16" fmla="*/ 206494 w 4983328"/>
              <a:gd name="connsiteY16" fmla="*/ 724 h 6859615"/>
              <a:gd name="connsiteX17" fmla="*/ 4977232 w 4983328"/>
              <a:gd name="connsiteY17" fmla="*/ 0 h 6859615"/>
              <a:gd name="connsiteX0" fmla="*/ 74454 w 4983259"/>
              <a:gd name="connsiteY0" fmla="*/ 5086949 h 6859615"/>
              <a:gd name="connsiteX1" fmla="*/ 114396 w 4983259"/>
              <a:gd name="connsiteY1" fmla="*/ 5315022 h 6859615"/>
              <a:gd name="connsiteX2" fmla="*/ 78767 w 4983259"/>
              <a:gd name="connsiteY2" fmla="*/ 5456830 h 6859615"/>
              <a:gd name="connsiteX3" fmla="*/ 7 w 4983259"/>
              <a:gd name="connsiteY3" fmla="*/ 5396972 h 6859615"/>
              <a:gd name="connsiteX4" fmla="*/ 74454 w 4983259"/>
              <a:gd name="connsiteY4" fmla="*/ 5086949 h 6859615"/>
              <a:gd name="connsiteX5" fmla="*/ 4977163 w 4983259"/>
              <a:gd name="connsiteY5" fmla="*/ 0 h 6859615"/>
              <a:gd name="connsiteX6" fmla="*/ 4983259 w 4983259"/>
              <a:gd name="connsiteY6" fmla="*/ 6857986 h 6859615"/>
              <a:gd name="connsiteX7" fmla="*/ 176707 w 4983259"/>
              <a:gd name="connsiteY7" fmla="*/ 6859615 h 6859615"/>
              <a:gd name="connsiteX8" fmla="*/ 182513 w 4983259"/>
              <a:gd name="connsiteY8" fmla="*/ 6185420 h 6859615"/>
              <a:gd name="connsiteX9" fmla="*/ 248780 w 4983259"/>
              <a:gd name="connsiteY9" fmla="*/ 5874333 h 6859615"/>
              <a:gd name="connsiteX10" fmla="*/ 203341 w 4983259"/>
              <a:gd name="connsiteY10" fmla="*/ 5140414 h 6859615"/>
              <a:gd name="connsiteX11" fmla="*/ 196947 w 4983259"/>
              <a:gd name="connsiteY11" fmla="*/ 4302231 h 6859615"/>
              <a:gd name="connsiteX12" fmla="*/ 191613 w 4983259"/>
              <a:gd name="connsiteY12" fmla="*/ 2775529 h 6859615"/>
              <a:gd name="connsiteX13" fmla="*/ 213247 w 4983259"/>
              <a:gd name="connsiteY13" fmla="*/ 1862862 h 6859615"/>
              <a:gd name="connsiteX14" fmla="*/ 212013 w 4983259"/>
              <a:gd name="connsiteY14" fmla="*/ 1228384 h 6859615"/>
              <a:gd name="connsiteX15" fmla="*/ 188609 w 4983259"/>
              <a:gd name="connsiteY15" fmla="*/ 666410 h 6859615"/>
              <a:gd name="connsiteX16" fmla="*/ 206425 w 4983259"/>
              <a:gd name="connsiteY16" fmla="*/ 724 h 6859615"/>
              <a:gd name="connsiteX17" fmla="*/ 4977163 w 4983259"/>
              <a:gd name="connsiteY17" fmla="*/ 0 h 6859615"/>
              <a:gd name="connsiteX0" fmla="*/ 44956 w 4983953"/>
              <a:gd name="connsiteY0" fmla="*/ 5293983 h 6859615"/>
              <a:gd name="connsiteX1" fmla="*/ 115090 w 4983953"/>
              <a:gd name="connsiteY1" fmla="*/ 5315022 h 6859615"/>
              <a:gd name="connsiteX2" fmla="*/ 79461 w 4983953"/>
              <a:gd name="connsiteY2" fmla="*/ 5456830 h 6859615"/>
              <a:gd name="connsiteX3" fmla="*/ 701 w 4983953"/>
              <a:gd name="connsiteY3" fmla="*/ 5396972 h 6859615"/>
              <a:gd name="connsiteX4" fmla="*/ 44956 w 4983953"/>
              <a:gd name="connsiteY4" fmla="*/ 5293983 h 6859615"/>
              <a:gd name="connsiteX5" fmla="*/ 4977857 w 4983953"/>
              <a:gd name="connsiteY5" fmla="*/ 0 h 6859615"/>
              <a:gd name="connsiteX6" fmla="*/ 4983953 w 4983953"/>
              <a:gd name="connsiteY6" fmla="*/ 6857986 h 6859615"/>
              <a:gd name="connsiteX7" fmla="*/ 177401 w 4983953"/>
              <a:gd name="connsiteY7" fmla="*/ 6859615 h 6859615"/>
              <a:gd name="connsiteX8" fmla="*/ 183207 w 4983953"/>
              <a:gd name="connsiteY8" fmla="*/ 6185420 h 6859615"/>
              <a:gd name="connsiteX9" fmla="*/ 249474 w 4983953"/>
              <a:gd name="connsiteY9" fmla="*/ 5874333 h 6859615"/>
              <a:gd name="connsiteX10" fmla="*/ 204035 w 4983953"/>
              <a:gd name="connsiteY10" fmla="*/ 5140414 h 6859615"/>
              <a:gd name="connsiteX11" fmla="*/ 197641 w 4983953"/>
              <a:gd name="connsiteY11" fmla="*/ 4302231 h 6859615"/>
              <a:gd name="connsiteX12" fmla="*/ 192307 w 4983953"/>
              <a:gd name="connsiteY12" fmla="*/ 2775529 h 6859615"/>
              <a:gd name="connsiteX13" fmla="*/ 213941 w 4983953"/>
              <a:gd name="connsiteY13" fmla="*/ 1862862 h 6859615"/>
              <a:gd name="connsiteX14" fmla="*/ 212707 w 4983953"/>
              <a:gd name="connsiteY14" fmla="*/ 1228384 h 6859615"/>
              <a:gd name="connsiteX15" fmla="*/ 189303 w 4983953"/>
              <a:gd name="connsiteY15" fmla="*/ 666410 h 6859615"/>
              <a:gd name="connsiteX16" fmla="*/ 207119 w 4983953"/>
              <a:gd name="connsiteY16" fmla="*/ 724 h 6859615"/>
              <a:gd name="connsiteX17" fmla="*/ 4977857 w 4983953"/>
              <a:gd name="connsiteY17" fmla="*/ 0 h 6859615"/>
              <a:gd name="connsiteX0" fmla="*/ 4084 w 4943081"/>
              <a:gd name="connsiteY0" fmla="*/ 5293983 h 6859615"/>
              <a:gd name="connsiteX1" fmla="*/ 74218 w 4943081"/>
              <a:gd name="connsiteY1" fmla="*/ 5315022 h 6859615"/>
              <a:gd name="connsiteX2" fmla="*/ 38589 w 4943081"/>
              <a:gd name="connsiteY2" fmla="*/ 5456830 h 6859615"/>
              <a:gd name="connsiteX3" fmla="*/ 11587 w 4943081"/>
              <a:gd name="connsiteY3" fmla="*/ 5388346 h 6859615"/>
              <a:gd name="connsiteX4" fmla="*/ 4084 w 4943081"/>
              <a:gd name="connsiteY4" fmla="*/ 5293983 h 6859615"/>
              <a:gd name="connsiteX5" fmla="*/ 4936985 w 4943081"/>
              <a:gd name="connsiteY5" fmla="*/ 0 h 6859615"/>
              <a:gd name="connsiteX6" fmla="*/ 4943081 w 4943081"/>
              <a:gd name="connsiteY6" fmla="*/ 6857986 h 6859615"/>
              <a:gd name="connsiteX7" fmla="*/ 136529 w 4943081"/>
              <a:gd name="connsiteY7" fmla="*/ 6859615 h 6859615"/>
              <a:gd name="connsiteX8" fmla="*/ 142335 w 4943081"/>
              <a:gd name="connsiteY8" fmla="*/ 6185420 h 6859615"/>
              <a:gd name="connsiteX9" fmla="*/ 208602 w 4943081"/>
              <a:gd name="connsiteY9" fmla="*/ 5874333 h 6859615"/>
              <a:gd name="connsiteX10" fmla="*/ 163163 w 4943081"/>
              <a:gd name="connsiteY10" fmla="*/ 5140414 h 6859615"/>
              <a:gd name="connsiteX11" fmla="*/ 156769 w 4943081"/>
              <a:gd name="connsiteY11" fmla="*/ 4302231 h 6859615"/>
              <a:gd name="connsiteX12" fmla="*/ 151435 w 4943081"/>
              <a:gd name="connsiteY12" fmla="*/ 2775529 h 6859615"/>
              <a:gd name="connsiteX13" fmla="*/ 173069 w 4943081"/>
              <a:gd name="connsiteY13" fmla="*/ 1862862 h 6859615"/>
              <a:gd name="connsiteX14" fmla="*/ 171835 w 4943081"/>
              <a:gd name="connsiteY14" fmla="*/ 1228384 h 6859615"/>
              <a:gd name="connsiteX15" fmla="*/ 148431 w 4943081"/>
              <a:gd name="connsiteY15" fmla="*/ 666410 h 6859615"/>
              <a:gd name="connsiteX16" fmla="*/ 166247 w 4943081"/>
              <a:gd name="connsiteY16" fmla="*/ 724 h 6859615"/>
              <a:gd name="connsiteX17" fmla="*/ 4936985 w 4943081"/>
              <a:gd name="connsiteY17" fmla="*/ 0 h 6859615"/>
              <a:gd name="connsiteX0" fmla="*/ 4648 w 4943645"/>
              <a:gd name="connsiteY0" fmla="*/ 5293983 h 6859615"/>
              <a:gd name="connsiteX1" fmla="*/ 74782 w 4943645"/>
              <a:gd name="connsiteY1" fmla="*/ 5315022 h 6859615"/>
              <a:gd name="connsiteX2" fmla="*/ 57153 w 4943645"/>
              <a:gd name="connsiteY2" fmla="*/ 5413630 h 6859615"/>
              <a:gd name="connsiteX3" fmla="*/ 12151 w 4943645"/>
              <a:gd name="connsiteY3" fmla="*/ 5388346 h 6859615"/>
              <a:gd name="connsiteX4" fmla="*/ 4648 w 4943645"/>
              <a:gd name="connsiteY4" fmla="*/ 5293983 h 6859615"/>
              <a:gd name="connsiteX5" fmla="*/ 4937549 w 4943645"/>
              <a:gd name="connsiteY5" fmla="*/ 0 h 6859615"/>
              <a:gd name="connsiteX6" fmla="*/ 4943645 w 4943645"/>
              <a:gd name="connsiteY6" fmla="*/ 6857986 h 6859615"/>
              <a:gd name="connsiteX7" fmla="*/ 137093 w 4943645"/>
              <a:gd name="connsiteY7" fmla="*/ 6859615 h 6859615"/>
              <a:gd name="connsiteX8" fmla="*/ 142899 w 4943645"/>
              <a:gd name="connsiteY8" fmla="*/ 6185420 h 6859615"/>
              <a:gd name="connsiteX9" fmla="*/ 209166 w 4943645"/>
              <a:gd name="connsiteY9" fmla="*/ 5874333 h 6859615"/>
              <a:gd name="connsiteX10" fmla="*/ 163727 w 4943645"/>
              <a:gd name="connsiteY10" fmla="*/ 5140414 h 6859615"/>
              <a:gd name="connsiteX11" fmla="*/ 157333 w 4943645"/>
              <a:gd name="connsiteY11" fmla="*/ 4302231 h 6859615"/>
              <a:gd name="connsiteX12" fmla="*/ 151999 w 4943645"/>
              <a:gd name="connsiteY12" fmla="*/ 2775529 h 6859615"/>
              <a:gd name="connsiteX13" fmla="*/ 173633 w 4943645"/>
              <a:gd name="connsiteY13" fmla="*/ 1862862 h 6859615"/>
              <a:gd name="connsiteX14" fmla="*/ 172399 w 4943645"/>
              <a:gd name="connsiteY14" fmla="*/ 1228384 h 6859615"/>
              <a:gd name="connsiteX15" fmla="*/ 148995 w 4943645"/>
              <a:gd name="connsiteY15" fmla="*/ 666410 h 6859615"/>
              <a:gd name="connsiteX16" fmla="*/ 166811 w 4943645"/>
              <a:gd name="connsiteY16" fmla="*/ 724 h 6859615"/>
              <a:gd name="connsiteX17" fmla="*/ 4937549 w 4943645"/>
              <a:gd name="connsiteY17" fmla="*/ 0 h 6859615"/>
              <a:gd name="connsiteX0" fmla="*/ 15612 w 4933009"/>
              <a:gd name="connsiteY0" fmla="*/ 5319183 h 6859615"/>
              <a:gd name="connsiteX1" fmla="*/ 64146 w 4933009"/>
              <a:gd name="connsiteY1" fmla="*/ 5315022 h 6859615"/>
              <a:gd name="connsiteX2" fmla="*/ 46517 w 4933009"/>
              <a:gd name="connsiteY2" fmla="*/ 5413630 h 6859615"/>
              <a:gd name="connsiteX3" fmla="*/ 1515 w 4933009"/>
              <a:gd name="connsiteY3" fmla="*/ 5388346 h 6859615"/>
              <a:gd name="connsiteX4" fmla="*/ 15612 w 4933009"/>
              <a:gd name="connsiteY4" fmla="*/ 5319183 h 6859615"/>
              <a:gd name="connsiteX5" fmla="*/ 4926913 w 4933009"/>
              <a:gd name="connsiteY5" fmla="*/ 0 h 6859615"/>
              <a:gd name="connsiteX6" fmla="*/ 4933009 w 4933009"/>
              <a:gd name="connsiteY6" fmla="*/ 6857986 h 6859615"/>
              <a:gd name="connsiteX7" fmla="*/ 126457 w 4933009"/>
              <a:gd name="connsiteY7" fmla="*/ 6859615 h 6859615"/>
              <a:gd name="connsiteX8" fmla="*/ 132263 w 4933009"/>
              <a:gd name="connsiteY8" fmla="*/ 6185420 h 6859615"/>
              <a:gd name="connsiteX9" fmla="*/ 198530 w 4933009"/>
              <a:gd name="connsiteY9" fmla="*/ 5874333 h 6859615"/>
              <a:gd name="connsiteX10" fmla="*/ 153091 w 4933009"/>
              <a:gd name="connsiteY10" fmla="*/ 5140414 h 6859615"/>
              <a:gd name="connsiteX11" fmla="*/ 146697 w 4933009"/>
              <a:gd name="connsiteY11" fmla="*/ 4302231 h 6859615"/>
              <a:gd name="connsiteX12" fmla="*/ 141363 w 4933009"/>
              <a:gd name="connsiteY12" fmla="*/ 2775529 h 6859615"/>
              <a:gd name="connsiteX13" fmla="*/ 162997 w 4933009"/>
              <a:gd name="connsiteY13" fmla="*/ 1862862 h 6859615"/>
              <a:gd name="connsiteX14" fmla="*/ 161763 w 4933009"/>
              <a:gd name="connsiteY14" fmla="*/ 1228384 h 6859615"/>
              <a:gd name="connsiteX15" fmla="*/ 138359 w 4933009"/>
              <a:gd name="connsiteY15" fmla="*/ 666410 h 6859615"/>
              <a:gd name="connsiteX16" fmla="*/ 156175 w 4933009"/>
              <a:gd name="connsiteY16" fmla="*/ 724 h 6859615"/>
              <a:gd name="connsiteX17" fmla="*/ 4926913 w 4933009"/>
              <a:gd name="connsiteY17" fmla="*/ 0 h 6859615"/>
              <a:gd name="connsiteX0" fmla="*/ 20639 w 4938036"/>
              <a:gd name="connsiteY0" fmla="*/ 5319183 h 6859615"/>
              <a:gd name="connsiteX1" fmla="*/ 69173 w 4938036"/>
              <a:gd name="connsiteY1" fmla="*/ 5315022 h 6859615"/>
              <a:gd name="connsiteX2" fmla="*/ 123544 w 4938036"/>
              <a:gd name="connsiteY2" fmla="*/ 5615230 h 6859615"/>
              <a:gd name="connsiteX3" fmla="*/ 6542 w 4938036"/>
              <a:gd name="connsiteY3" fmla="*/ 5388346 h 6859615"/>
              <a:gd name="connsiteX4" fmla="*/ 20639 w 4938036"/>
              <a:gd name="connsiteY4" fmla="*/ 5319183 h 6859615"/>
              <a:gd name="connsiteX5" fmla="*/ 4931940 w 4938036"/>
              <a:gd name="connsiteY5" fmla="*/ 0 h 6859615"/>
              <a:gd name="connsiteX6" fmla="*/ 4938036 w 4938036"/>
              <a:gd name="connsiteY6" fmla="*/ 6857986 h 6859615"/>
              <a:gd name="connsiteX7" fmla="*/ 131484 w 4938036"/>
              <a:gd name="connsiteY7" fmla="*/ 6859615 h 6859615"/>
              <a:gd name="connsiteX8" fmla="*/ 137290 w 4938036"/>
              <a:gd name="connsiteY8" fmla="*/ 6185420 h 6859615"/>
              <a:gd name="connsiteX9" fmla="*/ 203557 w 4938036"/>
              <a:gd name="connsiteY9" fmla="*/ 5874333 h 6859615"/>
              <a:gd name="connsiteX10" fmla="*/ 158118 w 4938036"/>
              <a:gd name="connsiteY10" fmla="*/ 5140414 h 6859615"/>
              <a:gd name="connsiteX11" fmla="*/ 151724 w 4938036"/>
              <a:gd name="connsiteY11" fmla="*/ 4302231 h 6859615"/>
              <a:gd name="connsiteX12" fmla="*/ 146390 w 4938036"/>
              <a:gd name="connsiteY12" fmla="*/ 2775529 h 6859615"/>
              <a:gd name="connsiteX13" fmla="*/ 168024 w 4938036"/>
              <a:gd name="connsiteY13" fmla="*/ 1862862 h 6859615"/>
              <a:gd name="connsiteX14" fmla="*/ 166790 w 4938036"/>
              <a:gd name="connsiteY14" fmla="*/ 1228384 h 6859615"/>
              <a:gd name="connsiteX15" fmla="*/ 143386 w 4938036"/>
              <a:gd name="connsiteY15" fmla="*/ 666410 h 6859615"/>
              <a:gd name="connsiteX16" fmla="*/ 161202 w 4938036"/>
              <a:gd name="connsiteY16" fmla="*/ 724 h 6859615"/>
              <a:gd name="connsiteX17" fmla="*/ 4931940 w 4938036"/>
              <a:gd name="connsiteY17" fmla="*/ 0 h 6859615"/>
              <a:gd name="connsiteX0" fmla="*/ 21862 w 4939259"/>
              <a:gd name="connsiteY0" fmla="*/ 5319183 h 6859615"/>
              <a:gd name="connsiteX1" fmla="*/ 109996 w 4939259"/>
              <a:gd name="connsiteY1" fmla="*/ 5437422 h 6859615"/>
              <a:gd name="connsiteX2" fmla="*/ 124767 w 4939259"/>
              <a:gd name="connsiteY2" fmla="*/ 5615230 h 6859615"/>
              <a:gd name="connsiteX3" fmla="*/ 7765 w 4939259"/>
              <a:gd name="connsiteY3" fmla="*/ 5388346 h 6859615"/>
              <a:gd name="connsiteX4" fmla="*/ 21862 w 4939259"/>
              <a:gd name="connsiteY4" fmla="*/ 5319183 h 6859615"/>
              <a:gd name="connsiteX5" fmla="*/ 4933163 w 4939259"/>
              <a:gd name="connsiteY5" fmla="*/ 0 h 6859615"/>
              <a:gd name="connsiteX6" fmla="*/ 4939259 w 4939259"/>
              <a:gd name="connsiteY6" fmla="*/ 6857986 h 6859615"/>
              <a:gd name="connsiteX7" fmla="*/ 132707 w 4939259"/>
              <a:gd name="connsiteY7" fmla="*/ 6859615 h 6859615"/>
              <a:gd name="connsiteX8" fmla="*/ 138513 w 4939259"/>
              <a:gd name="connsiteY8" fmla="*/ 6185420 h 6859615"/>
              <a:gd name="connsiteX9" fmla="*/ 204780 w 4939259"/>
              <a:gd name="connsiteY9" fmla="*/ 5874333 h 6859615"/>
              <a:gd name="connsiteX10" fmla="*/ 159341 w 4939259"/>
              <a:gd name="connsiteY10" fmla="*/ 5140414 h 6859615"/>
              <a:gd name="connsiteX11" fmla="*/ 152947 w 4939259"/>
              <a:gd name="connsiteY11" fmla="*/ 4302231 h 6859615"/>
              <a:gd name="connsiteX12" fmla="*/ 147613 w 4939259"/>
              <a:gd name="connsiteY12" fmla="*/ 2775529 h 6859615"/>
              <a:gd name="connsiteX13" fmla="*/ 169247 w 4939259"/>
              <a:gd name="connsiteY13" fmla="*/ 1862862 h 6859615"/>
              <a:gd name="connsiteX14" fmla="*/ 168013 w 4939259"/>
              <a:gd name="connsiteY14" fmla="*/ 1228384 h 6859615"/>
              <a:gd name="connsiteX15" fmla="*/ 144609 w 4939259"/>
              <a:gd name="connsiteY15" fmla="*/ 666410 h 6859615"/>
              <a:gd name="connsiteX16" fmla="*/ 162425 w 4939259"/>
              <a:gd name="connsiteY16" fmla="*/ 724 h 6859615"/>
              <a:gd name="connsiteX17" fmla="*/ 4933163 w 4939259"/>
              <a:gd name="connsiteY17" fmla="*/ 0 h 6859615"/>
              <a:gd name="connsiteX0" fmla="*/ 93439 w 4931636"/>
              <a:gd name="connsiteY0" fmla="*/ 5394783 h 6859615"/>
              <a:gd name="connsiteX1" fmla="*/ 102373 w 4931636"/>
              <a:gd name="connsiteY1" fmla="*/ 5437422 h 6859615"/>
              <a:gd name="connsiteX2" fmla="*/ 117144 w 4931636"/>
              <a:gd name="connsiteY2" fmla="*/ 5615230 h 6859615"/>
              <a:gd name="connsiteX3" fmla="*/ 142 w 4931636"/>
              <a:gd name="connsiteY3" fmla="*/ 5388346 h 6859615"/>
              <a:gd name="connsiteX4" fmla="*/ 93439 w 4931636"/>
              <a:gd name="connsiteY4" fmla="*/ 5394783 h 6859615"/>
              <a:gd name="connsiteX5" fmla="*/ 4925540 w 4931636"/>
              <a:gd name="connsiteY5" fmla="*/ 0 h 6859615"/>
              <a:gd name="connsiteX6" fmla="*/ 4931636 w 4931636"/>
              <a:gd name="connsiteY6" fmla="*/ 6857986 h 6859615"/>
              <a:gd name="connsiteX7" fmla="*/ 125084 w 4931636"/>
              <a:gd name="connsiteY7" fmla="*/ 6859615 h 6859615"/>
              <a:gd name="connsiteX8" fmla="*/ 130890 w 4931636"/>
              <a:gd name="connsiteY8" fmla="*/ 6185420 h 6859615"/>
              <a:gd name="connsiteX9" fmla="*/ 197157 w 4931636"/>
              <a:gd name="connsiteY9" fmla="*/ 5874333 h 6859615"/>
              <a:gd name="connsiteX10" fmla="*/ 151718 w 4931636"/>
              <a:gd name="connsiteY10" fmla="*/ 5140414 h 6859615"/>
              <a:gd name="connsiteX11" fmla="*/ 145324 w 4931636"/>
              <a:gd name="connsiteY11" fmla="*/ 4302231 h 6859615"/>
              <a:gd name="connsiteX12" fmla="*/ 139990 w 4931636"/>
              <a:gd name="connsiteY12" fmla="*/ 2775529 h 6859615"/>
              <a:gd name="connsiteX13" fmla="*/ 161624 w 4931636"/>
              <a:gd name="connsiteY13" fmla="*/ 1862862 h 6859615"/>
              <a:gd name="connsiteX14" fmla="*/ 160390 w 4931636"/>
              <a:gd name="connsiteY14" fmla="*/ 1228384 h 6859615"/>
              <a:gd name="connsiteX15" fmla="*/ 136986 w 4931636"/>
              <a:gd name="connsiteY15" fmla="*/ 666410 h 6859615"/>
              <a:gd name="connsiteX16" fmla="*/ 154802 w 4931636"/>
              <a:gd name="connsiteY16" fmla="*/ 724 h 6859615"/>
              <a:gd name="connsiteX17" fmla="*/ 4925540 w 4931636"/>
              <a:gd name="connsiteY17" fmla="*/ 0 h 6859615"/>
              <a:gd name="connsiteX0" fmla="*/ 93444 w 4931641"/>
              <a:gd name="connsiteY0" fmla="*/ 5394783 h 6859615"/>
              <a:gd name="connsiteX1" fmla="*/ 123978 w 4931641"/>
              <a:gd name="connsiteY1" fmla="*/ 5559822 h 6859615"/>
              <a:gd name="connsiteX2" fmla="*/ 117149 w 4931641"/>
              <a:gd name="connsiteY2" fmla="*/ 5615230 h 6859615"/>
              <a:gd name="connsiteX3" fmla="*/ 147 w 4931641"/>
              <a:gd name="connsiteY3" fmla="*/ 5388346 h 6859615"/>
              <a:gd name="connsiteX4" fmla="*/ 93444 w 4931641"/>
              <a:gd name="connsiteY4" fmla="*/ 5394783 h 6859615"/>
              <a:gd name="connsiteX5" fmla="*/ 4925545 w 4931641"/>
              <a:gd name="connsiteY5" fmla="*/ 0 h 6859615"/>
              <a:gd name="connsiteX6" fmla="*/ 4931641 w 4931641"/>
              <a:gd name="connsiteY6" fmla="*/ 6857986 h 6859615"/>
              <a:gd name="connsiteX7" fmla="*/ 125089 w 4931641"/>
              <a:gd name="connsiteY7" fmla="*/ 6859615 h 6859615"/>
              <a:gd name="connsiteX8" fmla="*/ 130895 w 4931641"/>
              <a:gd name="connsiteY8" fmla="*/ 6185420 h 6859615"/>
              <a:gd name="connsiteX9" fmla="*/ 197162 w 4931641"/>
              <a:gd name="connsiteY9" fmla="*/ 5874333 h 6859615"/>
              <a:gd name="connsiteX10" fmla="*/ 151723 w 4931641"/>
              <a:gd name="connsiteY10" fmla="*/ 5140414 h 6859615"/>
              <a:gd name="connsiteX11" fmla="*/ 145329 w 4931641"/>
              <a:gd name="connsiteY11" fmla="*/ 4302231 h 6859615"/>
              <a:gd name="connsiteX12" fmla="*/ 139995 w 4931641"/>
              <a:gd name="connsiteY12" fmla="*/ 2775529 h 6859615"/>
              <a:gd name="connsiteX13" fmla="*/ 161629 w 4931641"/>
              <a:gd name="connsiteY13" fmla="*/ 1862862 h 6859615"/>
              <a:gd name="connsiteX14" fmla="*/ 160395 w 4931641"/>
              <a:gd name="connsiteY14" fmla="*/ 1228384 h 6859615"/>
              <a:gd name="connsiteX15" fmla="*/ 136991 w 4931641"/>
              <a:gd name="connsiteY15" fmla="*/ 666410 h 6859615"/>
              <a:gd name="connsiteX16" fmla="*/ 154807 w 4931641"/>
              <a:gd name="connsiteY16" fmla="*/ 724 h 6859615"/>
              <a:gd name="connsiteX17" fmla="*/ 4925545 w 4931641"/>
              <a:gd name="connsiteY17" fmla="*/ 0 h 6859615"/>
              <a:gd name="connsiteX0" fmla="*/ 21895 w 4860092"/>
              <a:gd name="connsiteY0" fmla="*/ 53947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3947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4860092"/>
              <a:gd name="connsiteY0" fmla="*/ 55243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5243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0092" h="6859615">
                <a:moveTo>
                  <a:pt x="21895" y="5524383"/>
                </a:moveTo>
                <a:cubicBezTo>
                  <a:pt x="30533" y="5516962"/>
                  <a:pt x="48478" y="5544681"/>
                  <a:pt x="52429" y="5559822"/>
                </a:cubicBezTo>
                <a:cubicBezTo>
                  <a:pt x="56380" y="5574963"/>
                  <a:pt x="54238" y="5607809"/>
                  <a:pt x="45600" y="5615230"/>
                </a:cubicBezTo>
                <a:cubicBezTo>
                  <a:pt x="36962" y="5622651"/>
                  <a:pt x="4549" y="5619487"/>
                  <a:pt x="598" y="5604346"/>
                </a:cubicBezTo>
                <a:cubicBezTo>
                  <a:pt x="-3353" y="5589205"/>
                  <a:pt x="13257" y="5531804"/>
                  <a:pt x="21895" y="5524383"/>
                </a:cubicBezTo>
                <a:close/>
                <a:moveTo>
                  <a:pt x="4853996" y="0"/>
                </a:moveTo>
                <a:lnTo>
                  <a:pt x="4860092" y="6857986"/>
                </a:lnTo>
                <a:lnTo>
                  <a:pt x="53540" y="6859615"/>
                </a:lnTo>
                <a:cubicBezTo>
                  <a:pt x="50713" y="6672582"/>
                  <a:pt x="38360" y="6239103"/>
                  <a:pt x="59346" y="6185420"/>
                </a:cubicBezTo>
                <a:cubicBezTo>
                  <a:pt x="186210" y="6016637"/>
                  <a:pt x="98761" y="6014541"/>
                  <a:pt x="125613" y="5874333"/>
                </a:cubicBezTo>
                <a:cubicBezTo>
                  <a:pt x="104117" y="5642393"/>
                  <a:pt x="30232" y="5410454"/>
                  <a:pt x="80174" y="5140414"/>
                </a:cubicBezTo>
                <a:cubicBezTo>
                  <a:pt x="108205" y="4681633"/>
                  <a:pt x="45749" y="4761013"/>
                  <a:pt x="73780" y="4302231"/>
                </a:cubicBezTo>
                <a:cubicBezTo>
                  <a:pt x="65652" y="3779043"/>
                  <a:pt x="124199" y="3798779"/>
                  <a:pt x="68446" y="2775529"/>
                </a:cubicBezTo>
                <a:cubicBezTo>
                  <a:pt x="80419" y="1837895"/>
                  <a:pt x="68581" y="2081359"/>
                  <a:pt x="90080" y="1862862"/>
                </a:cubicBezTo>
                <a:cubicBezTo>
                  <a:pt x="34106" y="1156069"/>
                  <a:pt x="116245" y="1658952"/>
                  <a:pt x="88846" y="1228384"/>
                </a:cubicBezTo>
                <a:lnTo>
                  <a:pt x="65442" y="666410"/>
                </a:lnTo>
                <a:cubicBezTo>
                  <a:pt x="74556" y="522302"/>
                  <a:pt x="64619" y="344857"/>
                  <a:pt x="83258" y="724"/>
                </a:cubicBezTo>
                <a:lnTo>
                  <a:pt x="4853996" y="0"/>
                </a:lnTo>
                <a:close/>
              </a:path>
            </a:pathLst>
          </a:custGeom>
          <a:solidFill>
            <a:srgbClr val="5BAC26"/>
          </a:solidFill>
          <a:ln>
            <a:noFill/>
          </a:ln>
        </p:spPr>
        <p:txBody>
          <a:bodyPr wrap="square">
            <a:noAutofit/>
          </a:bodyPr>
          <a:lstStyle>
            <a:lvl1pPr marL="0" indent="0">
              <a:buNone/>
              <a:defRPr sz="1600">
                <a:solidFill>
                  <a:srgbClr val="008751"/>
                </a:solidFill>
              </a:defRPr>
            </a:lvl1pPr>
          </a:lstStyle>
          <a:p>
            <a:r>
              <a:rPr lang="en-GB"/>
              <a:t>This is an image placeholder. Click the little icon behind the square image to add a picture</a:t>
            </a:r>
          </a:p>
        </p:txBody>
      </p:sp>
      <p:pic>
        <p:nvPicPr>
          <p:cNvPr id="8" name="Graphic 7">
            <a:extLst>
              <a:ext uri="{FF2B5EF4-FFF2-40B4-BE49-F238E27FC236}">
                <a16:creationId xmlns:a16="http://schemas.microsoft.com/office/drawing/2014/main" id="{F2FCB43F-A4EC-7247-A685-C1582EB047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691408" y="225425"/>
            <a:ext cx="1854200" cy="1460500"/>
          </a:xfrm>
          <a:prstGeom prst="rect">
            <a:avLst/>
          </a:prstGeom>
        </p:spPr>
      </p:pic>
      <p:sp>
        <p:nvSpPr>
          <p:cNvPr id="3" name="Subtitle 2">
            <a:extLst>
              <a:ext uri="{FF2B5EF4-FFF2-40B4-BE49-F238E27FC236}">
                <a16:creationId xmlns:a16="http://schemas.microsoft.com/office/drawing/2014/main" id="{F281CB52-78B7-0C41-8AA4-983207946085}"/>
              </a:ext>
            </a:extLst>
          </p:cNvPr>
          <p:cNvSpPr>
            <a:spLocks noGrp="1"/>
          </p:cNvSpPr>
          <p:nvPr>
            <p:ph type="subTitle" idx="1" hasCustomPrompt="1"/>
          </p:nvPr>
        </p:nvSpPr>
        <p:spPr>
          <a:xfrm>
            <a:off x="6096001" y="1685925"/>
            <a:ext cx="5188772" cy="2444435"/>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lang="en-GB" sz="2800" b="0" i="1" smtClean="0">
                <a:solidFill>
                  <a:srgbClr val="5BAC26"/>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goes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endParaRPr lang="en-GB"/>
          </a:p>
        </p:txBody>
      </p:sp>
      <p:sp>
        <p:nvSpPr>
          <p:cNvPr id="6" name="Picture Placeholder 18">
            <a:extLst>
              <a:ext uri="{FF2B5EF4-FFF2-40B4-BE49-F238E27FC236}">
                <a16:creationId xmlns:a16="http://schemas.microsoft.com/office/drawing/2014/main" id="{EFFFBC21-2E5E-8A47-8A7B-591B2BE8C26C}"/>
              </a:ext>
            </a:extLst>
          </p:cNvPr>
          <p:cNvSpPr>
            <a:spLocks noGrp="1"/>
          </p:cNvSpPr>
          <p:nvPr>
            <p:ph type="pic" sz="quarter" idx="10"/>
          </p:nvPr>
        </p:nvSpPr>
        <p:spPr>
          <a:xfrm>
            <a:off x="947687" y="1066006"/>
            <a:ext cx="4680000" cy="4680000"/>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pic>
        <p:nvPicPr>
          <p:cNvPr id="9" name="Graphic 8">
            <a:extLst>
              <a:ext uri="{FF2B5EF4-FFF2-40B4-BE49-F238E27FC236}">
                <a16:creationId xmlns:a16="http://schemas.microsoft.com/office/drawing/2014/main" id="{6ABD6646-A53B-6E49-8635-45E763E67E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45713" y="5114296"/>
            <a:ext cx="1854200" cy="1460500"/>
          </a:xfrm>
          <a:prstGeom prst="rect">
            <a:avLst/>
          </a:prstGeom>
        </p:spPr>
      </p:pic>
      <p:sp>
        <p:nvSpPr>
          <p:cNvPr id="11" name="Content Placeholder 12">
            <a:extLst>
              <a:ext uri="{FF2B5EF4-FFF2-40B4-BE49-F238E27FC236}">
                <a16:creationId xmlns:a16="http://schemas.microsoft.com/office/drawing/2014/main" id="{BFA61B89-C7FE-D74D-ABE2-C53E102AF26E}"/>
              </a:ext>
            </a:extLst>
          </p:cNvPr>
          <p:cNvSpPr>
            <a:spLocks noGrp="1"/>
          </p:cNvSpPr>
          <p:nvPr>
            <p:ph sz="quarter" idx="13" hasCustomPrompt="1"/>
          </p:nvPr>
        </p:nvSpPr>
        <p:spPr>
          <a:xfrm>
            <a:off x="6096001" y="4663017"/>
            <a:ext cx="5761037" cy="603250"/>
          </a:xfrm>
        </p:spPr>
        <p:txBody>
          <a:bodyPr>
            <a:normAutofit/>
          </a:bodyPr>
          <a:lstStyle>
            <a:lvl1pPr marL="0" indent="0">
              <a:buNone/>
              <a:defRPr sz="2800"/>
            </a:lvl1pPr>
          </a:lstStyle>
          <a:p>
            <a:r>
              <a:rPr lang="en-US" b="1" i="0">
                <a:solidFill>
                  <a:srgbClr val="424242"/>
                </a:solidFill>
              </a:rPr>
              <a:t>Name goes here</a:t>
            </a:r>
          </a:p>
        </p:txBody>
      </p:sp>
    </p:spTree>
    <p:extLst>
      <p:ext uri="{BB962C8B-B14F-4D97-AF65-F5344CB8AC3E}">
        <p14:creationId xmlns:p14="http://schemas.microsoft.com/office/powerpoint/2010/main" val="320842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alf and Half">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0A0A96-40C3-5D41-AAA0-64249BFE4B1E}"/>
              </a:ext>
            </a:extLst>
          </p:cNvPr>
          <p:cNvSpPr>
            <a:spLocks noGrp="1"/>
          </p:cNvSpPr>
          <p:nvPr>
            <p:ph type="pic" sz="quarter" idx="12" hasCustomPrompt="1"/>
          </p:nvPr>
        </p:nvSpPr>
        <p:spPr>
          <a:xfrm flipH="1">
            <a:off x="-2957" y="-1615"/>
            <a:ext cx="6166748" cy="6876093"/>
          </a:xfrm>
          <a:custGeom>
            <a:avLst/>
            <a:gdLst>
              <a:gd name="connsiteX0" fmla="*/ 39942 w 5578475"/>
              <a:gd name="connsiteY0" fmla="*/ 3797300 h 6859615"/>
              <a:gd name="connsiteX1" fmla="*/ 79884 w 5578475"/>
              <a:gd name="connsiteY1" fmla="*/ 3870097 h 6859615"/>
              <a:gd name="connsiteX2" fmla="*/ 39942 w 5578475"/>
              <a:gd name="connsiteY2" fmla="*/ 3942894 h 6859615"/>
              <a:gd name="connsiteX3" fmla="*/ 0 w 5578475"/>
              <a:gd name="connsiteY3" fmla="*/ 3870097 h 6859615"/>
              <a:gd name="connsiteX4" fmla="*/ 39942 w 5578475"/>
              <a:gd name="connsiteY4" fmla="*/ 3797300 h 6859615"/>
              <a:gd name="connsiteX5" fmla="*/ 5572379 w 5578475"/>
              <a:gd name="connsiteY5" fmla="*/ 0 h 6859615"/>
              <a:gd name="connsiteX6" fmla="*/ 5578475 w 5578475"/>
              <a:gd name="connsiteY6" fmla="*/ 6857986 h 6859615"/>
              <a:gd name="connsiteX7" fmla="*/ 771923 w 5578475"/>
              <a:gd name="connsiteY7" fmla="*/ 6859615 h 6859615"/>
              <a:gd name="connsiteX8" fmla="*/ 777729 w 5578475"/>
              <a:gd name="connsiteY8" fmla="*/ 6185420 h 6859615"/>
              <a:gd name="connsiteX9" fmla="*/ 843996 w 5578475"/>
              <a:gd name="connsiteY9" fmla="*/ 5874333 h 6859615"/>
              <a:gd name="connsiteX10" fmla="*/ 798557 w 5578475"/>
              <a:gd name="connsiteY10" fmla="*/ 5140414 h 6859615"/>
              <a:gd name="connsiteX11" fmla="*/ 792163 w 5578475"/>
              <a:gd name="connsiteY11" fmla="*/ 4302231 h 6859615"/>
              <a:gd name="connsiteX12" fmla="*/ 786829 w 5578475"/>
              <a:gd name="connsiteY12" fmla="*/ 2775529 h 6859615"/>
              <a:gd name="connsiteX13" fmla="*/ 808463 w 5578475"/>
              <a:gd name="connsiteY13" fmla="*/ 1862862 h 6859615"/>
              <a:gd name="connsiteX14" fmla="*/ 807229 w 5578475"/>
              <a:gd name="connsiteY14" fmla="*/ 1228384 h 6859615"/>
              <a:gd name="connsiteX15" fmla="*/ 783825 w 5578475"/>
              <a:gd name="connsiteY15" fmla="*/ 666410 h 6859615"/>
              <a:gd name="connsiteX16" fmla="*/ 801641 w 5578475"/>
              <a:gd name="connsiteY16" fmla="*/ 724 h 6859615"/>
              <a:gd name="connsiteX0" fmla="*/ 80848 w 5619381"/>
              <a:gd name="connsiteY0" fmla="*/ 3797300 h 6859615"/>
              <a:gd name="connsiteX1" fmla="*/ 120790 w 5619381"/>
              <a:gd name="connsiteY1" fmla="*/ 3870097 h 6859615"/>
              <a:gd name="connsiteX2" fmla="*/ 697637 w 5619381"/>
              <a:gd name="connsiteY2" fmla="*/ 5758755 h 6859615"/>
              <a:gd name="connsiteX3" fmla="*/ 40906 w 5619381"/>
              <a:gd name="connsiteY3" fmla="*/ 3870097 h 6859615"/>
              <a:gd name="connsiteX4" fmla="*/ 80848 w 5619381"/>
              <a:gd name="connsiteY4" fmla="*/ 3797300 h 6859615"/>
              <a:gd name="connsiteX5" fmla="*/ 5613285 w 5619381"/>
              <a:gd name="connsiteY5" fmla="*/ 0 h 6859615"/>
              <a:gd name="connsiteX6" fmla="*/ 5619381 w 5619381"/>
              <a:gd name="connsiteY6" fmla="*/ 6857986 h 6859615"/>
              <a:gd name="connsiteX7" fmla="*/ 812829 w 5619381"/>
              <a:gd name="connsiteY7" fmla="*/ 6859615 h 6859615"/>
              <a:gd name="connsiteX8" fmla="*/ 818635 w 5619381"/>
              <a:gd name="connsiteY8" fmla="*/ 6185420 h 6859615"/>
              <a:gd name="connsiteX9" fmla="*/ 884902 w 5619381"/>
              <a:gd name="connsiteY9" fmla="*/ 5874333 h 6859615"/>
              <a:gd name="connsiteX10" fmla="*/ 839463 w 5619381"/>
              <a:gd name="connsiteY10" fmla="*/ 5140414 h 6859615"/>
              <a:gd name="connsiteX11" fmla="*/ 833069 w 5619381"/>
              <a:gd name="connsiteY11" fmla="*/ 4302231 h 6859615"/>
              <a:gd name="connsiteX12" fmla="*/ 827735 w 5619381"/>
              <a:gd name="connsiteY12" fmla="*/ 2775529 h 6859615"/>
              <a:gd name="connsiteX13" fmla="*/ 849369 w 5619381"/>
              <a:gd name="connsiteY13" fmla="*/ 1862862 h 6859615"/>
              <a:gd name="connsiteX14" fmla="*/ 848135 w 5619381"/>
              <a:gd name="connsiteY14" fmla="*/ 1228384 h 6859615"/>
              <a:gd name="connsiteX15" fmla="*/ 824731 w 5619381"/>
              <a:gd name="connsiteY15" fmla="*/ 666410 h 6859615"/>
              <a:gd name="connsiteX16" fmla="*/ 842547 w 5619381"/>
              <a:gd name="connsiteY16" fmla="*/ 724 h 6859615"/>
              <a:gd name="connsiteX17" fmla="*/ 5613285 w 5619381"/>
              <a:gd name="connsiteY17" fmla="*/ 0 h 6859615"/>
              <a:gd name="connsiteX0" fmla="*/ 104617 w 5643150"/>
              <a:gd name="connsiteY0" fmla="*/ 3797300 h 6859615"/>
              <a:gd name="connsiteX1" fmla="*/ 774287 w 5643150"/>
              <a:gd name="connsiteY1" fmla="*/ 5315022 h 6859615"/>
              <a:gd name="connsiteX2" fmla="*/ 721406 w 5643150"/>
              <a:gd name="connsiteY2" fmla="*/ 5758755 h 6859615"/>
              <a:gd name="connsiteX3" fmla="*/ 64675 w 5643150"/>
              <a:gd name="connsiteY3" fmla="*/ 3870097 h 6859615"/>
              <a:gd name="connsiteX4" fmla="*/ 104617 w 5643150"/>
              <a:gd name="connsiteY4" fmla="*/ 3797300 h 6859615"/>
              <a:gd name="connsiteX5" fmla="*/ 5637054 w 5643150"/>
              <a:gd name="connsiteY5" fmla="*/ 0 h 6859615"/>
              <a:gd name="connsiteX6" fmla="*/ 5643150 w 5643150"/>
              <a:gd name="connsiteY6" fmla="*/ 6857986 h 6859615"/>
              <a:gd name="connsiteX7" fmla="*/ 836598 w 5643150"/>
              <a:gd name="connsiteY7" fmla="*/ 6859615 h 6859615"/>
              <a:gd name="connsiteX8" fmla="*/ 842404 w 5643150"/>
              <a:gd name="connsiteY8" fmla="*/ 6185420 h 6859615"/>
              <a:gd name="connsiteX9" fmla="*/ 908671 w 5643150"/>
              <a:gd name="connsiteY9" fmla="*/ 5874333 h 6859615"/>
              <a:gd name="connsiteX10" fmla="*/ 863232 w 5643150"/>
              <a:gd name="connsiteY10" fmla="*/ 5140414 h 6859615"/>
              <a:gd name="connsiteX11" fmla="*/ 856838 w 5643150"/>
              <a:gd name="connsiteY11" fmla="*/ 4302231 h 6859615"/>
              <a:gd name="connsiteX12" fmla="*/ 851504 w 5643150"/>
              <a:gd name="connsiteY12" fmla="*/ 2775529 h 6859615"/>
              <a:gd name="connsiteX13" fmla="*/ 873138 w 5643150"/>
              <a:gd name="connsiteY13" fmla="*/ 1862862 h 6859615"/>
              <a:gd name="connsiteX14" fmla="*/ 871904 w 5643150"/>
              <a:gd name="connsiteY14" fmla="*/ 1228384 h 6859615"/>
              <a:gd name="connsiteX15" fmla="*/ 848500 w 5643150"/>
              <a:gd name="connsiteY15" fmla="*/ 666410 h 6859615"/>
              <a:gd name="connsiteX16" fmla="*/ 866316 w 5643150"/>
              <a:gd name="connsiteY16" fmla="*/ 724 h 6859615"/>
              <a:gd name="connsiteX17" fmla="*/ 5637054 w 5643150"/>
              <a:gd name="connsiteY17" fmla="*/ 0 h 6859615"/>
              <a:gd name="connsiteX0" fmla="*/ 669677 w 5578482"/>
              <a:gd name="connsiteY0" fmla="*/ 5086949 h 6859615"/>
              <a:gd name="connsiteX1" fmla="*/ 709619 w 5578482"/>
              <a:gd name="connsiteY1" fmla="*/ 5315022 h 6859615"/>
              <a:gd name="connsiteX2" fmla="*/ 656738 w 5578482"/>
              <a:gd name="connsiteY2" fmla="*/ 5758755 h 6859615"/>
              <a:gd name="connsiteX3" fmla="*/ 7 w 5578482"/>
              <a:gd name="connsiteY3" fmla="*/ 3870097 h 6859615"/>
              <a:gd name="connsiteX4" fmla="*/ 669677 w 5578482"/>
              <a:gd name="connsiteY4" fmla="*/ 5086949 h 6859615"/>
              <a:gd name="connsiteX5" fmla="*/ 5572386 w 5578482"/>
              <a:gd name="connsiteY5" fmla="*/ 0 h 6859615"/>
              <a:gd name="connsiteX6" fmla="*/ 5578482 w 5578482"/>
              <a:gd name="connsiteY6" fmla="*/ 6857986 h 6859615"/>
              <a:gd name="connsiteX7" fmla="*/ 771930 w 5578482"/>
              <a:gd name="connsiteY7" fmla="*/ 6859615 h 6859615"/>
              <a:gd name="connsiteX8" fmla="*/ 777736 w 5578482"/>
              <a:gd name="connsiteY8" fmla="*/ 6185420 h 6859615"/>
              <a:gd name="connsiteX9" fmla="*/ 844003 w 5578482"/>
              <a:gd name="connsiteY9" fmla="*/ 5874333 h 6859615"/>
              <a:gd name="connsiteX10" fmla="*/ 798564 w 5578482"/>
              <a:gd name="connsiteY10" fmla="*/ 5140414 h 6859615"/>
              <a:gd name="connsiteX11" fmla="*/ 792170 w 5578482"/>
              <a:gd name="connsiteY11" fmla="*/ 4302231 h 6859615"/>
              <a:gd name="connsiteX12" fmla="*/ 786836 w 5578482"/>
              <a:gd name="connsiteY12" fmla="*/ 2775529 h 6859615"/>
              <a:gd name="connsiteX13" fmla="*/ 808470 w 5578482"/>
              <a:gd name="connsiteY13" fmla="*/ 1862862 h 6859615"/>
              <a:gd name="connsiteX14" fmla="*/ 807236 w 5578482"/>
              <a:gd name="connsiteY14" fmla="*/ 1228384 h 6859615"/>
              <a:gd name="connsiteX15" fmla="*/ 783832 w 5578482"/>
              <a:gd name="connsiteY15" fmla="*/ 666410 h 6859615"/>
              <a:gd name="connsiteX16" fmla="*/ 801648 w 5578482"/>
              <a:gd name="connsiteY16" fmla="*/ 724 h 6859615"/>
              <a:gd name="connsiteX17" fmla="*/ 5572386 w 5578482"/>
              <a:gd name="connsiteY17" fmla="*/ 0 h 6859615"/>
              <a:gd name="connsiteX0" fmla="*/ 74523 w 4983328"/>
              <a:gd name="connsiteY0" fmla="*/ 5086949 h 6859615"/>
              <a:gd name="connsiteX1" fmla="*/ 114465 w 4983328"/>
              <a:gd name="connsiteY1" fmla="*/ 5315022 h 6859615"/>
              <a:gd name="connsiteX2" fmla="*/ 61584 w 4983328"/>
              <a:gd name="connsiteY2" fmla="*/ 5758755 h 6859615"/>
              <a:gd name="connsiteX3" fmla="*/ 76 w 4983328"/>
              <a:gd name="connsiteY3" fmla="*/ 5396972 h 6859615"/>
              <a:gd name="connsiteX4" fmla="*/ 74523 w 4983328"/>
              <a:gd name="connsiteY4" fmla="*/ 5086949 h 6859615"/>
              <a:gd name="connsiteX5" fmla="*/ 4977232 w 4983328"/>
              <a:gd name="connsiteY5" fmla="*/ 0 h 6859615"/>
              <a:gd name="connsiteX6" fmla="*/ 4983328 w 4983328"/>
              <a:gd name="connsiteY6" fmla="*/ 6857986 h 6859615"/>
              <a:gd name="connsiteX7" fmla="*/ 176776 w 4983328"/>
              <a:gd name="connsiteY7" fmla="*/ 6859615 h 6859615"/>
              <a:gd name="connsiteX8" fmla="*/ 182582 w 4983328"/>
              <a:gd name="connsiteY8" fmla="*/ 6185420 h 6859615"/>
              <a:gd name="connsiteX9" fmla="*/ 248849 w 4983328"/>
              <a:gd name="connsiteY9" fmla="*/ 5874333 h 6859615"/>
              <a:gd name="connsiteX10" fmla="*/ 203410 w 4983328"/>
              <a:gd name="connsiteY10" fmla="*/ 5140414 h 6859615"/>
              <a:gd name="connsiteX11" fmla="*/ 197016 w 4983328"/>
              <a:gd name="connsiteY11" fmla="*/ 4302231 h 6859615"/>
              <a:gd name="connsiteX12" fmla="*/ 191682 w 4983328"/>
              <a:gd name="connsiteY12" fmla="*/ 2775529 h 6859615"/>
              <a:gd name="connsiteX13" fmla="*/ 213316 w 4983328"/>
              <a:gd name="connsiteY13" fmla="*/ 1862862 h 6859615"/>
              <a:gd name="connsiteX14" fmla="*/ 212082 w 4983328"/>
              <a:gd name="connsiteY14" fmla="*/ 1228384 h 6859615"/>
              <a:gd name="connsiteX15" fmla="*/ 188678 w 4983328"/>
              <a:gd name="connsiteY15" fmla="*/ 666410 h 6859615"/>
              <a:gd name="connsiteX16" fmla="*/ 206494 w 4983328"/>
              <a:gd name="connsiteY16" fmla="*/ 724 h 6859615"/>
              <a:gd name="connsiteX17" fmla="*/ 4977232 w 4983328"/>
              <a:gd name="connsiteY17" fmla="*/ 0 h 6859615"/>
              <a:gd name="connsiteX0" fmla="*/ 74454 w 4983259"/>
              <a:gd name="connsiteY0" fmla="*/ 5086949 h 6859615"/>
              <a:gd name="connsiteX1" fmla="*/ 114396 w 4983259"/>
              <a:gd name="connsiteY1" fmla="*/ 5315022 h 6859615"/>
              <a:gd name="connsiteX2" fmla="*/ 78767 w 4983259"/>
              <a:gd name="connsiteY2" fmla="*/ 5456830 h 6859615"/>
              <a:gd name="connsiteX3" fmla="*/ 7 w 4983259"/>
              <a:gd name="connsiteY3" fmla="*/ 5396972 h 6859615"/>
              <a:gd name="connsiteX4" fmla="*/ 74454 w 4983259"/>
              <a:gd name="connsiteY4" fmla="*/ 5086949 h 6859615"/>
              <a:gd name="connsiteX5" fmla="*/ 4977163 w 4983259"/>
              <a:gd name="connsiteY5" fmla="*/ 0 h 6859615"/>
              <a:gd name="connsiteX6" fmla="*/ 4983259 w 4983259"/>
              <a:gd name="connsiteY6" fmla="*/ 6857986 h 6859615"/>
              <a:gd name="connsiteX7" fmla="*/ 176707 w 4983259"/>
              <a:gd name="connsiteY7" fmla="*/ 6859615 h 6859615"/>
              <a:gd name="connsiteX8" fmla="*/ 182513 w 4983259"/>
              <a:gd name="connsiteY8" fmla="*/ 6185420 h 6859615"/>
              <a:gd name="connsiteX9" fmla="*/ 248780 w 4983259"/>
              <a:gd name="connsiteY9" fmla="*/ 5874333 h 6859615"/>
              <a:gd name="connsiteX10" fmla="*/ 203341 w 4983259"/>
              <a:gd name="connsiteY10" fmla="*/ 5140414 h 6859615"/>
              <a:gd name="connsiteX11" fmla="*/ 196947 w 4983259"/>
              <a:gd name="connsiteY11" fmla="*/ 4302231 h 6859615"/>
              <a:gd name="connsiteX12" fmla="*/ 191613 w 4983259"/>
              <a:gd name="connsiteY12" fmla="*/ 2775529 h 6859615"/>
              <a:gd name="connsiteX13" fmla="*/ 213247 w 4983259"/>
              <a:gd name="connsiteY13" fmla="*/ 1862862 h 6859615"/>
              <a:gd name="connsiteX14" fmla="*/ 212013 w 4983259"/>
              <a:gd name="connsiteY14" fmla="*/ 1228384 h 6859615"/>
              <a:gd name="connsiteX15" fmla="*/ 188609 w 4983259"/>
              <a:gd name="connsiteY15" fmla="*/ 666410 h 6859615"/>
              <a:gd name="connsiteX16" fmla="*/ 206425 w 4983259"/>
              <a:gd name="connsiteY16" fmla="*/ 724 h 6859615"/>
              <a:gd name="connsiteX17" fmla="*/ 4977163 w 4983259"/>
              <a:gd name="connsiteY17" fmla="*/ 0 h 6859615"/>
              <a:gd name="connsiteX0" fmla="*/ 44956 w 4983953"/>
              <a:gd name="connsiteY0" fmla="*/ 5293983 h 6859615"/>
              <a:gd name="connsiteX1" fmla="*/ 115090 w 4983953"/>
              <a:gd name="connsiteY1" fmla="*/ 5315022 h 6859615"/>
              <a:gd name="connsiteX2" fmla="*/ 79461 w 4983953"/>
              <a:gd name="connsiteY2" fmla="*/ 5456830 h 6859615"/>
              <a:gd name="connsiteX3" fmla="*/ 701 w 4983953"/>
              <a:gd name="connsiteY3" fmla="*/ 5396972 h 6859615"/>
              <a:gd name="connsiteX4" fmla="*/ 44956 w 4983953"/>
              <a:gd name="connsiteY4" fmla="*/ 5293983 h 6859615"/>
              <a:gd name="connsiteX5" fmla="*/ 4977857 w 4983953"/>
              <a:gd name="connsiteY5" fmla="*/ 0 h 6859615"/>
              <a:gd name="connsiteX6" fmla="*/ 4983953 w 4983953"/>
              <a:gd name="connsiteY6" fmla="*/ 6857986 h 6859615"/>
              <a:gd name="connsiteX7" fmla="*/ 177401 w 4983953"/>
              <a:gd name="connsiteY7" fmla="*/ 6859615 h 6859615"/>
              <a:gd name="connsiteX8" fmla="*/ 183207 w 4983953"/>
              <a:gd name="connsiteY8" fmla="*/ 6185420 h 6859615"/>
              <a:gd name="connsiteX9" fmla="*/ 249474 w 4983953"/>
              <a:gd name="connsiteY9" fmla="*/ 5874333 h 6859615"/>
              <a:gd name="connsiteX10" fmla="*/ 204035 w 4983953"/>
              <a:gd name="connsiteY10" fmla="*/ 5140414 h 6859615"/>
              <a:gd name="connsiteX11" fmla="*/ 197641 w 4983953"/>
              <a:gd name="connsiteY11" fmla="*/ 4302231 h 6859615"/>
              <a:gd name="connsiteX12" fmla="*/ 192307 w 4983953"/>
              <a:gd name="connsiteY12" fmla="*/ 2775529 h 6859615"/>
              <a:gd name="connsiteX13" fmla="*/ 213941 w 4983953"/>
              <a:gd name="connsiteY13" fmla="*/ 1862862 h 6859615"/>
              <a:gd name="connsiteX14" fmla="*/ 212707 w 4983953"/>
              <a:gd name="connsiteY14" fmla="*/ 1228384 h 6859615"/>
              <a:gd name="connsiteX15" fmla="*/ 189303 w 4983953"/>
              <a:gd name="connsiteY15" fmla="*/ 666410 h 6859615"/>
              <a:gd name="connsiteX16" fmla="*/ 207119 w 4983953"/>
              <a:gd name="connsiteY16" fmla="*/ 724 h 6859615"/>
              <a:gd name="connsiteX17" fmla="*/ 4977857 w 4983953"/>
              <a:gd name="connsiteY17" fmla="*/ 0 h 6859615"/>
              <a:gd name="connsiteX0" fmla="*/ 4084 w 4943081"/>
              <a:gd name="connsiteY0" fmla="*/ 5293983 h 6859615"/>
              <a:gd name="connsiteX1" fmla="*/ 74218 w 4943081"/>
              <a:gd name="connsiteY1" fmla="*/ 5315022 h 6859615"/>
              <a:gd name="connsiteX2" fmla="*/ 38589 w 4943081"/>
              <a:gd name="connsiteY2" fmla="*/ 5456830 h 6859615"/>
              <a:gd name="connsiteX3" fmla="*/ 11587 w 4943081"/>
              <a:gd name="connsiteY3" fmla="*/ 5388346 h 6859615"/>
              <a:gd name="connsiteX4" fmla="*/ 4084 w 4943081"/>
              <a:gd name="connsiteY4" fmla="*/ 5293983 h 6859615"/>
              <a:gd name="connsiteX5" fmla="*/ 4936985 w 4943081"/>
              <a:gd name="connsiteY5" fmla="*/ 0 h 6859615"/>
              <a:gd name="connsiteX6" fmla="*/ 4943081 w 4943081"/>
              <a:gd name="connsiteY6" fmla="*/ 6857986 h 6859615"/>
              <a:gd name="connsiteX7" fmla="*/ 136529 w 4943081"/>
              <a:gd name="connsiteY7" fmla="*/ 6859615 h 6859615"/>
              <a:gd name="connsiteX8" fmla="*/ 142335 w 4943081"/>
              <a:gd name="connsiteY8" fmla="*/ 6185420 h 6859615"/>
              <a:gd name="connsiteX9" fmla="*/ 208602 w 4943081"/>
              <a:gd name="connsiteY9" fmla="*/ 5874333 h 6859615"/>
              <a:gd name="connsiteX10" fmla="*/ 163163 w 4943081"/>
              <a:gd name="connsiteY10" fmla="*/ 5140414 h 6859615"/>
              <a:gd name="connsiteX11" fmla="*/ 156769 w 4943081"/>
              <a:gd name="connsiteY11" fmla="*/ 4302231 h 6859615"/>
              <a:gd name="connsiteX12" fmla="*/ 151435 w 4943081"/>
              <a:gd name="connsiteY12" fmla="*/ 2775529 h 6859615"/>
              <a:gd name="connsiteX13" fmla="*/ 173069 w 4943081"/>
              <a:gd name="connsiteY13" fmla="*/ 1862862 h 6859615"/>
              <a:gd name="connsiteX14" fmla="*/ 171835 w 4943081"/>
              <a:gd name="connsiteY14" fmla="*/ 1228384 h 6859615"/>
              <a:gd name="connsiteX15" fmla="*/ 148431 w 4943081"/>
              <a:gd name="connsiteY15" fmla="*/ 666410 h 6859615"/>
              <a:gd name="connsiteX16" fmla="*/ 166247 w 4943081"/>
              <a:gd name="connsiteY16" fmla="*/ 724 h 6859615"/>
              <a:gd name="connsiteX17" fmla="*/ 4936985 w 4943081"/>
              <a:gd name="connsiteY17" fmla="*/ 0 h 6859615"/>
              <a:gd name="connsiteX0" fmla="*/ 4648 w 4943645"/>
              <a:gd name="connsiteY0" fmla="*/ 5293983 h 6859615"/>
              <a:gd name="connsiteX1" fmla="*/ 74782 w 4943645"/>
              <a:gd name="connsiteY1" fmla="*/ 5315022 h 6859615"/>
              <a:gd name="connsiteX2" fmla="*/ 57153 w 4943645"/>
              <a:gd name="connsiteY2" fmla="*/ 5413630 h 6859615"/>
              <a:gd name="connsiteX3" fmla="*/ 12151 w 4943645"/>
              <a:gd name="connsiteY3" fmla="*/ 5388346 h 6859615"/>
              <a:gd name="connsiteX4" fmla="*/ 4648 w 4943645"/>
              <a:gd name="connsiteY4" fmla="*/ 5293983 h 6859615"/>
              <a:gd name="connsiteX5" fmla="*/ 4937549 w 4943645"/>
              <a:gd name="connsiteY5" fmla="*/ 0 h 6859615"/>
              <a:gd name="connsiteX6" fmla="*/ 4943645 w 4943645"/>
              <a:gd name="connsiteY6" fmla="*/ 6857986 h 6859615"/>
              <a:gd name="connsiteX7" fmla="*/ 137093 w 4943645"/>
              <a:gd name="connsiteY7" fmla="*/ 6859615 h 6859615"/>
              <a:gd name="connsiteX8" fmla="*/ 142899 w 4943645"/>
              <a:gd name="connsiteY8" fmla="*/ 6185420 h 6859615"/>
              <a:gd name="connsiteX9" fmla="*/ 209166 w 4943645"/>
              <a:gd name="connsiteY9" fmla="*/ 5874333 h 6859615"/>
              <a:gd name="connsiteX10" fmla="*/ 163727 w 4943645"/>
              <a:gd name="connsiteY10" fmla="*/ 5140414 h 6859615"/>
              <a:gd name="connsiteX11" fmla="*/ 157333 w 4943645"/>
              <a:gd name="connsiteY11" fmla="*/ 4302231 h 6859615"/>
              <a:gd name="connsiteX12" fmla="*/ 151999 w 4943645"/>
              <a:gd name="connsiteY12" fmla="*/ 2775529 h 6859615"/>
              <a:gd name="connsiteX13" fmla="*/ 173633 w 4943645"/>
              <a:gd name="connsiteY13" fmla="*/ 1862862 h 6859615"/>
              <a:gd name="connsiteX14" fmla="*/ 172399 w 4943645"/>
              <a:gd name="connsiteY14" fmla="*/ 1228384 h 6859615"/>
              <a:gd name="connsiteX15" fmla="*/ 148995 w 4943645"/>
              <a:gd name="connsiteY15" fmla="*/ 666410 h 6859615"/>
              <a:gd name="connsiteX16" fmla="*/ 166811 w 4943645"/>
              <a:gd name="connsiteY16" fmla="*/ 724 h 6859615"/>
              <a:gd name="connsiteX17" fmla="*/ 4937549 w 4943645"/>
              <a:gd name="connsiteY17" fmla="*/ 0 h 6859615"/>
              <a:gd name="connsiteX0" fmla="*/ 15612 w 4933009"/>
              <a:gd name="connsiteY0" fmla="*/ 5319183 h 6859615"/>
              <a:gd name="connsiteX1" fmla="*/ 64146 w 4933009"/>
              <a:gd name="connsiteY1" fmla="*/ 5315022 h 6859615"/>
              <a:gd name="connsiteX2" fmla="*/ 46517 w 4933009"/>
              <a:gd name="connsiteY2" fmla="*/ 5413630 h 6859615"/>
              <a:gd name="connsiteX3" fmla="*/ 1515 w 4933009"/>
              <a:gd name="connsiteY3" fmla="*/ 5388346 h 6859615"/>
              <a:gd name="connsiteX4" fmla="*/ 15612 w 4933009"/>
              <a:gd name="connsiteY4" fmla="*/ 5319183 h 6859615"/>
              <a:gd name="connsiteX5" fmla="*/ 4926913 w 4933009"/>
              <a:gd name="connsiteY5" fmla="*/ 0 h 6859615"/>
              <a:gd name="connsiteX6" fmla="*/ 4933009 w 4933009"/>
              <a:gd name="connsiteY6" fmla="*/ 6857986 h 6859615"/>
              <a:gd name="connsiteX7" fmla="*/ 126457 w 4933009"/>
              <a:gd name="connsiteY7" fmla="*/ 6859615 h 6859615"/>
              <a:gd name="connsiteX8" fmla="*/ 132263 w 4933009"/>
              <a:gd name="connsiteY8" fmla="*/ 6185420 h 6859615"/>
              <a:gd name="connsiteX9" fmla="*/ 198530 w 4933009"/>
              <a:gd name="connsiteY9" fmla="*/ 5874333 h 6859615"/>
              <a:gd name="connsiteX10" fmla="*/ 153091 w 4933009"/>
              <a:gd name="connsiteY10" fmla="*/ 5140414 h 6859615"/>
              <a:gd name="connsiteX11" fmla="*/ 146697 w 4933009"/>
              <a:gd name="connsiteY11" fmla="*/ 4302231 h 6859615"/>
              <a:gd name="connsiteX12" fmla="*/ 141363 w 4933009"/>
              <a:gd name="connsiteY12" fmla="*/ 2775529 h 6859615"/>
              <a:gd name="connsiteX13" fmla="*/ 162997 w 4933009"/>
              <a:gd name="connsiteY13" fmla="*/ 1862862 h 6859615"/>
              <a:gd name="connsiteX14" fmla="*/ 161763 w 4933009"/>
              <a:gd name="connsiteY14" fmla="*/ 1228384 h 6859615"/>
              <a:gd name="connsiteX15" fmla="*/ 138359 w 4933009"/>
              <a:gd name="connsiteY15" fmla="*/ 666410 h 6859615"/>
              <a:gd name="connsiteX16" fmla="*/ 156175 w 4933009"/>
              <a:gd name="connsiteY16" fmla="*/ 724 h 6859615"/>
              <a:gd name="connsiteX17" fmla="*/ 4926913 w 4933009"/>
              <a:gd name="connsiteY17" fmla="*/ 0 h 6859615"/>
              <a:gd name="connsiteX0" fmla="*/ 20639 w 4938036"/>
              <a:gd name="connsiteY0" fmla="*/ 5319183 h 6859615"/>
              <a:gd name="connsiteX1" fmla="*/ 69173 w 4938036"/>
              <a:gd name="connsiteY1" fmla="*/ 5315022 h 6859615"/>
              <a:gd name="connsiteX2" fmla="*/ 123544 w 4938036"/>
              <a:gd name="connsiteY2" fmla="*/ 5615230 h 6859615"/>
              <a:gd name="connsiteX3" fmla="*/ 6542 w 4938036"/>
              <a:gd name="connsiteY3" fmla="*/ 5388346 h 6859615"/>
              <a:gd name="connsiteX4" fmla="*/ 20639 w 4938036"/>
              <a:gd name="connsiteY4" fmla="*/ 5319183 h 6859615"/>
              <a:gd name="connsiteX5" fmla="*/ 4931940 w 4938036"/>
              <a:gd name="connsiteY5" fmla="*/ 0 h 6859615"/>
              <a:gd name="connsiteX6" fmla="*/ 4938036 w 4938036"/>
              <a:gd name="connsiteY6" fmla="*/ 6857986 h 6859615"/>
              <a:gd name="connsiteX7" fmla="*/ 131484 w 4938036"/>
              <a:gd name="connsiteY7" fmla="*/ 6859615 h 6859615"/>
              <a:gd name="connsiteX8" fmla="*/ 137290 w 4938036"/>
              <a:gd name="connsiteY8" fmla="*/ 6185420 h 6859615"/>
              <a:gd name="connsiteX9" fmla="*/ 203557 w 4938036"/>
              <a:gd name="connsiteY9" fmla="*/ 5874333 h 6859615"/>
              <a:gd name="connsiteX10" fmla="*/ 158118 w 4938036"/>
              <a:gd name="connsiteY10" fmla="*/ 5140414 h 6859615"/>
              <a:gd name="connsiteX11" fmla="*/ 151724 w 4938036"/>
              <a:gd name="connsiteY11" fmla="*/ 4302231 h 6859615"/>
              <a:gd name="connsiteX12" fmla="*/ 146390 w 4938036"/>
              <a:gd name="connsiteY12" fmla="*/ 2775529 h 6859615"/>
              <a:gd name="connsiteX13" fmla="*/ 168024 w 4938036"/>
              <a:gd name="connsiteY13" fmla="*/ 1862862 h 6859615"/>
              <a:gd name="connsiteX14" fmla="*/ 166790 w 4938036"/>
              <a:gd name="connsiteY14" fmla="*/ 1228384 h 6859615"/>
              <a:gd name="connsiteX15" fmla="*/ 143386 w 4938036"/>
              <a:gd name="connsiteY15" fmla="*/ 666410 h 6859615"/>
              <a:gd name="connsiteX16" fmla="*/ 161202 w 4938036"/>
              <a:gd name="connsiteY16" fmla="*/ 724 h 6859615"/>
              <a:gd name="connsiteX17" fmla="*/ 4931940 w 4938036"/>
              <a:gd name="connsiteY17" fmla="*/ 0 h 6859615"/>
              <a:gd name="connsiteX0" fmla="*/ 21862 w 4939259"/>
              <a:gd name="connsiteY0" fmla="*/ 5319183 h 6859615"/>
              <a:gd name="connsiteX1" fmla="*/ 109996 w 4939259"/>
              <a:gd name="connsiteY1" fmla="*/ 5437422 h 6859615"/>
              <a:gd name="connsiteX2" fmla="*/ 124767 w 4939259"/>
              <a:gd name="connsiteY2" fmla="*/ 5615230 h 6859615"/>
              <a:gd name="connsiteX3" fmla="*/ 7765 w 4939259"/>
              <a:gd name="connsiteY3" fmla="*/ 5388346 h 6859615"/>
              <a:gd name="connsiteX4" fmla="*/ 21862 w 4939259"/>
              <a:gd name="connsiteY4" fmla="*/ 5319183 h 6859615"/>
              <a:gd name="connsiteX5" fmla="*/ 4933163 w 4939259"/>
              <a:gd name="connsiteY5" fmla="*/ 0 h 6859615"/>
              <a:gd name="connsiteX6" fmla="*/ 4939259 w 4939259"/>
              <a:gd name="connsiteY6" fmla="*/ 6857986 h 6859615"/>
              <a:gd name="connsiteX7" fmla="*/ 132707 w 4939259"/>
              <a:gd name="connsiteY7" fmla="*/ 6859615 h 6859615"/>
              <a:gd name="connsiteX8" fmla="*/ 138513 w 4939259"/>
              <a:gd name="connsiteY8" fmla="*/ 6185420 h 6859615"/>
              <a:gd name="connsiteX9" fmla="*/ 204780 w 4939259"/>
              <a:gd name="connsiteY9" fmla="*/ 5874333 h 6859615"/>
              <a:gd name="connsiteX10" fmla="*/ 159341 w 4939259"/>
              <a:gd name="connsiteY10" fmla="*/ 5140414 h 6859615"/>
              <a:gd name="connsiteX11" fmla="*/ 152947 w 4939259"/>
              <a:gd name="connsiteY11" fmla="*/ 4302231 h 6859615"/>
              <a:gd name="connsiteX12" fmla="*/ 147613 w 4939259"/>
              <a:gd name="connsiteY12" fmla="*/ 2775529 h 6859615"/>
              <a:gd name="connsiteX13" fmla="*/ 169247 w 4939259"/>
              <a:gd name="connsiteY13" fmla="*/ 1862862 h 6859615"/>
              <a:gd name="connsiteX14" fmla="*/ 168013 w 4939259"/>
              <a:gd name="connsiteY14" fmla="*/ 1228384 h 6859615"/>
              <a:gd name="connsiteX15" fmla="*/ 144609 w 4939259"/>
              <a:gd name="connsiteY15" fmla="*/ 666410 h 6859615"/>
              <a:gd name="connsiteX16" fmla="*/ 162425 w 4939259"/>
              <a:gd name="connsiteY16" fmla="*/ 724 h 6859615"/>
              <a:gd name="connsiteX17" fmla="*/ 4933163 w 4939259"/>
              <a:gd name="connsiteY17" fmla="*/ 0 h 6859615"/>
              <a:gd name="connsiteX0" fmla="*/ 93439 w 4931636"/>
              <a:gd name="connsiteY0" fmla="*/ 5394783 h 6859615"/>
              <a:gd name="connsiteX1" fmla="*/ 102373 w 4931636"/>
              <a:gd name="connsiteY1" fmla="*/ 5437422 h 6859615"/>
              <a:gd name="connsiteX2" fmla="*/ 117144 w 4931636"/>
              <a:gd name="connsiteY2" fmla="*/ 5615230 h 6859615"/>
              <a:gd name="connsiteX3" fmla="*/ 142 w 4931636"/>
              <a:gd name="connsiteY3" fmla="*/ 5388346 h 6859615"/>
              <a:gd name="connsiteX4" fmla="*/ 93439 w 4931636"/>
              <a:gd name="connsiteY4" fmla="*/ 5394783 h 6859615"/>
              <a:gd name="connsiteX5" fmla="*/ 4925540 w 4931636"/>
              <a:gd name="connsiteY5" fmla="*/ 0 h 6859615"/>
              <a:gd name="connsiteX6" fmla="*/ 4931636 w 4931636"/>
              <a:gd name="connsiteY6" fmla="*/ 6857986 h 6859615"/>
              <a:gd name="connsiteX7" fmla="*/ 125084 w 4931636"/>
              <a:gd name="connsiteY7" fmla="*/ 6859615 h 6859615"/>
              <a:gd name="connsiteX8" fmla="*/ 130890 w 4931636"/>
              <a:gd name="connsiteY8" fmla="*/ 6185420 h 6859615"/>
              <a:gd name="connsiteX9" fmla="*/ 197157 w 4931636"/>
              <a:gd name="connsiteY9" fmla="*/ 5874333 h 6859615"/>
              <a:gd name="connsiteX10" fmla="*/ 151718 w 4931636"/>
              <a:gd name="connsiteY10" fmla="*/ 5140414 h 6859615"/>
              <a:gd name="connsiteX11" fmla="*/ 145324 w 4931636"/>
              <a:gd name="connsiteY11" fmla="*/ 4302231 h 6859615"/>
              <a:gd name="connsiteX12" fmla="*/ 139990 w 4931636"/>
              <a:gd name="connsiteY12" fmla="*/ 2775529 h 6859615"/>
              <a:gd name="connsiteX13" fmla="*/ 161624 w 4931636"/>
              <a:gd name="connsiteY13" fmla="*/ 1862862 h 6859615"/>
              <a:gd name="connsiteX14" fmla="*/ 160390 w 4931636"/>
              <a:gd name="connsiteY14" fmla="*/ 1228384 h 6859615"/>
              <a:gd name="connsiteX15" fmla="*/ 136986 w 4931636"/>
              <a:gd name="connsiteY15" fmla="*/ 666410 h 6859615"/>
              <a:gd name="connsiteX16" fmla="*/ 154802 w 4931636"/>
              <a:gd name="connsiteY16" fmla="*/ 724 h 6859615"/>
              <a:gd name="connsiteX17" fmla="*/ 4925540 w 4931636"/>
              <a:gd name="connsiteY17" fmla="*/ 0 h 6859615"/>
              <a:gd name="connsiteX0" fmla="*/ 93444 w 4931641"/>
              <a:gd name="connsiteY0" fmla="*/ 5394783 h 6859615"/>
              <a:gd name="connsiteX1" fmla="*/ 123978 w 4931641"/>
              <a:gd name="connsiteY1" fmla="*/ 5559822 h 6859615"/>
              <a:gd name="connsiteX2" fmla="*/ 117149 w 4931641"/>
              <a:gd name="connsiteY2" fmla="*/ 5615230 h 6859615"/>
              <a:gd name="connsiteX3" fmla="*/ 147 w 4931641"/>
              <a:gd name="connsiteY3" fmla="*/ 5388346 h 6859615"/>
              <a:gd name="connsiteX4" fmla="*/ 93444 w 4931641"/>
              <a:gd name="connsiteY4" fmla="*/ 5394783 h 6859615"/>
              <a:gd name="connsiteX5" fmla="*/ 4925545 w 4931641"/>
              <a:gd name="connsiteY5" fmla="*/ 0 h 6859615"/>
              <a:gd name="connsiteX6" fmla="*/ 4931641 w 4931641"/>
              <a:gd name="connsiteY6" fmla="*/ 6857986 h 6859615"/>
              <a:gd name="connsiteX7" fmla="*/ 125089 w 4931641"/>
              <a:gd name="connsiteY7" fmla="*/ 6859615 h 6859615"/>
              <a:gd name="connsiteX8" fmla="*/ 130895 w 4931641"/>
              <a:gd name="connsiteY8" fmla="*/ 6185420 h 6859615"/>
              <a:gd name="connsiteX9" fmla="*/ 197162 w 4931641"/>
              <a:gd name="connsiteY9" fmla="*/ 5874333 h 6859615"/>
              <a:gd name="connsiteX10" fmla="*/ 151723 w 4931641"/>
              <a:gd name="connsiteY10" fmla="*/ 5140414 h 6859615"/>
              <a:gd name="connsiteX11" fmla="*/ 145329 w 4931641"/>
              <a:gd name="connsiteY11" fmla="*/ 4302231 h 6859615"/>
              <a:gd name="connsiteX12" fmla="*/ 139995 w 4931641"/>
              <a:gd name="connsiteY12" fmla="*/ 2775529 h 6859615"/>
              <a:gd name="connsiteX13" fmla="*/ 161629 w 4931641"/>
              <a:gd name="connsiteY13" fmla="*/ 1862862 h 6859615"/>
              <a:gd name="connsiteX14" fmla="*/ 160395 w 4931641"/>
              <a:gd name="connsiteY14" fmla="*/ 1228384 h 6859615"/>
              <a:gd name="connsiteX15" fmla="*/ 136991 w 4931641"/>
              <a:gd name="connsiteY15" fmla="*/ 666410 h 6859615"/>
              <a:gd name="connsiteX16" fmla="*/ 154807 w 4931641"/>
              <a:gd name="connsiteY16" fmla="*/ 724 h 6859615"/>
              <a:gd name="connsiteX17" fmla="*/ 4925545 w 4931641"/>
              <a:gd name="connsiteY17" fmla="*/ 0 h 6859615"/>
              <a:gd name="connsiteX0" fmla="*/ 21895 w 4860092"/>
              <a:gd name="connsiteY0" fmla="*/ 53947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3947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4860092"/>
              <a:gd name="connsiteY0" fmla="*/ 5524383 h 6859615"/>
              <a:gd name="connsiteX1" fmla="*/ 52429 w 4860092"/>
              <a:gd name="connsiteY1" fmla="*/ 5559822 h 6859615"/>
              <a:gd name="connsiteX2" fmla="*/ 45600 w 4860092"/>
              <a:gd name="connsiteY2" fmla="*/ 5615230 h 6859615"/>
              <a:gd name="connsiteX3" fmla="*/ 598 w 4860092"/>
              <a:gd name="connsiteY3" fmla="*/ 5604346 h 6859615"/>
              <a:gd name="connsiteX4" fmla="*/ 21895 w 4860092"/>
              <a:gd name="connsiteY4" fmla="*/ 5524383 h 6859615"/>
              <a:gd name="connsiteX5" fmla="*/ 4853996 w 4860092"/>
              <a:gd name="connsiteY5" fmla="*/ 0 h 6859615"/>
              <a:gd name="connsiteX6" fmla="*/ 4860092 w 4860092"/>
              <a:gd name="connsiteY6" fmla="*/ 6857986 h 6859615"/>
              <a:gd name="connsiteX7" fmla="*/ 53540 w 4860092"/>
              <a:gd name="connsiteY7" fmla="*/ 6859615 h 6859615"/>
              <a:gd name="connsiteX8" fmla="*/ 59346 w 4860092"/>
              <a:gd name="connsiteY8" fmla="*/ 6185420 h 6859615"/>
              <a:gd name="connsiteX9" fmla="*/ 125613 w 4860092"/>
              <a:gd name="connsiteY9" fmla="*/ 5874333 h 6859615"/>
              <a:gd name="connsiteX10" fmla="*/ 80174 w 4860092"/>
              <a:gd name="connsiteY10" fmla="*/ 5140414 h 6859615"/>
              <a:gd name="connsiteX11" fmla="*/ 73780 w 4860092"/>
              <a:gd name="connsiteY11" fmla="*/ 4302231 h 6859615"/>
              <a:gd name="connsiteX12" fmla="*/ 68446 w 4860092"/>
              <a:gd name="connsiteY12" fmla="*/ 2775529 h 6859615"/>
              <a:gd name="connsiteX13" fmla="*/ 90080 w 4860092"/>
              <a:gd name="connsiteY13" fmla="*/ 1862862 h 6859615"/>
              <a:gd name="connsiteX14" fmla="*/ 88846 w 4860092"/>
              <a:gd name="connsiteY14" fmla="*/ 1228384 h 6859615"/>
              <a:gd name="connsiteX15" fmla="*/ 65442 w 4860092"/>
              <a:gd name="connsiteY15" fmla="*/ 666410 h 6859615"/>
              <a:gd name="connsiteX16" fmla="*/ 83258 w 4860092"/>
              <a:gd name="connsiteY16" fmla="*/ 724 h 6859615"/>
              <a:gd name="connsiteX17" fmla="*/ 4853996 w 4860092"/>
              <a:gd name="connsiteY17" fmla="*/ 0 h 6859615"/>
              <a:gd name="connsiteX0" fmla="*/ 21895 w 6166748"/>
              <a:gd name="connsiteY0" fmla="*/ 5524383 h 6859615"/>
              <a:gd name="connsiteX1" fmla="*/ 52429 w 6166748"/>
              <a:gd name="connsiteY1" fmla="*/ 5559822 h 6859615"/>
              <a:gd name="connsiteX2" fmla="*/ 45600 w 6166748"/>
              <a:gd name="connsiteY2" fmla="*/ 5615230 h 6859615"/>
              <a:gd name="connsiteX3" fmla="*/ 598 w 6166748"/>
              <a:gd name="connsiteY3" fmla="*/ 5604346 h 6859615"/>
              <a:gd name="connsiteX4" fmla="*/ 21895 w 6166748"/>
              <a:gd name="connsiteY4" fmla="*/ 5524383 h 6859615"/>
              <a:gd name="connsiteX5" fmla="*/ 6166748 w 6166748"/>
              <a:gd name="connsiteY5" fmla="*/ 0 h 6859615"/>
              <a:gd name="connsiteX6" fmla="*/ 4860092 w 6166748"/>
              <a:gd name="connsiteY6" fmla="*/ 6857986 h 6859615"/>
              <a:gd name="connsiteX7" fmla="*/ 53540 w 6166748"/>
              <a:gd name="connsiteY7" fmla="*/ 6859615 h 6859615"/>
              <a:gd name="connsiteX8" fmla="*/ 59346 w 6166748"/>
              <a:gd name="connsiteY8" fmla="*/ 6185420 h 6859615"/>
              <a:gd name="connsiteX9" fmla="*/ 125613 w 6166748"/>
              <a:gd name="connsiteY9" fmla="*/ 5874333 h 6859615"/>
              <a:gd name="connsiteX10" fmla="*/ 80174 w 6166748"/>
              <a:gd name="connsiteY10" fmla="*/ 5140414 h 6859615"/>
              <a:gd name="connsiteX11" fmla="*/ 73780 w 6166748"/>
              <a:gd name="connsiteY11" fmla="*/ 4302231 h 6859615"/>
              <a:gd name="connsiteX12" fmla="*/ 68446 w 6166748"/>
              <a:gd name="connsiteY12" fmla="*/ 2775529 h 6859615"/>
              <a:gd name="connsiteX13" fmla="*/ 90080 w 6166748"/>
              <a:gd name="connsiteY13" fmla="*/ 1862862 h 6859615"/>
              <a:gd name="connsiteX14" fmla="*/ 88846 w 6166748"/>
              <a:gd name="connsiteY14" fmla="*/ 1228384 h 6859615"/>
              <a:gd name="connsiteX15" fmla="*/ 65442 w 6166748"/>
              <a:gd name="connsiteY15" fmla="*/ 666410 h 6859615"/>
              <a:gd name="connsiteX16" fmla="*/ 83258 w 6166748"/>
              <a:gd name="connsiteY16" fmla="*/ 724 h 6859615"/>
              <a:gd name="connsiteX17" fmla="*/ 6166748 w 6166748"/>
              <a:gd name="connsiteY17" fmla="*/ 0 h 6859615"/>
              <a:gd name="connsiteX0" fmla="*/ 21895 w 6166748"/>
              <a:gd name="connsiteY0" fmla="*/ 5524383 h 6876093"/>
              <a:gd name="connsiteX1" fmla="*/ 52429 w 6166748"/>
              <a:gd name="connsiteY1" fmla="*/ 5559822 h 6876093"/>
              <a:gd name="connsiteX2" fmla="*/ 45600 w 6166748"/>
              <a:gd name="connsiteY2" fmla="*/ 5615230 h 6876093"/>
              <a:gd name="connsiteX3" fmla="*/ 598 w 6166748"/>
              <a:gd name="connsiteY3" fmla="*/ 5604346 h 6876093"/>
              <a:gd name="connsiteX4" fmla="*/ 21895 w 6166748"/>
              <a:gd name="connsiteY4" fmla="*/ 5524383 h 6876093"/>
              <a:gd name="connsiteX5" fmla="*/ 6166748 w 6166748"/>
              <a:gd name="connsiteY5" fmla="*/ 0 h 6876093"/>
              <a:gd name="connsiteX6" fmla="*/ 6163791 w 6166748"/>
              <a:gd name="connsiteY6" fmla="*/ 6876093 h 6876093"/>
              <a:gd name="connsiteX7" fmla="*/ 53540 w 6166748"/>
              <a:gd name="connsiteY7" fmla="*/ 6859615 h 6876093"/>
              <a:gd name="connsiteX8" fmla="*/ 59346 w 6166748"/>
              <a:gd name="connsiteY8" fmla="*/ 6185420 h 6876093"/>
              <a:gd name="connsiteX9" fmla="*/ 125613 w 6166748"/>
              <a:gd name="connsiteY9" fmla="*/ 5874333 h 6876093"/>
              <a:gd name="connsiteX10" fmla="*/ 80174 w 6166748"/>
              <a:gd name="connsiteY10" fmla="*/ 5140414 h 6876093"/>
              <a:gd name="connsiteX11" fmla="*/ 73780 w 6166748"/>
              <a:gd name="connsiteY11" fmla="*/ 4302231 h 6876093"/>
              <a:gd name="connsiteX12" fmla="*/ 68446 w 6166748"/>
              <a:gd name="connsiteY12" fmla="*/ 2775529 h 6876093"/>
              <a:gd name="connsiteX13" fmla="*/ 90080 w 6166748"/>
              <a:gd name="connsiteY13" fmla="*/ 1862862 h 6876093"/>
              <a:gd name="connsiteX14" fmla="*/ 88846 w 6166748"/>
              <a:gd name="connsiteY14" fmla="*/ 1228384 h 6876093"/>
              <a:gd name="connsiteX15" fmla="*/ 65442 w 6166748"/>
              <a:gd name="connsiteY15" fmla="*/ 666410 h 6876093"/>
              <a:gd name="connsiteX16" fmla="*/ 83258 w 6166748"/>
              <a:gd name="connsiteY16" fmla="*/ 724 h 6876093"/>
              <a:gd name="connsiteX17" fmla="*/ 6166748 w 6166748"/>
              <a:gd name="connsiteY17" fmla="*/ 0 h 6876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6748" h="6876093">
                <a:moveTo>
                  <a:pt x="21895" y="5524383"/>
                </a:moveTo>
                <a:cubicBezTo>
                  <a:pt x="30533" y="5516962"/>
                  <a:pt x="48478" y="5544681"/>
                  <a:pt x="52429" y="5559822"/>
                </a:cubicBezTo>
                <a:cubicBezTo>
                  <a:pt x="56380" y="5574963"/>
                  <a:pt x="54238" y="5607809"/>
                  <a:pt x="45600" y="5615230"/>
                </a:cubicBezTo>
                <a:cubicBezTo>
                  <a:pt x="36962" y="5622651"/>
                  <a:pt x="4549" y="5619487"/>
                  <a:pt x="598" y="5604346"/>
                </a:cubicBezTo>
                <a:cubicBezTo>
                  <a:pt x="-3353" y="5589205"/>
                  <a:pt x="13257" y="5531804"/>
                  <a:pt x="21895" y="5524383"/>
                </a:cubicBezTo>
                <a:close/>
                <a:moveTo>
                  <a:pt x="6166748" y="0"/>
                </a:moveTo>
                <a:cubicBezTo>
                  <a:pt x="6165762" y="2292031"/>
                  <a:pt x="6164777" y="4584062"/>
                  <a:pt x="6163791" y="6876093"/>
                </a:cubicBezTo>
                <a:lnTo>
                  <a:pt x="53540" y="6859615"/>
                </a:lnTo>
                <a:cubicBezTo>
                  <a:pt x="50713" y="6672582"/>
                  <a:pt x="38360" y="6239103"/>
                  <a:pt x="59346" y="6185420"/>
                </a:cubicBezTo>
                <a:cubicBezTo>
                  <a:pt x="186210" y="6016637"/>
                  <a:pt x="98761" y="6014541"/>
                  <a:pt x="125613" y="5874333"/>
                </a:cubicBezTo>
                <a:cubicBezTo>
                  <a:pt x="104117" y="5642393"/>
                  <a:pt x="30232" y="5410454"/>
                  <a:pt x="80174" y="5140414"/>
                </a:cubicBezTo>
                <a:cubicBezTo>
                  <a:pt x="108205" y="4681633"/>
                  <a:pt x="45749" y="4761013"/>
                  <a:pt x="73780" y="4302231"/>
                </a:cubicBezTo>
                <a:cubicBezTo>
                  <a:pt x="65652" y="3779043"/>
                  <a:pt x="124199" y="3798779"/>
                  <a:pt x="68446" y="2775529"/>
                </a:cubicBezTo>
                <a:cubicBezTo>
                  <a:pt x="80419" y="1837895"/>
                  <a:pt x="68581" y="2081359"/>
                  <a:pt x="90080" y="1862862"/>
                </a:cubicBezTo>
                <a:cubicBezTo>
                  <a:pt x="34106" y="1156069"/>
                  <a:pt x="116245" y="1658952"/>
                  <a:pt x="88846" y="1228384"/>
                </a:cubicBezTo>
                <a:lnTo>
                  <a:pt x="65442" y="666410"/>
                </a:lnTo>
                <a:cubicBezTo>
                  <a:pt x="74556" y="522302"/>
                  <a:pt x="64619" y="344857"/>
                  <a:pt x="83258" y="724"/>
                </a:cubicBezTo>
                <a:lnTo>
                  <a:pt x="6166748" y="0"/>
                </a:lnTo>
                <a:close/>
              </a:path>
            </a:pathLst>
          </a:custGeom>
          <a:solidFill>
            <a:srgbClr val="008751"/>
          </a:solidFill>
          <a:ln>
            <a:noFill/>
          </a:ln>
        </p:spPr>
        <p:txBody>
          <a:bodyPr wrap="square">
            <a:noAutofit/>
          </a:bodyPr>
          <a:lstStyle>
            <a:lvl1pPr>
              <a:defRPr sz="1600">
                <a:solidFill>
                  <a:schemeClr val="accent2">
                    <a:lumMod val="75000"/>
                  </a:schemeClr>
                </a:solidFill>
              </a:defRPr>
            </a:lvl1pPr>
          </a:lstStyle>
          <a:p>
            <a:r>
              <a:rPr lang="en-GB"/>
              <a:t>This is an image placeholder. Click the little icon behind the square image to add a picture</a:t>
            </a:r>
          </a:p>
        </p:txBody>
      </p:sp>
      <p:sp>
        <p:nvSpPr>
          <p:cNvPr id="3" name="Subtitle 2">
            <a:extLst>
              <a:ext uri="{FF2B5EF4-FFF2-40B4-BE49-F238E27FC236}">
                <a16:creationId xmlns:a16="http://schemas.microsoft.com/office/drawing/2014/main" id="{F281CB52-78B7-0C41-8AA4-983207946085}"/>
              </a:ext>
            </a:extLst>
          </p:cNvPr>
          <p:cNvSpPr>
            <a:spLocks noGrp="1"/>
          </p:cNvSpPr>
          <p:nvPr>
            <p:ph type="subTitle" idx="1" hasCustomPrompt="1"/>
          </p:nvPr>
        </p:nvSpPr>
        <p:spPr>
          <a:xfrm>
            <a:off x="6564313" y="2272420"/>
            <a:ext cx="5292724" cy="4396668"/>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GB" sz="2000" b="0" i="0" smtClean="0">
                <a:solidFill>
                  <a:srgbClr val="424242"/>
                </a:solidFill>
                <a:effectLst/>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a:t>
            </a:r>
            <a:r>
              <a:rPr lang="en-US" err="1"/>
              <a:t>lipsum</a:t>
            </a:r>
            <a:r>
              <a:rPr lang="en-US"/>
              <a:t>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endParaRPr lang="en-US"/>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Lorem </a:t>
            </a:r>
            <a:r>
              <a:rPr lang="en-US" err="1"/>
              <a:t>lipsum</a:t>
            </a:r>
            <a:r>
              <a:rPr lang="en-US"/>
              <a:t>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endParaRPr lang="en-GB"/>
          </a:p>
        </p:txBody>
      </p:sp>
      <p:sp>
        <p:nvSpPr>
          <p:cNvPr id="10" name="Title 1">
            <a:extLst>
              <a:ext uri="{FF2B5EF4-FFF2-40B4-BE49-F238E27FC236}">
                <a16:creationId xmlns:a16="http://schemas.microsoft.com/office/drawing/2014/main" id="{CADA7699-B8F6-BB4E-85DD-D8B3900E3F5D}"/>
              </a:ext>
            </a:extLst>
          </p:cNvPr>
          <p:cNvSpPr>
            <a:spLocks noGrp="1"/>
          </p:cNvSpPr>
          <p:nvPr>
            <p:ph type="ctrTitle" hasCustomPrompt="1"/>
          </p:nvPr>
        </p:nvSpPr>
        <p:spPr>
          <a:xfrm>
            <a:off x="6564313" y="368300"/>
            <a:ext cx="5761037" cy="1704944"/>
          </a:xfrm>
        </p:spPr>
        <p:txBody>
          <a:bodyPr anchor="t">
            <a:normAutofit/>
          </a:bodyPr>
          <a:lstStyle>
            <a:lvl1pPr algn="l">
              <a:defRPr sz="3600"/>
            </a:lvl1pPr>
          </a:lstStyle>
          <a:p>
            <a:r>
              <a:rPr lang="en-US"/>
              <a:t>Section header title goes here</a:t>
            </a:r>
            <a:endParaRPr lang="en-GB"/>
          </a:p>
        </p:txBody>
      </p:sp>
    </p:spTree>
    <p:extLst>
      <p:ext uri="{BB962C8B-B14F-4D97-AF65-F5344CB8AC3E}">
        <p14:creationId xmlns:p14="http://schemas.microsoft.com/office/powerpoint/2010/main" val="2267504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ull Backgroun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5AD123-4A80-C347-AD12-93336F3C4B3D}"/>
              </a:ext>
            </a:extLst>
          </p:cNvPr>
          <p:cNvSpPr>
            <a:spLocks noGrp="1"/>
          </p:cNvSpPr>
          <p:nvPr>
            <p:ph type="pic" sz="quarter" idx="10" hasCustomPrompt="1"/>
          </p:nvPr>
        </p:nvSpPr>
        <p:spPr>
          <a:xfrm>
            <a:off x="0" y="0"/>
            <a:ext cx="12192000" cy="6858000"/>
          </a:xfrm>
          <a:solidFill>
            <a:srgbClr val="5BAC26"/>
          </a:solidFill>
        </p:spPr>
        <p:txBody>
          <a:bodyPr/>
          <a:lstStyle>
            <a:lvl1pPr>
              <a:defRPr/>
            </a:lvl1pPr>
          </a:lstStyle>
          <a:p>
            <a:r>
              <a:rPr lang="en-GB"/>
              <a:t>This is an image placeholder. Click the little icon in the centre to add a picture</a:t>
            </a:r>
          </a:p>
        </p:txBody>
      </p:sp>
      <p:sp>
        <p:nvSpPr>
          <p:cNvPr id="2" name="Title 1">
            <a:extLst>
              <a:ext uri="{FF2B5EF4-FFF2-40B4-BE49-F238E27FC236}">
                <a16:creationId xmlns:a16="http://schemas.microsoft.com/office/drawing/2014/main" id="{8FF120D5-1456-D743-984F-F99DAF100E88}"/>
              </a:ext>
            </a:extLst>
          </p:cNvPr>
          <p:cNvSpPr>
            <a:spLocks noGrp="1"/>
          </p:cNvSpPr>
          <p:nvPr>
            <p:ph type="title" hasCustomPrompt="1"/>
          </p:nvPr>
        </p:nvSpPr>
        <p:spPr>
          <a:xfrm>
            <a:off x="343672" y="742384"/>
            <a:ext cx="11513366" cy="1810693"/>
          </a:xfrm>
        </p:spPr>
        <p:txBody>
          <a:bodyPr/>
          <a:lstStyle>
            <a:lvl1pPr algn="ctr">
              <a:defRPr>
                <a:solidFill>
                  <a:schemeClr val="bg1"/>
                </a:solidFill>
              </a:defRPr>
            </a:lvl1pPr>
          </a:lstStyle>
          <a:p>
            <a:r>
              <a:rPr lang="en-US"/>
              <a:t>Title goes here</a:t>
            </a:r>
            <a:endParaRPr lang="en-GB"/>
          </a:p>
        </p:txBody>
      </p:sp>
      <p:sp>
        <p:nvSpPr>
          <p:cNvPr id="8" name="Title 1">
            <a:extLst>
              <a:ext uri="{FF2B5EF4-FFF2-40B4-BE49-F238E27FC236}">
                <a16:creationId xmlns:a16="http://schemas.microsoft.com/office/drawing/2014/main" id="{8F1A2376-3519-6840-9FF5-66E45793B832}"/>
              </a:ext>
            </a:extLst>
          </p:cNvPr>
          <p:cNvSpPr txBox="1">
            <a:spLocks/>
          </p:cNvSpPr>
          <p:nvPr userDrawn="1"/>
        </p:nvSpPr>
        <p:spPr>
          <a:xfrm>
            <a:off x="343672" y="4137433"/>
            <a:ext cx="11513366" cy="1810693"/>
          </a:xfrm>
          <a:prstGeom prst="rect">
            <a:avLst/>
          </a:prstGeom>
          <a:noFill/>
          <a:ln>
            <a:noFill/>
          </a:ln>
        </p:spPr>
        <p:txBody>
          <a:bodyPr vert="horz" lIns="91440" tIns="45720" rIns="91440" bIns="45720" rtlCol="0" anchor="t">
            <a:normAutofit/>
          </a:bodyPr>
          <a:lstStyle>
            <a:lvl1pPr algn="ctr" defTabSz="914400" rtl="0" eaLnBrk="1" latinLnBrk="0" hangingPunct="1">
              <a:lnSpc>
                <a:spcPct val="90000"/>
              </a:lnSpc>
              <a:spcBef>
                <a:spcPct val="0"/>
              </a:spcBef>
              <a:buNone/>
              <a:defRPr sz="3600" b="0" i="0" kern="1200">
                <a:solidFill>
                  <a:schemeClr val="bg1"/>
                </a:solidFill>
                <a:latin typeface="Eveleth Dot Light" panose="02010A04020200000003" pitchFamily="2" charset="77"/>
                <a:ea typeface="+mj-ea"/>
                <a:cs typeface="+mj-cs"/>
              </a:defRPr>
            </a:lvl1pPr>
          </a:lstStyle>
          <a:p>
            <a:r>
              <a:rPr lang="en-US" sz="2800">
                <a:latin typeface="+mj-lt"/>
                <a:cs typeface="Calibri" panose="020F0502020204030204" pitchFamily="34" charset="0"/>
              </a:rPr>
              <a:t>Click to edit Section Header subtitle</a:t>
            </a:r>
            <a:endParaRPr lang="en-GB" sz="2800">
              <a:latin typeface="+mj-lt"/>
              <a:cs typeface="Calibri" panose="020F0502020204030204" pitchFamily="34" charset="0"/>
            </a:endParaRPr>
          </a:p>
        </p:txBody>
      </p:sp>
    </p:spTree>
    <p:extLst>
      <p:ext uri="{BB962C8B-B14F-4D97-AF65-F5344CB8AC3E}">
        <p14:creationId xmlns:p14="http://schemas.microsoft.com/office/powerpoint/2010/main" val="308542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Colour Background">
    <p:bg>
      <p:bgPr>
        <a:solidFill>
          <a:srgbClr val="5BAC2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7E6E-90A4-F54F-A349-16304E02824C}"/>
              </a:ext>
            </a:extLst>
          </p:cNvPr>
          <p:cNvSpPr>
            <a:spLocks noGrp="1"/>
          </p:cNvSpPr>
          <p:nvPr>
            <p:ph type="title" hasCustomPrompt="1"/>
          </p:nvPr>
        </p:nvSpPr>
        <p:spPr/>
        <p:txBody>
          <a:bodyPr/>
          <a:lstStyle>
            <a:lvl1pPr algn="ctr">
              <a:defRPr>
                <a:solidFill>
                  <a:schemeClr val="bg1"/>
                </a:solidFill>
              </a:defRPr>
            </a:lvl1pPr>
          </a:lstStyle>
          <a:p>
            <a:r>
              <a:rPr lang="en-US"/>
              <a:t>Click to edit title</a:t>
            </a:r>
            <a:endParaRPr lang="en-GB"/>
          </a:p>
        </p:txBody>
      </p:sp>
    </p:spTree>
    <p:extLst>
      <p:ext uri="{BB962C8B-B14F-4D97-AF65-F5344CB8AC3E}">
        <p14:creationId xmlns:p14="http://schemas.microsoft.com/office/powerpoint/2010/main" val="2246387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Photos Half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2463-A991-0F4A-B0B1-0A1E2B91E3B5}"/>
              </a:ext>
            </a:extLst>
          </p:cNvPr>
          <p:cNvSpPr>
            <a:spLocks noGrp="1"/>
          </p:cNvSpPr>
          <p:nvPr>
            <p:ph type="title"/>
          </p:nvPr>
        </p:nvSpPr>
        <p:spPr>
          <a:xfrm>
            <a:off x="6096000" y="372246"/>
            <a:ext cx="5761038" cy="1325563"/>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A143E37-3E98-374D-8324-8657691FFA00}"/>
              </a:ext>
            </a:extLst>
          </p:cNvPr>
          <p:cNvSpPr>
            <a:spLocks noGrp="1"/>
          </p:cNvSpPr>
          <p:nvPr>
            <p:ph idx="1"/>
          </p:nvPr>
        </p:nvSpPr>
        <p:spPr>
          <a:xfrm>
            <a:off x="6096000" y="1868487"/>
            <a:ext cx="5761038" cy="424343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1BFC42-1795-F84D-BB1F-903859059B12}"/>
              </a:ext>
            </a:extLst>
          </p:cNvPr>
          <p:cNvSpPr>
            <a:spLocks noGrp="1"/>
          </p:cNvSpPr>
          <p:nvPr>
            <p:ph type="dt" sz="half" idx="10"/>
          </p:nvPr>
        </p:nvSpPr>
        <p:spPr>
          <a:xfrm>
            <a:off x="9100457" y="6453051"/>
            <a:ext cx="1673764" cy="216038"/>
          </a:xfrm>
        </p:spPr>
        <p:txBody>
          <a:bodyPr/>
          <a:lstStyle/>
          <a:p>
            <a:fld id="{677139CF-4A3D-4C28-BE24-5057B779EF9B}" type="datetime4">
              <a:rPr lang="en-GB" smtClean="0"/>
              <a:t>8 May 2024</a:t>
            </a:fld>
            <a:endParaRPr lang="en-GB"/>
          </a:p>
        </p:txBody>
      </p:sp>
      <p:sp>
        <p:nvSpPr>
          <p:cNvPr id="5" name="Footer Placeholder 4">
            <a:extLst>
              <a:ext uri="{FF2B5EF4-FFF2-40B4-BE49-F238E27FC236}">
                <a16:creationId xmlns:a16="http://schemas.microsoft.com/office/drawing/2014/main" id="{2D990AC9-CC40-F242-ADBA-6699016483EC}"/>
              </a:ext>
            </a:extLst>
          </p:cNvPr>
          <p:cNvSpPr>
            <a:spLocks noGrp="1"/>
          </p:cNvSpPr>
          <p:nvPr>
            <p:ph type="ftr" sz="quarter" idx="11"/>
          </p:nvPr>
        </p:nvSpPr>
        <p:spPr>
          <a:xfrm>
            <a:off x="1236617" y="6453051"/>
            <a:ext cx="7315200" cy="216038"/>
          </a:xfrm>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3C05C73F-87C7-DD47-BF49-1581C329F839}"/>
              </a:ext>
            </a:extLst>
          </p:cNvPr>
          <p:cNvSpPr>
            <a:spLocks noGrp="1"/>
          </p:cNvSpPr>
          <p:nvPr>
            <p:ph type="sldNum" sz="quarter" idx="12"/>
          </p:nvPr>
        </p:nvSpPr>
        <p:spPr/>
        <p:txBody>
          <a:bodyPr/>
          <a:lstStyle/>
          <a:p>
            <a:fld id="{6CCA5A4E-9384-7B4E-A945-D252AB071471}" type="slidenum">
              <a:rPr lang="en-GB" smtClean="0"/>
              <a:t>‹#›</a:t>
            </a:fld>
            <a:endParaRPr lang="en-GB"/>
          </a:p>
        </p:txBody>
      </p:sp>
      <p:sp>
        <p:nvSpPr>
          <p:cNvPr id="7" name="Picture Placeholder 18">
            <a:extLst>
              <a:ext uri="{FF2B5EF4-FFF2-40B4-BE49-F238E27FC236}">
                <a16:creationId xmlns:a16="http://schemas.microsoft.com/office/drawing/2014/main" id="{24AAF104-97AA-0541-9963-95E36C522A47}"/>
              </a:ext>
            </a:extLst>
          </p:cNvPr>
          <p:cNvSpPr>
            <a:spLocks noGrp="1"/>
          </p:cNvSpPr>
          <p:nvPr>
            <p:ph type="pic" sz="quarter" idx="13"/>
          </p:nvPr>
        </p:nvSpPr>
        <p:spPr>
          <a:xfrm>
            <a:off x="996638" y="784836"/>
            <a:ext cx="3714736" cy="3714736"/>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sp>
        <p:nvSpPr>
          <p:cNvPr id="8" name="Picture Placeholder 18">
            <a:extLst>
              <a:ext uri="{FF2B5EF4-FFF2-40B4-BE49-F238E27FC236}">
                <a16:creationId xmlns:a16="http://schemas.microsoft.com/office/drawing/2014/main" id="{10F9567A-A586-FA4A-A44C-F7D61ADA423E}"/>
              </a:ext>
            </a:extLst>
          </p:cNvPr>
          <p:cNvSpPr>
            <a:spLocks noGrp="1"/>
          </p:cNvSpPr>
          <p:nvPr>
            <p:ph type="pic" sz="quarter" idx="14"/>
          </p:nvPr>
        </p:nvSpPr>
        <p:spPr>
          <a:xfrm>
            <a:off x="3591824" y="3696164"/>
            <a:ext cx="1821240" cy="1821240"/>
          </a:xfrm>
          <a:solidFill>
            <a:srgbClr val="F2F3EB"/>
          </a:solidFill>
          <a:ln w="57150">
            <a:solidFill>
              <a:schemeClr val="bg1"/>
            </a:solidFill>
          </a:ln>
          <a:effectLst>
            <a:outerShdw blurRad="215900" sx="102000" sy="102000" algn="ctr" rotWithShape="0">
              <a:prstClr val="black">
                <a:alpha val="24000"/>
              </a:prstClr>
            </a:outerShdw>
          </a:effectLst>
        </p:spPr>
        <p:txBody>
          <a:bodyPr/>
          <a:lstStyle/>
          <a:p>
            <a:endParaRPr lang="en-GB"/>
          </a:p>
        </p:txBody>
      </p:sp>
    </p:spTree>
    <p:extLst>
      <p:ext uri="{BB962C8B-B14F-4D97-AF65-F5344CB8AC3E}">
        <p14:creationId xmlns:p14="http://schemas.microsoft.com/office/powerpoint/2010/main" val="28455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2463-A991-0F4A-B0B1-0A1E2B91E3B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A143E37-3E98-374D-8324-8657691FFA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1BFC42-1795-F84D-BB1F-903859059B12}"/>
              </a:ext>
            </a:extLst>
          </p:cNvPr>
          <p:cNvSpPr>
            <a:spLocks noGrp="1"/>
          </p:cNvSpPr>
          <p:nvPr>
            <p:ph type="dt" sz="half" idx="10"/>
          </p:nvPr>
        </p:nvSpPr>
        <p:spPr>
          <a:xfrm>
            <a:off x="9100457" y="6453051"/>
            <a:ext cx="1673764" cy="216038"/>
          </a:xfrm>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2D990AC9-CC40-F242-ADBA-6699016483EC}"/>
              </a:ext>
            </a:extLst>
          </p:cNvPr>
          <p:cNvSpPr>
            <a:spLocks noGrp="1"/>
          </p:cNvSpPr>
          <p:nvPr>
            <p:ph type="ftr" sz="quarter" idx="11"/>
          </p:nvPr>
        </p:nvSpPr>
        <p:spPr>
          <a:xfrm>
            <a:off x="1236617" y="6453051"/>
            <a:ext cx="7315200" cy="216038"/>
          </a:xfrm>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3C05C73F-87C7-DD47-BF49-1581C329F839}"/>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2034296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9EE4D-59A4-9A44-94BC-95CB11912011}"/>
              </a:ext>
            </a:extLst>
          </p:cNvPr>
          <p:cNvSpPr>
            <a:spLocks noGrp="1"/>
          </p:cNvSpPr>
          <p:nvPr>
            <p:ph type="title"/>
          </p:nvPr>
        </p:nvSpPr>
        <p:spPr>
          <a:xfrm>
            <a:off x="831850" y="1709738"/>
            <a:ext cx="10515600" cy="2852737"/>
          </a:xfrm>
        </p:spPr>
        <p:txBody>
          <a:bodyPr anchor="b">
            <a:normAutofit/>
          </a:bodyPr>
          <a:lstStyle>
            <a:lvl1pPr>
              <a:defRPr sz="44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A013269-1044-7244-9DA2-56F32D3465FF}"/>
              </a:ext>
            </a:extLst>
          </p:cNvPr>
          <p:cNvSpPr>
            <a:spLocks noGrp="1"/>
          </p:cNvSpPr>
          <p:nvPr>
            <p:ph type="body" idx="1"/>
          </p:nvPr>
        </p:nvSpPr>
        <p:spPr>
          <a:xfrm>
            <a:off x="831850" y="4589463"/>
            <a:ext cx="10515600" cy="1500187"/>
          </a:xfrm>
        </p:spPr>
        <p:txBody>
          <a:bodyPr/>
          <a:lstStyle>
            <a:lvl1pPr marL="0" indent="0">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069548A-4435-074E-98B4-BBB0119796B0}"/>
              </a:ext>
            </a:extLst>
          </p:cNvPr>
          <p:cNvSpPr>
            <a:spLocks noGrp="1"/>
          </p:cNvSpPr>
          <p:nvPr>
            <p:ph type="dt" sz="half" idx="10"/>
          </p:nvPr>
        </p:nvSpPr>
        <p:spPr/>
        <p:txBody>
          <a:bodyPr/>
          <a:lstStyle/>
          <a:p>
            <a:fld id="{7967685B-57B2-4D50-BDF0-AFF601B5914A}" type="datetime4">
              <a:rPr lang="en-GB" smtClean="0"/>
              <a:t>8 May 2024</a:t>
            </a:fld>
            <a:endParaRPr lang="en-GB"/>
          </a:p>
        </p:txBody>
      </p:sp>
      <p:sp>
        <p:nvSpPr>
          <p:cNvPr id="5" name="Footer Placeholder 4">
            <a:extLst>
              <a:ext uri="{FF2B5EF4-FFF2-40B4-BE49-F238E27FC236}">
                <a16:creationId xmlns:a16="http://schemas.microsoft.com/office/drawing/2014/main" id="{EF9A7FB6-CABA-D644-87D9-D8BE82926B3B}"/>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F43B5195-425D-A642-BCC4-7E812C94B850}"/>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3462198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AED8-4ABB-344B-92B5-16817EC8C6C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5F46C4-C062-1341-AC9E-4BBA89094671}"/>
              </a:ext>
            </a:extLst>
          </p:cNvPr>
          <p:cNvSpPr>
            <a:spLocks noGrp="1"/>
          </p:cNvSpPr>
          <p:nvPr>
            <p:ph sz="half" idx="1"/>
          </p:nvPr>
        </p:nvSpPr>
        <p:spPr>
          <a:xfrm>
            <a:off x="838200" y="1825625"/>
            <a:ext cx="5181600" cy="435133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409BFD1-A474-ED4F-B2A8-53BB383D7FEC}"/>
              </a:ext>
            </a:extLst>
          </p:cNvPr>
          <p:cNvSpPr>
            <a:spLocks noGrp="1"/>
          </p:cNvSpPr>
          <p:nvPr>
            <p:ph sz="half" idx="2"/>
          </p:nvPr>
        </p:nvSpPr>
        <p:spPr>
          <a:xfrm>
            <a:off x="6172200" y="1825625"/>
            <a:ext cx="5181600" cy="435133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39FE8AE-C0B4-F84E-B546-487A2E071521}"/>
              </a:ext>
            </a:extLst>
          </p:cNvPr>
          <p:cNvSpPr>
            <a:spLocks noGrp="1"/>
          </p:cNvSpPr>
          <p:nvPr>
            <p:ph type="dt" sz="half" idx="10"/>
          </p:nvPr>
        </p:nvSpPr>
        <p:spPr/>
        <p:txBody>
          <a:bodyPr/>
          <a:lstStyle/>
          <a:p>
            <a:fld id="{3C0D9B32-88D8-4F43-9A31-ADE57A07483D}" type="datetime4">
              <a:rPr lang="en-GB" smtClean="0"/>
              <a:t>8 May 2024</a:t>
            </a:fld>
            <a:endParaRPr lang="en-GB"/>
          </a:p>
        </p:txBody>
      </p:sp>
      <p:sp>
        <p:nvSpPr>
          <p:cNvPr id="6" name="Footer Placeholder 5">
            <a:extLst>
              <a:ext uri="{FF2B5EF4-FFF2-40B4-BE49-F238E27FC236}">
                <a16:creationId xmlns:a16="http://schemas.microsoft.com/office/drawing/2014/main" id="{BDE082B9-E841-FC45-B7CF-51BA28EFD97A}"/>
              </a:ext>
            </a:extLst>
          </p:cNvPr>
          <p:cNvSpPr>
            <a:spLocks noGrp="1"/>
          </p:cNvSpPr>
          <p:nvPr>
            <p:ph type="ftr" sz="quarter" idx="11"/>
          </p:nvPr>
        </p:nvSpPr>
        <p:spPr/>
        <p:txBody>
          <a:bodyPr/>
          <a:lstStyle/>
          <a:p>
            <a:r>
              <a:rPr lang="en-GB"/>
              <a:t>The Trussell Trust - Together, we can end the need for food banks</a:t>
            </a:r>
          </a:p>
        </p:txBody>
      </p:sp>
      <p:sp>
        <p:nvSpPr>
          <p:cNvPr id="7" name="Slide Number Placeholder 6">
            <a:extLst>
              <a:ext uri="{FF2B5EF4-FFF2-40B4-BE49-F238E27FC236}">
                <a16:creationId xmlns:a16="http://schemas.microsoft.com/office/drawing/2014/main" id="{754C799E-228D-7C4C-9173-3AC29F2952A5}"/>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3734864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7C2F1-D4AF-AD43-AA0F-98F95265A29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E4A1C91-2E90-5140-BF50-C4EF8699534B}"/>
              </a:ext>
            </a:extLst>
          </p:cNvPr>
          <p:cNvSpPr>
            <a:spLocks noGrp="1"/>
          </p:cNvSpPr>
          <p:nvPr>
            <p:ph type="body" idx="1"/>
          </p:nvPr>
        </p:nvSpPr>
        <p:spPr>
          <a:xfrm>
            <a:off x="839788" y="1681163"/>
            <a:ext cx="5157787" cy="823912"/>
          </a:xfrm>
        </p:spPr>
        <p:txBody>
          <a:bodyPr anchor="b"/>
          <a:lstStyle>
            <a:lvl1pPr marL="0" indent="0">
              <a:buNone/>
              <a:defRPr sz="2400" b="0">
                <a:solidFill>
                  <a:srgbClr val="008751"/>
                </a:solidFill>
                <a:latin typeface="Eveleth Dot Light" panose="020B060402020202020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21BEDF2-DB86-D842-97F4-B6147AFA7288}"/>
              </a:ext>
            </a:extLst>
          </p:cNvPr>
          <p:cNvSpPr>
            <a:spLocks noGrp="1"/>
          </p:cNvSpPr>
          <p:nvPr>
            <p:ph sz="half" idx="2"/>
          </p:nvPr>
        </p:nvSpPr>
        <p:spPr>
          <a:xfrm>
            <a:off x="839788" y="2505075"/>
            <a:ext cx="5157787" cy="368458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878DCCE-8CC0-B940-B5D5-EFEBC0D25DD7}"/>
              </a:ext>
            </a:extLst>
          </p:cNvPr>
          <p:cNvSpPr>
            <a:spLocks noGrp="1"/>
          </p:cNvSpPr>
          <p:nvPr>
            <p:ph type="body" sz="quarter" idx="3"/>
          </p:nvPr>
        </p:nvSpPr>
        <p:spPr>
          <a:xfrm>
            <a:off x="6172200" y="1681163"/>
            <a:ext cx="5183188" cy="823912"/>
          </a:xfrm>
        </p:spPr>
        <p:txBody>
          <a:bodyPr anchor="b"/>
          <a:lstStyle>
            <a:lvl1pPr marL="0" indent="0">
              <a:buNone/>
              <a:defRPr sz="2400" b="0">
                <a:solidFill>
                  <a:srgbClr val="008751"/>
                </a:solidFill>
                <a:latin typeface="Eveleth Dot Light" panose="020B060402020202020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9F4D9D8-6C26-8E42-AB43-2DF66D0221CC}"/>
              </a:ext>
            </a:extLst>
          </p:cNvPr>
          <p:cNvSpPr>
            <a:spLocks noGrp="1"/>
          </p:cNvSpPr>
          <p:nvPr>
            <p:ph sz="quarter" idx="4"/>
          </p:nvPr>
        </p:nvSpPr>
        <p:spPr>
          <a:xfrm>
            <a:off x="6172200" y="2505075"/>
            <a:ext cx="5183188" cy="368458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92FADB-7D41-BD46-B983-D33DD2A90385}"/>
              </a:ext>
            </a:extLst>
          </p:cNvPr>
          <p:cNvSpPr>
            <a:spLocks noGrp="1"/>
          </p:cNvSpPr>
          <p:nvPr>
            <p:ph type="dt" sz="half" idx="10"/>
          </p:nvPr>
        </p:nvSpPr>
        <p:spPr/>
        <p:txBody>
          <a:bodyPr/>
          <a:lstStyle/>
          <a:p>
            <a:fld id="{37627400-B4E0-4158-BF5F-0E06EBA872F9}" type="datetime4">
              <a:rPr lang="en-GB" smtClean="0"/>
              <a:t>8 May 2024</a:t>
            </a:fld>
            <a:endParaRPr lang="en-GB"/>
          </a:p>
        </p:txBody>
      </p:sp>
      <p:sp>
        <p:nvSpPr>
          <p:cNvPr id="8" name="Footer Placeholder 7">
            <a:extLst>
              <a:ext uri="{FF2B5EF4-FFF2-40B4-BE49-F238E27FC236}">
                <a16:creationId xmlns:a16="http://schemas.microsoft.com/office/drawing/2014/main" id="{B54A7716-43FA-674E-B2BD-AE3B869824F6}"/>
              </a:ext>
            </a:extLst>
          </p:cNvPr>
          <p:cNvSpPr>
            <a:spLocks noGrp="1"/>
          </p:cNvSpPr>
          <p:nvPr>
            <p:ph type="ftr" sz="quarter" idx="11"/>
          </p:nvPr>
        </p:nvSpPr>
        <p:spPr/>
        <p:txBody>
          <a:bodyPr/>
          <a:lstStyle/>
          <a:p>
            <a:r>
              <a:rPr lang="en-GB"/>
              <a:t>The Trussell Trust - Together, we can end the need for food banks</a:t>
            </a:r>
          </a:p>
        </p:txBody>
      </p:sp>
      <p:sp>
        <p:nvSpPr>
          <p:cNvPr id="9" name="Slide Number Placeholder 8">
            <a:extLst>
              <a:ext uri="{FF2B5EF4-FFF2-40B4-BE49-F238E27FC236}">
                <a16:creationId xmlns:a16="http://schemas.microsoft.com/office/drawing/2014/main" id="{3FE73182-3EE3-EB43-9B49-41FE5F046DB7}"/>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951941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35EE-EBA0-CB43-A4EB-18FFF25821D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7881FE4-4EC4-834A-8CD6-97A5D3D1A854}"/>
              </a:ext>
            </a:extLst>
          </p:cNvPr>
          <p:cNvSpPr>
            <a:spLocks noGrp="1"/>
          </p:cNvSpPr>
          <p:nvPr>
            <p:ph type="dt" sz="half" idx="10"/>
          </p:nvPr>
        </p:nvSpPr>
        <p:spPr/>
        <p:txBody>
          <a:bodyPr/>
          <a:lstStyle/>
          <a:p>
            <a:fld id="{D0900674-2520-4288-A26E-B7326067A8C3}" type="datetime4">
              <a:rPr lang="en-GB" smtClean="0"/>
              <a:t>8 May 2024</a:t>
            </a:fld>
            <a:endParaRPr lang="en-GB"/>
          </a:p>
        </p:txBody>
      </p:sp>
      <p:sp>
        <p:nvSpPr>
          <p:cNvPr id="4" name="Footer Placeholder 3">
            <a:extLst>
              <a:ext uri="{FF2B5EF4-FFF2-40B4-BE49-F238E27FC236}">
                <a16:creationId xmlns:a16="http://schemas.microsoft.com/office/drawing/2014/main" id="{1FFF70A0-48B4-404B-9872-F700AD15B42B}"/>
              </a:ext>
            </a:extLst>
          </p:cNvPr>
          <p:cNvSpPr>
            <a:spLocks noGrp="1"/>
          </p:cNvSpPr>
          <p:nvPr>
            <p:ph type="ftr" sz="quarter" idx="11"/>
          </p:nvPr>
        </p:nvSpPr>
        <p:spPr/>
        <p:txBody>
          <a:bodyPr/>
          <a:lstStyle/>
          <a:p>
            <a:r>
              <a:rPr lang="en-GB"/>
              <a:t>The Trussell Trust - Together, we can end the need for food banks</a:t>
            </a:r>
          </a:p>
        </p:txBody>
      </p:sp>
      <p:sp>
        <p:nvSpPr>
          <p:cNvPr id="5" name="Slide Number Placeholder 4">
            <a:extLst>
              <a:ext uri="{FF2B5EF4-FFF2-40B4-BE49-F238E27FC236}">
                <a16:creationId xmlns:a16="http://schemas.microsoft.com/office/drawing/2014/main" id="{50F03A58-0BB3-FA41-BAF9-1B45847A0B11}"/>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2975368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641C91-42A9-1246-B60C-E7BC24427A75}"/>
              </a:ext>
            </a:extLst>
          </p:cNvPr>
          <p:cNvSpPr>
            <a:spLocks noGrp="1"/>
          </p:cNvSpPr>
          <p:nvPr>
            <p:ph type="dt" sz="half" idx="10"/>
          </p:nvPr>
        </p:nvSpPr>
        <p:spPr/>
        <p:txBody>
          <a:bodyPr/>
          <a:lstStyle/>
          <a:p>
            <a:fld id="{697609A0-F0D9-4D61-9546-AB62DADAD21C}" type="datetime4">
              <a:rPr lang="en-GB" smtClean="0"/>
              <a:t>8 May 2024</a:t>
            </a:fld>
            <a:endParaRPr lang="en-GB"/>
          </a:p>
        </p:txBody>
      </p:sp>
      <p:sp>
        <p:nvSpPr>
          <p:cNvPr id="3" name="Footer Placeholder 2">
            <a:extLst>
              <a:ext uri="{FF2B5EF4-FFF2-40B4-BE49-F238E27FC236}">
                <a16:creationId xmlns:a16="http://schemas.microsoft.com/office/drawing/2014/main" id="{7878AE35-C47B-B74E-BDC2-590302F12EE2}"/>
              </a:ext>
            </a:extLst>
          </p:cNvPr>
          <p:cNvSpPr>
            <a:spLocks noGrp="1"/>
          </p:cNvSpPr>
          <p:nvPr>
            <p:ph type="ftr" sz="quarter" idx="11"/>
          </p:nvPr>
        </p:nvSpPr>
        <p:spPr/>
        <p:txBody>
          <a:bodyPr/>
          <a:lstStyle/>
          <a:p>
            <a:r>
              <a:rPr lang="en-GB"/>
              <a:t>The Trussell Trust - Together, we can end the need for food banks</a:t>
            </a:r>
          </a:p>
        </p:txBody>
      </p:sp>
      <p:sp>
        <p:nvSpPr>
          <p:cNvPr id="4" name="Slide Number Placeholder 3">
            <a:extLst>
              <a:ext uri="{FF2B5EF4-FFF2-40B4-BE49-F238E27FC236}">
                <a16:creationId xmlns:a16="http://schemas.microsoft.com/office/drawing/2014/main" id="{0D8A718F-2536-4840-9733-472A27581C49}"/>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3343937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EB49-2959-034B-AF93-AAD070C53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8EFFC81-EDF4-9640-8BA0-C994402DAEE5}"/>
              </a:ext>
            </a:extLst>
          </p:cNvPr>
          <p:cNvSpPr>
            <a:spLocks noGrp="1"/>
          </p:cNvSpPr>
          <p:nvPr>
            <p:ph idx="1"/>
          </p:nvPr>
        </p:nvSpPr>
        <p:spPr>
          <a:xfrm>
            <a:off x="5183188" y="987425"/>
            <a:ext cx="6172200" cy="4873625"/>
          </a:xfrm>
        </p:spPr>
        <p:txBody>
          <a:bodyPr/>
          <a:lstStyle>
            <a:lvl1pPr>
              <a:defRPr sz="3200">
                <a:solidFill>
                  <a:schemeClr val="accent6"/>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C172F73-C98C-1D43-8410-F87580A07D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871A4E9-9798-2048-9E5A-3C21AE82B467}"/>
              </a:ext>
            </a:extLst>
          </p:cNvPr>
          <p:cNvSpPr>
            <a:spLocks noGrp="1"/>
          </p:cNvSpPr>
          <p:nvPr>
            <p:ph type="dt" sz="half" idx="10"/>
          </p:nvPr>
        </p:nvSpPr>
        <p:spPr/>
        <p:txBody>
          <a:bodyPr/>
          <a:lstStyle/>
          <a:p>
            <a:fld id="{D3748CD8-2524-4864-A1E1-E958F6CF121A}" type="datetime4">
              <a:rPr lang="en-GB" smtClean="0"/>
              <a:t>8 May 2024</a:t>
            </a:fld>
            <a:endParaRPr lang="en-GB"/>
          </a:p>
        </p:txBody>
      </p:sp>
      <p:sp>
        <p:nvSpPr>
          <p:cNvPr id="6" name="Footer Placeholder 5">
            <a:extLst>
              <a:ext uri="{FF2B5EF4-FFF2-40B4-BE49-F238E27FC236}">
                <a16:creationId xmlns:a16="http://schemas.microsoft.com/office/drawing/2014/main" id="{6B2402B5-1BC2-A848-8C24-BDA6A28A9159}"/>
              </a:ext>
            </a:extLst>
          </p:cNvPr>
          <p:cNvSpPr>
            <a:spLocks noGrp="1"/>
          </p:cNvSpPr>
          <p:nvPr>
            <p:ph type="ftr" sz="quarter" idx="11"/>
          </p:nvPr>
        </p:nvSpPr>
        <p:spPr/>
        <p:txBody>
          <a:bodyPr/>
          <a:lstStyle/>
          <a:p>
            <a:r>
              <a:rPr lang="en-GB"/>
              <a:t>The Trussell Trust - Together, we can end the need for food banks</a:t>
            </a:r>
          </a:p>
        </p:txBody>
      </p:sp>
      <p:sp>
        <p:nvSpPr>
          <p:cNvPr id="7" name="Slide Number Placeholder 6">
            <a:extLst>
              <a:ext uri="{FF2B5EF4-FFF2-40B4-BE49-F238E27FC236}">
                <a16:creationId xmlns:a16="http://schemas.microsoft.com/office/drawing/2014/main" id="{5381604D-5E86-4648-841F-F62186C30C93}"/>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4222811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1325D-4B39-7849-A7E8-433D56E98F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233DC38-9401-1F40-A279-25F85871CF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9325BC0-E7B0-0B44-8D11-AA5E57A7C8A7}"/>
              </a:ext>
            </a:extLst>
          </p:cNvPr>
          <p:cNvSpPr>
            <a:spLocks noGrp="1"/>
          </p:cNvSpPr>
          <p:nvPr>
            <p:ph type="body" sz="half" idx="2"/>
          </p:nvPr>
        </p:nvSpPr>
        <p:spPr>
          <a:xfrm>
            <a:off x="839788" y="2057400"/>
            <a:ext cx="3932237" cy="3811588"/>
          </a:xfrm>
        </p:spPr>
        <p:txBody>
          <a:bodyPr/>
          <a:lstStyle>
            <a:lvl1pPr marL="0" indent="0">
              <a:buNone/>
              <a:defRPr sz="16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6F8FCB0-DFE7-CC4B-A52B-10DD6650FEB3}"/>
              </a:ext>
            </a:extLst>
          </p:cNvPr>
          <p:cNvSpPr>
            <a:spLocks noGrp="1"/>
          </p:cNvSpPr>
          <p:nvPr>
            <p:ph type="dt" sz="half" idx="10"/>
          </p:nvPr>
        </p:nvSpPr>
        <p:spPr/>
        <p:txBody>
          <a:bodyPr/>
          <a:lstStyle/>
          <a:p>
            <a:fld id="{8D16FFB8-E152-46C1-984F-98CEC2A7FCAD}" type="datetime4">
              <a:rPr lang="en-GB" smtClean="0"/>
              <a:t>8 May 2024</a:t>
            </a:fld>
            <a:endParaRPr lang="en-GB"/>
          </a:p>
        </p:txBody>
      </p:sp>
      <p:sp>
        <p:nvSpPr>
          <p:cNvPr id="6" name="Footer Placeholder 5">
            <a:extLst>
              <a:ext uri="{FF2B5EF4-FFF2-40B4-BE49-F238E27FC236}">
                <a16:creationId xmlns:a16="http://schemas.microsoft.com/office/drawing/2014/main" id="{CFECECD0-D8D9-DA47-9D06-BF54B94BD689}"/>
              </a:ext>
            </a:extLst>
          </p:cNvPr>
          <p:cNvSpPr>
            <a:spLocks noGrp="1"/>
          </p:cNvSpPr>
          <p:nvPr>
            <p:ph type="ftr" sz="quarter" idx="11"/>
          </p:nvPr>
        </p:nvSpPr>
        <p:spPr/>
        <p:txBody>
          <a:bodyPr/>
          <a:lstStyle/>
          <a:p>
            <a:r>
              <a:rPr lang="en-GB"/>
              <a:t>The Trussell Trust - Together, we can end the need for food banks</a:t>
            </a:r>
          </a:p>
        </p:txBody>
      </p:sp>
      <p:sp>
        <p:nvSpPr>
          <p:cNvPr id="7" name="Slide Number Placeholder 6">
            <a:extLst>
              <a:ext uri="{FF2B5EF4-FFF2-40B4-BE49-F238E27FC236}">
                <a16:creationId xmlns:a16="http://schemas.microsoft.com/office/drawing/2014/main" id="{A87C5CC6-9CF7-AF4E-8516-38912CF5F092}"/>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25768287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1D91-D579-7B4F-B235-C366E53FB4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470B2C-4CD8-6B48-BF1F-838E1687243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B7455B-F4CA-4746-9194-0C7709CC752A}"/>
              </a:ext>
            </a:extLst>
          </p:cNvPr>
          <p:cNvSpPr>
            <a:spLocks noGrp="1"/>
          </p:cNvSpPr>
          <p:nvPr>
            <p:ph type="dt" sz="half" idx="10"/>
          </p:nvPr>
        </p:nvSpPr>
        <p:spPr/>
        <p:txBody>
          <a:bodyPr/>
          <a:lstStyle/>
          <a:p>
            <a:fld id="{AF6B858B-5E75-49D3-8763-C21EF107A38C}" type="datetime4">
              <a:rPr lang="en-GB" smtClean="0"/>
              <a:t>8 May 2024</a:t>
            </a:fld>
            <a:endParaRPr lang="en-GB"/>
          </a:p>
        </p:txBody>
      </p:sp>
      <p:sp>
        <p:nvSpPr>
          <p:cNvPr id="5" name="Footer Placeholder 4">
            <a:extLst>
              <a:ext uri="{FF2B5EF4-FFF2-40B4-BE49-F238E27FC236}">
                <a16:creationId xmlns:a16="http://schemas.microsoft.com/office/drawing/2014/main" id="{51B0F295-4D26-384C-AE8C-BD6DC9D3A4BB}"/>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F70ABFFA-2818-BD43-AE71-CCF4658F15FF}"/>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3526832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994343-75BF-4F4D-BC4A-B49DFEA89F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DE8C1AD-278D-464F-AD26-B1C17EA4F1F3}"/>
              </a:ext>
            </a:extLst>
          </p:cNvPr>
          <p:cNvSpPr>
            <a:spLocks noGrp="1"/>
          </p:cNvSpPr>
          <p:nvPr>
            <p:ph type="body" orient="vert" idx="1"/>
          </p:nvPr>
        </p:nvSpPr>
        <p:spPr>
          <a:xfrm>
            <a:off x="838200" y="365125"/>
            <a:ext cx="7734300" cy="5811838"/>
          </a:xfrm>
        </p:spPr>
        <p:txBody>
          <a:bodyPr vert="eaVert"/>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60EE6F-713F-E146-92D5-9179ECA71BC8}"/>
              </a:ext>
            </a:extLst>
          </p:cNvPr>
          <p:cNvSpPr>
            <a:spLocks noGrp="1"/>
          </p:cNvSpPr>
          <p:nvPr>
            <p:ph type="dt" sz="half" idx="10"/>
          </p:nvPr>
        </p:nvSpPr>
        <p:spPr/>
        <p:txBody>
          <a:bodyPr/>
          <a:lstStyle/>
          <a:p>
            <a:fld id="{16B520F7-F8B4-4C2B-B0CC-18B81B50C585}" type="datetime4">
              <a:rPr lang="en-GB" smtClean="0"/>
              <a:t>8 May 2024</a:t>
            </a:fld>
            <a:endParaRPr lang="en-GB"/>
          </a:p>
        </p:txBody>
      </p:sp>
      <p:sp>
        <p:nvSpPr>
          <p:cNvPr id="5" name="Footer Placeholder 4">
            <a:extLst>
              <a:ext uri="{FF2B5EF4-FFF2-40B4-BE49-F238E27FC236}">
                <a16:creationId xmlns:a16="http://schemas.microsoft.com/office/drawing/2014/main" id="{CD66F037-76AA-EA45-ACF5-A7725998530C}"/>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1C734265-4477-344C-806F-7F882D1BC7D0}"/>
              </a:ext>
            </a:extLst>
          </p:cNvPr>
          <p:cNvSpPr>
            <a:spLocks noGrp="1"/>
          </p:cNvSpPr>
          <p:nvPr>
            <p:ph type="sldNum" sz="quarter" idx="12"/>
          </p:nvPr>
        </p:nvSpPr>
        <p:spPr/>
        <p:txBody>
          <a:bodyPr/>
          <a:lstStyle/>
          <a:p>
            <a:fld id="{6CCA5A4E-9384-7B4E-A945-D252AB071471}" type="slidenum">
              <a:rPr lang="en-GB" smtClean="0"/>
              <a:t>‹#›</a:t>
            </a:fld>
            <a:endParaRPr lang="en-GB"/>
          </a:p>
        </p:txBody>
      </p:sp>
    </p:spTree>
    <p:extLst>
      <p:ext uri="{BB962C8B-B14F-4D97-AF65-F5344CB8AC3E}">
        <p14:creationId xmlns:p14="http://schemas.microsoft.com/office/powerpoint/2010/main" val="31085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D12473B-C88B-7846-ACE0-815AB04D3D2D}"/>
              </a:ext>
            </a:extLst>
          </p:cNvPr>
          <p:cNvPicPr>
            <a:picLocks/>
          </p:cNvPicPr>
          <p:nvPr userDrawn="1"/>
        </p:nvPicPr>
        <p:blipFill>
          <a:blip r:embed="rId21">
            <a:extLst>
              <a:ext uri="{96DAC541-7B7A-43D3-8B79-37D633B846F1}">
                <asvg:svgBlip xmlns:asvg="http://schemas.microsoft.com/office/drawing/2016/SVG/main" r:embed="rId22"/>
              </a:ext>
            </a:extLst>
          </a:blip>
          <a:stretch>
            <a:fillRect/>
          </a:stretch>
        </p:blipFill>
        <p:spPr>
          <a:xfrm>
            <a:off x="-15156" y="6138000"/>
            <a:ext cx="12243404" cy="720000"/>
          </a:xfrm>
          <a:prstGeom prst="rect">
            <a:avLst/>
          </a:prstGeom>
        </p:spPr>
      </p:pic>
      <p:sp>
        <p:nvSpPr>
          <p:cNvPr id="14" name="Oval 13">
            <a:extLst>
              <a:ext uri="{FF2B5EF4-FFF2-40B4-BE49-F238E27FC236}">
                <a16:creationId xmlns:a16="http://schemas.microsoft.com/office/drawing/2014/main" id="{C4CE0F8F-BD26-6D4A-A43B-6A188ED8EF4E}"/>
              </a:ext>
            </a:extLst>
          </p:cNvPr>
          <p:cNvSpPr/>
          <p:nvPr userDrawn="1"/>
        </p:nvSpPr>
        <p:spPr>
          <a:xfrm>
            <a:off x="10955383" y="6330223"/>
            <a:ext cx="398416" cy="3984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BA6D943-F6BB-FF4F-9A00-4E291B5F8E8C}"/>
              </a:ext>
            </a:extLst>
          </p:cNvPr>
          <p:cNvSpPr>
            <a:spLocks noGrp="1"/>
          </p:cNvSpPr>
          <p:nvPr>
            <p:ph type="title"/>
          </p:nvPr>
        </p:nvSpPr>
        <p:spPr>
          <a:xfrm>
            <a:off x="343672" y="556176"/>
            <a:ext cx="11513366" cy="1325563"/>
          </a:xfrm>
          <a:prstGeom prst="rect">
            <a:avLst/>
          </a:prstGeom>
          <a:noFill/>
          <a:ln>
            <a:noFill/>
          </a:ln>
        </p:spPr>
        <p:txBody>
          <a:bodyPr vert="horz" lIns="91440" tIns="45720" rIns="91440" bIns="45720" rtlCol="0" anchor="t">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68B1C7-D80D-1243-BB01-CB8E885F0734}"/>
              </a:ext>
            </a:extLst>
          </p:cNvPr>
          <p:cNvSpPr>
            <a:spLocks noGrp="1"/>
          </p:cNvSpPr>
          <p:nvPr>
            <p:ph type="body" idx="1"/>
          </p:nvPr>
        </p:nvSpPr>
        <p:spPr>
          <a:xfrm>
            <a:off x="343672" y="1868487"/>
            <a:ext cx="11513366" cy="4243432"/>
          </a:xfrm>
          <a:prstGeom prst="rect">
            <a:avLst/>
          </a:prstGeom>
        </p:spPr>
        <p:txBody>
          <a:bodyPr vert="horz" lIns="91440" tIns="45720" rIns="91440" bIns="45720" rtlCol="0">
            <a:norm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D9DDD2-DC46-4D4D-9092-CD2C5638CAC2}"/>
              </a:ext>
            </a:extLst>
          </p:cNvPr>
          <p:cNvSpPr>
            <a:spLocks noGrp="1"/>
          </p:cNvSpPr>
          <p:nvPr>
            <p:ph type="dt" sz="half" idx="2"/>
          </p:nvPr>
        </p:nvSpPr>
        <p:spPr>
          <a:xfrm>
            <a:off x="7508507" y="6356350"/>
            <a:ext cx="2743200" cy="365125"/>
          </a:xfrm>
          <a:prstGeom prst="rect">
            <a:avLst/>
          </a:prstGeom>
        </p:spPr>
        <p:txBody>
          <a:bodyPr vert="horz" lIns="91440" tIns="45720" rIns="91440" bIns="45720" rtlCol="0" anchor="ctr"/>
          <a:lstStyle>
            <a:lvl1pPr algn="r">
              <a:defRPr sz="1200">
                <a:solidFill>
                  <a:schemeClr val="bg2"/>
                </a:solidFill>
                <a:latin typeface="+mj-lt"/>
              </a:defRPr>
            </a:lvl1pPr>
          </a:lstStyle>
          <a:p>
            <a:fld id="{A33451A9-BE44-4D98-BF0E-7084953502D2}" type="datetime4">
              <a:rPr lang="en-GB" smtClean="0"/>
              <a:t>8 May 2024</a:t>
            </a:fld>
            <a:endParaRPr lang="en-GB"/>
          </a:p>
        </p:txBody>
      </p:sp>
      <p:sp>
        <p:nvSpPr>
          <p:cNvPr id="5" name="Footer Placeholder 4">
            <a:extLst>
              <a:ext uri="{FF2B5EF4-FFF2-40B4-BE49-F238E27FC236}">
                <a16:creationId xmlns:a16="http://schemas.microsoft.com/office/drawing/2014/main" id="{AA45DE9B-D802-1541-AC18-90191852C1F6}"/>
              </a:ext>
            </a:extLst>
          </p:cNvPr>
          <p:cNvSpPr>
            <a:spLocks noGrp="1"/>
          </p:cNvSpPr>
          <p:nvPr>
            <p:ph type="ftr" sz="quarter" idx="3"/>
          </p:nvPr>
        </p:nvSpPr>
        <p:spPr>
          <a:xfrm>
            <a:off x="1236617" y="6356350"/>
            <a:ext cx="5843452" cy="365125"/>
          </a:xfrm>
          <a:prstGeom prst="rect">
            <a:avLst/>
          </a:prstGeom>
        </p:spPr>
        <p:txBody>
          <a:bodyPr vert="horz" lIns="91440" tIns="45720" rIns="91440" bIns="45720" rtlCol="0" anchor="ctr"/>
          <a:lstStyle>
            <a:lvl1pPr algn="l">
              <a:defRPr sz="1200">
                <a:solidFill>
                  <a:schemeClr val="bg2"/>
                </a:solidFill>
                <a:latin typeface="+mj-lt"/>
              </a:defRPr>
            </a:lvl1p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A3CB2E3-08CB-0F4C-98A7-FAFD96E6ECC9}"/>
              </a:ext>
            </a:extLst>
          </p:cNvPr>
          <p:cNvSpPr>
            <a:spLocks noGrp="1"/>
          </p:cNvSpPr>
          <p:nvPr>
            <p:ph type="sldNum" sz="quarter" idx="4"/>
          </p:nvPr>
        </p:nvSpPr>
        <p:spPr>
          <a:xfrm>
            <a:off x="10955383" y="6356350"/>
            <a:ext cx="398416" cy="365125"/>
          </a:xfrm>
          <a:prstGeom prst="rect">
            <a:avLst/>
          </a:prstGeom>
        </p:spPr>
        <p:txBody>
          <a:bodyPr vert="horz" lIns="91440" tIns="45720" rIns="91440" bIns="45720" rtlCol="0" anchor="ctr"/>
          <a:lstStyle>
            <a:lvl1pPr algn="ctr">
              <a:defRPr sz="1200" b="1" i="0">
                <a:solidFill>
                  <a:schemeClr val="bg1"/>
                </a:solidFill>
                <a:latin typeface="Calibri" panose="020F0502020204030204" pitchFamily="34" charset="0"/>
                <a:cs typeface="Calibri" panose="020F0502020204030204" pitchFamily="34" charset="0"/>
              </a:defRPr>
            </a:lvl1pPr>
          </a:lstStyle>
          <a:p>
            <a:fld id="{6CCA5A4E-9384-7B4E-A945-D252AB071471}" type="slidenum">
              <a:rPr lang="en-GB" smtClean="0"/>
              <a:pPr/>
              <a:t>‹#›</a:t>
            </a:fld>
            <a:endParaRPr lang="en-GB"/>
          </a:p>
        </p:txBody>
      </p:sp>
      <p:sp>
        <p:nvSpPr>
          <p:cNvPr id="7" name="Rectangle 6">
            <a:extLst>
              <a:ext uri="{FF2B5EF4-FFF2-40B4-BE49-F238E27FC236}">
                <a16:creationId xmlns:a16="http://schemas.microsoft.com/office/drawing/2014/main" id="{F1C6FEBE-D033-C445-B852-D8305E49C4D1}"/>
              </a:ext>
            </a:extLst>
          </p:cNvPr>
          <p:cNvSpPr/>
          <p:nvPr userDrawn="1"/>
        </p:nvSpPr>
        <p:spPr>
          <a:xfrm>
            <a:off x="-2244053" y="8910155"/>
            <a:ext cx="849656" cy="369332"/>
          </a:xfrm>
          <a:prstGeom prst="rect">
            <a:avLst/>
          </a:prstGeom>
        </p:spPr>
        <p:txBody>
          <a:bodyPr wrap="none">
            <a:spAutoFit/>
          </a:bodyPr>
          <a:lstStyle/>
          <a:p>
            <a:r>
              <a:rPr lang="en-US"/>
              <a:t>Master</a:t>
            </a:r>
            <a:endParaRPr lang="en-GB"/>
          </a:p>
        </p:txBody>
      </p:sp>
      <p:pic>
        <p:nvPicPr>
          <p:cNvPr id="13" name="Picture 12">
            <a:extLst>
              <a:ext uri="{FF2B5EF4-FFF2-40B4-BE49-F238E27FC236}">
                <a16:creationId xmlns:a16="http://schemas.microsoft.com/office/drawing/2014/main" id="{C6D823B1-3426-F140-BBB4-C040A51E0448}"/>
              </a:ext>
            </a:extLst>
          </p:cNvPr>
          <p:cNvPicPr>
            <a:picLocks noChangeAspect="1"/>
          </p:cNvPicPr>
          <p:nvPr userDrawn="1"/>
        </p:nvPicPr>
        <p:blipFill>
          <a:blip r:embed="rId23" cstate="screen">
            <a:extLst>
              <a:ext uri="{28A0092B-C50C-407E-A947-70E740481C1C}">
                <a14:useLocalDpi xmlns:a14="http://schemas.microsoft.com/office/drawing/2010/main"/>
              </a:ext>
            </a:extLst>
          </a:blip>
          <a:stretch>
            <a:fillRect/>
          </a:stretch>
        </p:blipFill>
        <p:spPr>
          <a:xfrm>
            <a:off x="173029" y="6164080"/>
            <a:ext cx="638928" cy="667839"/>
          </a:xfrm>
          <a:prstGeom prst="rect">
            <a:avLst/>
          </a:prstGeom>
        </p:spPr>
      </p:pic>
    </p:spTree>
    <p:extLst>
      <p:ext uri="{BB962C8B-B14F-4D97-AF65-F5344CB8AC3E}">
        <p14:creationId xmlns:p14="http://schemas.microsoft.com/office/powerpoint/2010/main" val="3136541595"/>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72" r:id="rId3"/>
    <p:sldLayoutId id="2147483674" r:id="rId4"/>
    <p:sldLayoutId id="2147483675" r:id="rId5"/>
    <p:sldLayoutId id="2147483676" r:id="rId6"/>
    <p:sldLayoutId id="2147483677" r:id="rId7"/>
    <p:sldLayoutId id="2147483678" r:id="rId8"/>
    <p:sldLayoutId id="2147483679" r:id="rId9"/>
    <p:sldLayoutId id="2147483650" r:id="rId10"/>
    <p:sldLayoutId id="2147483651" r:id="rId11"/>
    <p:sldLayoutId id="2147483652" r:id="rId12"/>
    <p:sldLayoutId id="2147483653" r:id="rId13"/>
    <p:sldLayoutId id="2147483654" r:id="rId14"/>
    <p:sldLayoutId id="2147483655" r:id="rId15"/>
    <p:sldLayoutId id="2147483656" r:id="rId16"/>
    <p:sldLayoutId id="2147483657" r:id="rId17"/>
    <p:sldLayoutId id="2147483658" r:id="rId18"/>
    <p:sldLayoutId id="2147483659" r:id="rId19"/>
  </p:sldLayoutIdLst>
  <p:hf hdr="0"/>
  <p:txStyles>
    <p:titleStyle>
      <a:lvl1pPr algn="l" defTabSz="914400" rtl="0" eaLnBrk="1" latinLnBrk="0" hangingPunct="1">
        <a:lnSpc>
          <a:spcPct val="90000"/>
        </a:lnSpc>
        <a:spcBef>
          <a:spcPct val="0"/>
        </a:spcBef>
        <a:buNone/>
        <a:defRPr sz="3600" b="0" i="0" kern="1200">
          <a:solidFill>
            <a:srgbClr val="5BAC26"/>
          </a:solidFill>
          <a:latin typeface="Eveleth Dot Light" panose="02010A04020200000003"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21" userDrawn="1">
          <p15:clr>
            <a:srgbClr val="F26B43"/>
          </p15:clr>
        </p15:guide>
        <p15:guide id="4" orient="horz" pos="142" userDrawn="1">
          <p15:clr>
            <a:srgbClr val="F26B43"/>
          </p15:clr>
        </p15:guide>
        <p15:guide id="5" orient="horz" pos="4201" userDrawn="1">
          <p15:clr>
            <a:srgbClr val="F26B43"/>
          </p15:clr>
        </p15:guide>
        <p15:guide id="6" pos="7559" userDrawn="1">
          <p15:clr>
            <a:srgbClr val="F26B43"/>
          </p15:clr>
        </p15:guide>
        <p15:guide id="7" pos="211" userDrawn="1">
          <p15:clr>
            <a:srgbClr val="F26B43"/>
          </p15:clr>
        </p15:guide>
        <p15:guide id="8" pos="7469" userDrawn="1">
          <p15:clr>
            <a:srgbClr val="F26B43"/>
          </p15:clr>
        </p15:guide>
        <p15:guide id="9" orient="horz" pos="346" userDrawn="1">
          <p15:clr>
            <a:srgbClr val="F26B43"/>
          </p15:clr>
        </p15:guide>
        <p15:guide id="10" pos="4135" userDrawn="1">
          <p15:clr>
            <a:srgbClr val="F26B43"/>
          </p15:clr>
        </p15:guide>
        <p15:guide id="11" pos="354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A8C48FE-AD55-4F77-8A59-5479AC4060F9}"/>
              </a:ext>
            </a:extLst>
          </p:cNvPr>
          <p:cNvPicPr>
            <a:picLocks noGrp="1" noChangeAspect="1"/>
          </p:cNvPicPr>
          <p:nvPr>
            <p:ph type="pic" sz="quarter" idx="12"/>
          </p:nvPr>
        </p:nvPicPr>
        <p:blipFill>
          <a:blip r:embed="rId3" cstate="screen">
            <a:alphaModFix amt="20000"/>
            <a:extLst>
              <a:ext uri="{28A0092B-C50C-407E-A947-70E740481C1C}">
                <a14:useLocalDpi xmlns:a14="http://schemas.microsoft.com/office/drawing/2010/main"/>
              </a:ext>
            </a:extLst>
          </a:blip>
          <a:srcRect/>
          <a:stretch>
            <a:fillRect/>
          </a:stretch>
        </p:blipFill>
        <p:spPr>
          <a:xfrm>
            <a:off x="7331908" y="-1615"/>
            <a:ext cx="4860092" cy="6859615"/>
          </a:xfrm>
        </p:spPr>
      </p:pic>
      <p:sp>
        <p:nvSpPr>
          <p:cNvPr id="11" name="Title 10"/>
          <p:cNvSpPr>
            <a:spLocks noGrp="1"/>
          </p:cNvSpPr>
          <p:nvPr>
            <p:ph type="ctrTitle"/>
          </p:nvPr>
        </p:nvSpPr>
        <p:spPr/>
        <p:txBody>
          <a:bodyPr/>
          <a:lstStyle/>
          <a:p>
            <a:r>
              <a:rPr lang="en-GB" dirty="0"/>
              <a:t>End of year stats 2023/24</a:t>
            </a:r>
          </a:p>
        </p:txBody>
      </p:sp>
      <p:pic>
        <p:nvPicPr>
          <p:cNvPr id="3" name="Picture Placeholder 2" descr="A picture containing text, person, several&#10;&#10;Description automatically generated">
            <a:extLst>
              <a:ext uri="{FF2B5EF4-FFF2-40B4-BE49-F238E27FC236}">
                <a16:creationId xmlns:a16="http://schemas.microsoft.com/office/drawing/2014/main" id="{88DFCCCF-CB39-4526-BEC5-A851B04BE80A}"/>
              </a:ext>
            </a:extLst>
          </p:cNvPr>
          <p:cNvPicPr>
            <a:picLocks noGrp="1" noChangeAspect="1"/>
          </p:cNvPicPr>
          <p:nvPr>
            <p:ph type="pic" sz="quarter" idx="10"/>
          </p:nvPr>
        </p:nvPicPr>
        <p:blipFill>
          <a:blip r:embed="rId4"/>
          <a:srcRect l="16682" r="16682"/>
          <a:stretch>
            <a:fillRect/>
          </a:stretch>
        </p:blipFill>
        <p:spPr/>
      </p:pic>
      <p:sp>
        <p:nvSpPr>
          <p:cNvPr id="2" name="Subtitle 11">
            <a:extLst>
              <a:ext uri="{FF2B5EF4-FFF2-40B4-BE49-F238E27FC236}">
                <a16:creationId xmlns:a16="http://schemas.microsoft.com/office/drawing/2014/main" id="{2A9349D0-3146-4F59-11C4-FD65E7CFCE73}"/>
              </a:ext>
            </a:extLst>
          </p:cNvPr>
          <p:cNvSpPr>
            <a:spLocks noGrp="1"/>
          </p:cNvSpPr>
          <p:nvPr>
            <p:ph type="subTitle" idx="1"/>
          </p:nvPr>
        </p:nvSpPr>
        <p:spPr>
          <a:xfrm>
            <a:off x="334963" y="5157788"/>
            <a:ext cx="5761037" cy="842962"/>
          </a:xfrm>
        </p:spPr>
        <p:txBody>
          <a:bodyPr>
            <a:normAutofit lnSpcReduction="10000"/>
          </a:bodyPr>
          <a:lstStyle/>
          <a:p>
            <a:r>
              <a:rPr lang="en-GB"/>
              <a:t>Supporting you to share this data with key stakeholders</a:t>
            </a:r>
          </a:p>
        </p:txBody>
      </p:sp>
    </p:spTree>
    <p:extLst>
      <p:ext uri="{BB962C8B-B14F-4D97-AF65-F5344CB8AC3E}">
        <p14:creationId xmlns:p14="http://schemas.microsoft.com/office/powerpoint/2010/main" val="3700141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802" y="427487"/>
            <a:ext cx="11958198" cy="1325563"/>
          </a:xfrm>
        </p:spPr>
        <p:txBody>
          <a:bodyPr>
            <a:normAutofit/>
          </a:bodyPr>
          <a:lstStyle/>
          <a:p>
            <a:r>
              <a:rPr lang="en-GB" sz="4000" dirty="0">
                <a:latin typeface="Eveleth Dot Light"/>
              </a:rPr>
              <a:t>What’s in this resource</a:t>
            </a:r>
            <a:endParaRPr lang="en-GB" sz="4000" dirty="0"/>
          </a:p>
        </p:txBody>
      </p:sp>
      <p:sp>
        <p:nvSpPr>
          <p:cNvPr id="3" name="Content Placeholder 2"/>
          <p:cNvSpPr>
            <a:spLocks noGrp="1"/>
          </p:cNvSpPr>
          <p:nvPr>
            <p:ph idx="1"/>
          </p:nvPr>
        </p:nvSpPr>
        <p:spPr>
          <a:xfrm>
            <a:off x="339317" y="1753050"/>
            <a:ext cx="11513366" cy="3840046"/>
          </a:xfrm>
        </p:spPr>
        <p:txBody>
          <a:bodyPr vert="horz" lIns="91440" tIns="45720" rIns="91440" bIns="45720" rtlCol="0" anchor="t">
            <a:normAutofit/>
          </a:bodyPr>
          <a:lstStyle/>
          <a:p>
            <a:pPr marL="742950" indent="-742950">
              <a:lnSpc>
                <a:spcPct val="107000"/>
              </a:lnSpc>
              <a:buAutoNum type="arabicPeriod"/>
            </a:pPr>
            <a:r>
              <a:rPr lang="en-GB" sz="3600" dirty="0">
                <a:solidFill>
                  <a:schemeClr val="accent6"/>
                </a:solidFill>
              </a:rPr>
              <a:t>What the figures this year are telling us for the UK</a:t>
            </a:r>
            <a:endParaRPr lang="en-GB" sz="3600" dirty="0">
              <a:solidFill>
                <a:schemeClr val="accent6"/>
              </a:solidFill>
              <a:cs typeface="Calibri" panose="020F0502020204030204"/>
            </a:endParaRPr>
          </a:p>
          <a:p>
            <a:pPr marL="742950" indent="-742950">
              <a:lnSpc>
                <a:spcPct val="107000"/>
              </a:lnSpc>
              <a:buAutoNum type="arabicPeriod"/>
            </a:pPr>
            <a:r>
              <a:rPr lang="en-GB" sz="3600" dirty="0">
                <a:solidFill>
                  <a:schemeClr val="accent6"/>
                </a:solidFill>
              </a:rPr>
              <a:t>What the figures are telling us for nations and regions</a:t>
            </a:r>
            <a:endParaRPr lang="en-GB" sz="3600" dirty="0">
              <a:solidFill>
                <a:schemeClr val="accent6"/>
              </a:solidFill>
              <a:cs typeface="Calibri" panose="020F0502020204030204"/>
            </a:endParaRPr>
          </a:p>
          <a:p>
            <a:pPr marL="742950" indent="-742950">
              <a:lnSpc>
                <a:spcPct val="107000"/>
              </a:lnSpc>
              <a:buAutoNum type="arabicPeriod"/>
            </a:pPr>
            <a:r>
              <a:rPr lang="en-GB" sz="3600" dirty="0">
                <a:solidFill>
                  <a:schemeClr val="accent6"/>
                </a:solidFill>
              </a:rPr>
              <a:t>Key policy asks: what we think needs to be done</a:t>
            </a:r>
            <a:endParaRPr lang="en-GB" sz="3600" dirty="0">
              <a:solidFill>
                <a:schemeClr val="accent6"/>
              </a:solidFill>
              <a:cs typeface="Calibri" panose="020F0502020204030204"/>
            </a:endParaRPr>
          </a:p>
          <a:p>
            <a:pPr marL="742950" indent="-742950">
              <a:lnSpc>
                <a:spcPct val="107000"/>
              </a:lnSpc>
              <a:buFont typeface="Arial" panose="020B0604020202020204" pitchFamily="34" charset="0"/>
              <a:buAutoNum type="arabicPeriod"/>
            </a:pPr>
            <a:r>
              <a:rPr lang="en-GB" sz="3600" dirty="0">
                <a:solidFill>
                  <a:schemeClr val="accent6"/>
                </a:solidFill>
                <a:cs typeface="Calibri" panose="020F0502020204030204"/>
              </a:rPr>
              <a:t>Template slides to help you communicate the data in your area</a:t>
            </a:r>
          </a:p>
          <a:p>
            <a:pPr marL="742950" indent="-742950">
              <a:lnSpc>
                <a:spcPct val="107000"/>
              </a:lnSpc>
              <a:buAutoNum type="arabicPeriod"/>
            </a:pPr>
            <a:endParaRPr lang="en-GB" sz="3600" dirty="0">
              <a:solidFill>
                <a:schemeClr val="accent6"/>
              </a:solidFill>
              <a:cs typeface="Calibri" panose="020F0502020204030204"/>
            </a:endParaRP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2</a:t>
            </a:fld>
            <a:endParaRPr lang="en-GB"/>
          </a:p>
        </p:txBody>
      </p:sp>
    </p:spTree>
    <p:extLst>
      <p:ext uri="{BB962C8B-B14F-4D97-AF65-F5344CB8AC3E}">
        <p14:creationId xmlns:p14="http://schemas.microsoft.com/office/powerpoint/2010/main" val="2296258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D9D-9293-D444-8C44-64B22455C775}"/>
              </a:ext>
            </a:extLst>
          </p:cNvPr>
          <p:cNvSpPr>
            <a:spLocks noGrp="1"/>
          </p:cNvSpPr>
          <p:nvPr>
            <p:ph type="title"/>
          </p:nvPr>
        </p:nvSpPr>
        <p:spPr>
          <a:xfrm>
            <a:off x="862354" y="1839812"/>
            <a:ext cx="10128104" cy="842785"/>
          </a:xfrm>
        </p:spPr>
        <p:txBody>
          <a:bodyPr>
            <a:noAutofit/>
          </a:bodyPr>
          <a:lstStyle/>
          <a:p>
            <a:r>
              <a:rPr lang="en-GB" sz="7200" spc="-100"/>
              <a:t>What the figures are telling us</a:t>
            </a:r>
            <a:endParaRPr lang="en-GB" sz="7200" spc="-100">
              <a:latin typeface="Eveleth Clean Thin" panose="02010304020200000003" pitchFamily="2" charset="77"/>
            </a:endParaRPr>
          </a:p>
        </p:txBody>
      </p:sp>
    </p:spTree>
    <p:extLst>
      <p:ext uri="{BB962C8B-B14F-4D97-AF65-F5344CB8AC3E}">
        <p14:creationId xmlns:p14="http://schemas.microsoft.com/office/powerpoint/2010/main" val="2901803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a:t>Busiest ever period</a:t>
            </a: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4</a:t>
            </a:fld>
            <a:endParaRPr lang="en-GB"/>
          </a:p>
        </p:txBody>
      </p:sp>
      <p:graphicFrame>
        <p:nvGraphicFramePr>
          <p:cNvPr id="3" name="Chart 2">
            <a:extLst>
              <a:ext uri="{FF2B5EF4-FFF2-40B4-BE49-F238E27FC236}">
                <a16:creationId xmlns:a16="http://schemas.microsoft.com/office/drawing/2014/main" id="{4EEAD11B-7CD8-FDEA-510B-78E079E00DFE}"/>
              </a:ext>
            </a:extLst>
          </p:cNvPr>
          <p:cNvGraphicFramePr/>
          <p:nvPr>
            <p:extLst>
              <p:ext uri="{D42A27DB-BD31-4B8C-83A1-F6EECF244321}">
                <p14:modId xmlns:p14="http://schemas.microsoft.com/office/powerpoint/2010/main" val="801229229"/>
              </p:ext>
            </p:extLst>
          </p:nvPr>
        </p:nvGraphicFramePr>
        <p:xfrm>
          <a:off x="957943" y="1068476"/>
          <a:ext cx="9184906" cy="501731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251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8023-EC61-F757-10E8-E13999A15CEE}"/>
              </a:ext>
            </a:extLst>
          </p:cNvPr>
          <p:cNvSpPr>
            <a:spLocks noGrp="1"/>
          </p:cNvSpPr>
          <p:nvPr>
            <p:ph type="title"/>
          </p:nvPr>
        </p:nvSpPr>
        <p:spPr/>
        <p:txBody>
          <a:bodyPr>
            <a:normAutofit/>
          </a:bodyPr>
          <a:lstStyle/>
          <a:p>
            <a:r>
              <a:rPr lang="en-GB" dirty="0"/>
              <a:t>Majority of support provided by food banks for families with children</a:t>
            </a:r>
          </a:p>
        </p:txBody>
      </p:sp>
      <p:sp>
        <p:nvSpPr>
          <p:cNvPr id="3" name="Content Placeholder 2">
            <a:extLst>
              <a:ext uri="{FF2B5EF4-FFF2-40B4-BE49-F238E27FC236}">
                <a16:creationId xmlns:a16="http://schemas.microsoft.com/office/drawing/2014/main" id="{C2FA28B1-1084-121E-5D93-6FFDAC8B4055}"/>
              </a:ext>
            </a:extLst>
          </p:cNvPr>
          <p:cNvSpPr>
            <a:spLocks noGrp="1"/>
          </p:cNvSpPr>
          <p:nvPr>
            <p:ph idx="1"/>
          </p:nvPr>
        </p:nvSpPr>
        <p:spPr/>
        <p:txBody>
          <a:bodyPr/>
          <a:lstStyle/>
          <a:p>
            <a:pPr marL="0" indent="0">
              <a:buNone/>
            </a:pPr>
            <a:endParaRPr lang="en-GB" sz="2400" dirty="0">
              <a:solidFill>
                <a:schemeClr val="accent6"/>
              </a:solidFill>
            </a:endParaRPr>
          </a:p>
          <a:p>
            <a:pPr marL="0" indent="0">
              <a:buNone/>
            </a:pPr>
            <a:r>
              <a:rPr lang="en-GB" sz="2400" dirty="0">
                <a:solidFill>
                  <a:schemeClr val="accent1"/>
                </a:solidFill>
                <a:latin typeface="Eveleth Dot Light"/>
              </a:rPr>
              <a:t>Overall two thirds (65%) </a:t>
            </a:r>
            <a:r>
              <a:rPr lang="en-GB" sz="2400" dirty="0">
                <a:solidFill>
                  <a:schemeClr val="accent6"/>
                </a:solidFill>
              </a:rPr>
              <a:t>of the support provided by food banks in the previous year was for families with children. </a:t>
            </a:r>
          </a:p>
          <a:p>
            <a:pPr marL="0" indent="0">
              <a:buNone/>
            </a:pPr>
            <a:endParaRPr lang="en-GB" sz="2400" dirty="0">
              <a:solidFill>
                <a:schemeClr val="accent6"/>
              </a:solidFill>
            </a:endParaRPr>
          </a:p>
          <a:p>
            <a:pPr marL="0" indent="0">
              <a:buNone/>
            </a:pPr>
            <a:r>
              <a:rPr lang="en-GB" sz="2400" dirty="0">
                <a:solidFill>
                  <a:schemeClr val="accent6"/>
                </a:solidFill>
              </a:rPr>
              <a:t>Since 2018/19 the number of parcels for families with three or more children has </a:t>
            </a:r>
            <a:r>
              <a:rPr lang="en-GB" sz="2400" dirty="0">
                <a:solidFill>
                  <a:schemeClr val="accent1"/>
                </a:solidFill>
                <a:latin typeface="Eveleth Dot Light"/>
              </a:rPr>
              <a:t>more than doubled </a:t>
            </a:r>
            <a:r>
              <a:rPr lang="en-GB" sz="2400" dirty="0">
                <a:solidFill>
                  <a:schemeClr val="accent6"/>
                </a:solidFill>
              </a:rPr>
              <a:t>(106% increase) compared to an 86% increase for families living without any children. </a:t>
            </a:r>
            <a:endParaRPr lang="en-GB" dirty="0"/>
          </a:p>
        </p:txBody>
      </p:sp>
      <p:sp>
        <p:nvSpPr>
          <p:cNvPr id="4" name="Date Placeholder 3">
            <a:extLst>
              <a:ext uri="{FF2B5EF4-FFF2-40B4-BE49-F238E27FC236}">
                <a16:creationId xmlns:a16="http://schemas.microsoft.com/office/drawing/2014/main" id="{555113AA-6B45-10B3-9657-C5461322A0C7}"/>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A94A72E3-85C9-0672-B626-E3BCD9FE063D}"/>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7D8BF7B7-108E-824B-C75A-DD0FD274F584}"/>
              </a:ext>
            </a:extLst>
          </p:cNvPr>
          <p:cNvSpPr>
            <a:spLocks noGrp="1"/>
          </p:cNvSpPr>
          <p:nvPr>
            <p:ph type="sldNum" sz="quarter" idx="12"/>
          </p:nvPr>
        </p:nvSpPr>
        <p:spPr/>
        <p:txBody>
          <a:bodyPr/>
          <a:lstStyle/>
          <a:p>
            <a:fld id="{6CCA5A4E-9384-7B4E-A945-D252AB071471}" type="slidenum">
              <a:rPr lang="en-GB" smtClean="0"/>
              <a:t>5</a:t>
            </a:fld>
            <a:endParaRPr lang="en-GB"/>
          </a:p>
        </p:txBody>
      </p:sp>
    </p:spTree>
    <p:extLst>
      <p:ext uri="{BB962C8B-B14F-4D97-AF65-F5344CB8AC3E}">
        <p14:creationId xmlns:p14="http://schemas.microsoft.com/office/powerpoint/2010/main" val="4216577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8023-EC61-F757-10E8-E13999A15CEE}"/>
              </a:ext>
            </a:extLst>
          </p:cNvPr>
          <p:cNvSpPr>
            <a:spLocks noGrp="1"/>
          </p:cNvSpPr>
          <p:nvPr>
            <p:ph type="title"/>
          </p:nvPr>
        </p:nvSpPr>
        <p:spPr/>
        <p:txBody>
          <a:bodyPr>
            <a:normAutofit/>
          </a:bodyPr>
          <a:lstStyle/>
          <a:p>
            <a:r>
              <a:rPr lang="en-GB" dirty="0"/>
              <a:t>Worrying emerging trend of pensioners turning to food banks</a:t>
            </a:r>
          </a:p>
        </p:txBody>
      </p:sp>
      <p:sp>
        <p:nvSpPr>
          <p:cNvPr id="3" name="Content Placeholder 2">
            <a:extLst>
              <a:ext uri="{FF2B5EF4-FFF2-40B4-BE49-F238E27FC236}">
                <a16:creationId xmlns:a16="http://schemas.microsoft.com/office/drawing/2014/main" id="{C2FA28B1-1084-121E-5D93-6FFDAC8B4055}"/>
              </a:ext>
            </a:extLst>
          </p:cNvPr>
          <p:cNvSpPr>
            <a:spLocks noGrp="1"/>
          </p:cNvSpPr>
          <p:nvPr>
            <p:ph idx="1"/>
          </p:nvPr>
        </p:nvSpPr>
        <p:spPr>
          <a:xfrm>
            <a:off x="343672" y="1894901"/>
            <a:ext cx="11513366" cy="4243432"/>
          </a:xfrm>
        </p:spPr>
        <p:txBody>
          <a:bodyPr>
            <a:normAutofit/>
          </a:bodyPr>
          <a:lstStyle/>
          <a:p>
            <a:pPr marL="0" indent="0">
              <a:buNone/>
            </a:pPr>
            <a:r>
              <a:rPr lang="en-GB" sz="2400" dirty="0">
                <a:solidFill>
                  <a:schemeClr val="accent6"/>
                </a:solidFill>
              </a:rPr>
              <a:t>In the last year just 3% of parcels were provided to people aged 65+ despite them accounting for 19% of the UK population. </a:t>
            </a:r>
          </a:p>
          <a:p>
            <a:pPr marL="0" indent="0">
              <a:buNone/>
            </a:pPr>
            <a:r>
              <a:rPr lang="en-GB" sz="2400" dirty="0">
                <a:solidFill>
                  <a:schemeClr val="accent6"/>
                </a:solidFill>
              </a:rPr>
              <a:t>However, poverty rates amongst pensioners have started to grow in recent years, and there is a concerning emerging trend of pension age households needing to turn to food banks. </a:t>
            </a:r>
          </a:p>
        </p:txBody>
      </p:sp>
      <p:sp>
        <p:nvSpPr>
          <p:cNvPr id="4" name="Date Placeholder 3">
            <a:extLst>
              <a:ext uri="{FF2B5EF4-FFF2-40B4-BE49-F238E27FC236}">
                <a16:creationId xmlns:a16="http://schemas.microsoft.com/office/drawing/2014/main" id="{555113AA-6B45-10B3-9657-C5461322A0C7}"/>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A94A72E3-85C9-0672-B626-E3BCD9FE063D}"/>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7D8BF7B7-108E-824B-C75A-DD0FD274F584}"/>
              </a:ext>
            </a:extLst>
          </p:cNvPr>
          <p:cNvSpPr>
            <a:spLocks noGrp="1"/>
          </p:cNvSpPr>
          <p:nvPr>
            <p:ph type="sldNum" sz="quarter" idx="12"/>
          </p:nvPr>
        </p:nvSpPr>
        <p:spPr/>
        <p:txBody>
          <a:bodyPr/>
          <a:lstStyle/>
          <a:p>
            <a:fld id="{6CCA5A4E-9384-7B4E-A945-D252AB071471}" type="slidenum">
              <a:rPr lang="en-GB" smtClean="0"/>
              <a:t>6</a:t>
            </a:fld>
            <a:endParaRPr lang="en-GB"/>
          </a:p>
        </p:txBody>
      </p:sp>
      <p:graphicFrame>
        <p:nvGraphicFramePr>
          <p:cNvPr id="12" name="Chart 11">
            <a:extLst>
              <a:ext uri="{FF2B5EF4-FFF2-40B4-BE49-F238E27FC236}">
                <a16:creationId xmlns:a16="http://schemas.microsoft.com/office/drawing/2014/main" id="{8F7227FC-78A5-60F7-1D1B-27B99EAC373A}"/>
              </a:ext>
            </a:extLst>
          </p:cNvPr>
          <p:cNvGraphicFramePr/>
          <p:nvPr>
            <p:extLst>
              <p:ext uri="{D42A27DB-BD31-4B8C-83A1-F6EECF244321}">
                <p14:modId xmlns:p14="http://schemas.microsoft.com/office/powerpoint/2010/main" val="3850227369"/>
              </p:ext>
            </p:extLst>
          </p:nvPr>
        </p:nvGraphicFramePr>
        <p:xfrm>
          <a:off x="2032000" y="3147933"/>
          <a:ext cx="8128000" cy="29903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2436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317" y="327920"/>
            <a:ext cx="11513366" cy="1325563"/>
          </a:xfrm>
        </p:spPr>
        <p:txBody>
          <a:bodyPr>
            <a:normAutofit fontScale="90000"/>
          </a:bodyPr>
          <a:lstStyle/>
          <a:p>
            <a:pPr lvl="0">
              <a:lnSpc>
                <a:spcPct val="107000"/>
              </a:lnSpc>
              <a:spcAft>
                <a:spcPts val="800"/>
              </a:spcAft>
            </a:pPr>
            <a:r>
              <a:rPr lang="en-GB" sz="4000" b="1" dirty="0">
                <a:solidFill>
                  <a:srgbClr val="70AD47"/>
                </a:solidFill>
                <a:latin typeface="Eveleth Dot Light" panose="020B0604020202020204" charset="0"/>
                <a:ea typeface="Calibri" panose="020F0502020204030204" pitchFamily="34" charset="0"/>
                <a:cs typeface="Calibri" panose="020F0502020204030204" pitchFamily="34" charset="0"/>
              </a:rPr>
              <a:t>Cost of living payments correlate with a reduction in need</a:t>
            </a:r>
            <a:br>
              <a:rPr lang="en-GB" sz="1800" dirty="0">
                <a:effectLst/>
                <a:latin typeface="Eveleth Dot Light" panose="020B0604020202020204" charset="0"/>
                <a:ea typeface="Calibri" panose="020F0502020204030204" pitchFamily="34" charset="0"/>
                <a:cs typeface="Calibri" panose="020F0502020204030204" pitchFamily="34" charset="0"/>
              </a:rPr>
            </a:br>
            <a:endParaRPr lang="en-GB" sz="1800" dirty="0">
              <a:effectLst/>
              <a:latin typeface="Eveleth Dot Light" panose="020B0604020202020204" charset="0"/>
              <a:ea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7</a:t>
            </a:fld>
            <a:endParaRPr lang="en-GB"/>
          </a:p>
        </p:txBody>
      </p:sp>
      <p:sp>
        <p:nvSpPr>
          <p:cNvPr id="3" name="Content Placeholder 2">
            <a:extLst>
              <a:ext uri="{FF2B5EF4-FFF2-40B4-BE49-F238E27FC236}">
                <a16:creationId xmlns:a16="http://schemas.microsoft.com/office/drawing/2014/main" id="{96A07EF8-70B9-3A16-D743-137AFDC90270}"/>
              </a:ext>
            </a:extLst>
          </p:cNvPr>
          <p:cNvSpPr>
            <a:spLocks noGrp="1"/>
          </p:cNvSpPr>
          <p:nvPr>
            <p:ph idx="1"/>
          </p:nvPr>
        </p:nvSpPr>
        <p:spPr>
          <a:xfrm>
            <a:off x="343672" y="1868487"/>
            <a:ext cx="11513366" cy="4243432"/>
          </a:xfrm>
        </p:spPr>
        <p:txBody>
          <a:bodyPr>
            <a:normAutofit lnSpcReduction="10000"/>
          </a:bodyPr>
          <a:lstStyle/>
          <a:p>
            <a:pPr marL="0" indent="0">
              <a:buNone/>
            </a:pPr>
            <a:endParaRPr lang="en-GB" sz="2400" dirty="0">
              <a:solidFill>
                <a:schemeClr val="accent6"/>
              </a:solidFill>
            </a:endParaRPr>
          </a:p>
          <a:p>
            <a:pPr marL="0" indent="0">
              <a:buNone/>
            </a:pPr>
            <a:r>
              <a:rPr lang="en-GB" sz="2400" dirty="0">
                <a:solidFill>
                  <a:schemeClr val="accent1"/>
                </a:solidFill>
                <a:latin typeface="Eveleth Dot Light"/>
              </a:rPr>
              <a:t>Three significant</a:t>
            </a:r>
            <a:r>
              <a:rPr lang="en-GB" sz="2400" dirty="0">
                <a:solidFill>
                  <a:schemeClr val="accent6"/>
                </a:solidFill>
                <a:latin typeface="Eveleth Dot Light"/>
              </a:rPr>
              <a:t>  </a:t>
            </a:r>
            <a:r>
              <a:rPr lang="en-GB" sz="2400" dirty="0">
                <a:solidFill>
                  <a:schemeClr val="accent6"/>
                </a:solidFill>
              </a:rPr>
              <a:t>Cost of Living Payments in the last year all had a significant but short term impact of the need for food banks. </a:t>
            </a:r>
          </a:p>
          <a:p>
            <a:pPr marL="0" indent="0">
              <a:buNone/>
            </a:pPr>
            <a:endParaRPr lang="en-GB" sz="2400" dirty="0">
              <a:solidFill>
                <a:schemeClr val="accent6"/>
              </a:solidFill>
            </a:endParaRPr>
          </a:p>
          <a:p>
            <a:pPr>
              <a:buFontTx/>
              <a:buChar char="-"/>
            </a:pPr>
            <a:r>
              <a:rPr lang="en-GB" sz="2400" dirty="0">
                <a:solidFill>
                  <a:schemeClr val="accent6"/>
                </a:solidFill>
              </a:rPr>
              <a:t>Spring payment saw a 16% decrease compared to the previous weeks but in the weeks following distribution parcels distributed increased by 11%. </a:t>
            </a:r>
          </a:p>
          <a:p>
            <a:pPr>
              <a:buFontTx/>
              <a:buChar char="-"/>
            </a:pPr>
            <a:r>
              <a:rPr lang="en-GB" sz="2400" dirty="0">
                <a:solidFill>
                  <a:schemeClr val="accent6"/>
                </a:solidFill>
              </a:rPr>
              <a:t>Autumn payment saw a 14% decrease compared to the previous weeks but in the weeks following distribution parcels distributed increased by 31% as food banks went into winter.</a:t>
            </a:r>
          </a:p>
          <a:p>
            <a:pPr>
              <a:buFontTx/>
              <a:buChar char="-"/>
            </a:pPr>
            <a:r>
              <a:rPr lang="en-GB" sz="2400" dirty="0">
                <a:solidFill>
                  <a:schemeClr val="accent6"/>
                </a:solidFill>
              </a:rPr>
              <a:t>Winter payment saw a 24% decrease compared to the previous weeks but in the weeks following distribution parcels distributed increased by 15%. </a:t>
            </a:r>
          </a:p>
          <a:p>
            <a:pPr>
              <a:buFontTx/>
              <a:buChar char="-"/>
            </a:pPr>
            <a:endParaRPr lang="en-GB" sz="2400" dirty="0">
              <a:solidFill>
                <a:schemeClr val="accent6"/>
              </a:solidFill>
            </a:endParaRPr>
          </a:p>
          <a:p>
            <a:pPr>
              <a:buFontTx/>
              <a:buChar char="-"/>
            </a:pPr>
            <a:endParaRPr lang="en-GB" sz="2400" dirty="0">
              <a:solidFill>
                <a:schemeClr val="accent6"/>
              </a:solidFill>
            </a:endParaRPr>
          </a:p>
        </p:txBody>
      </p:sp>
    </p:spTree>
    <p:extLst>
      <p:ext uri="{BB962C8B-B14F-4D97-AF65-F5344CB8AC3E}">
        <p14:creationId xmlns:p14="http://schemas.microsoft.com/office/powerpoint/2010/main" val="268231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2"/>
          </p:nvPr>
        </p:nvSpPr>
        <p:spPr/>
        <p:txBody>
          <a:bodyPr/>
          <a:lstStyle/>
          <a:p>
            <a:endParaRPr lang="en-GB"/>
          </a:p>
        </p:txBody>
      </p:sp>
      <p:sp>
        <p:nvSpPr>
          <p:cNvPr id="3" name="Subtitle 2"/>
          <p:cNvSpPr>
            <a:spLocks noGrp="1"/>
          </p:cNvSpPr>
          <p:nvPr>
            <p:ph type="subTitle" idx="1"/>
          </p:nvPr>
        </p:nvSpPr>
        <p:spPr>
          <a:xfrm>
            <a:off x="6096001" y="1685925"/>
            <a:ext cx="5188772" cy="3140908"/>
          </a:xfrm>
        </p:spPr>
        <p:txBody>
          <a:bodyPr/>
          <a:lstStyle/>
          <a:p>
            <a:r>
              <a:rPr lang="en-GB" i="1" dirty="0">
                <a:effectLst/>
                <a:latin typeface="Calibri" panose="020F0502020204030204" pitchFamily="34" charset="0"/>
                <a:ea typeface="Calibri" panose="020F0502020204030204" pitchFamily="34" charset="0"/>
                <a:cs typeface="Arial" panose="020B0604020202020204" pitchFamily="34" charset="0"/>
              </a:rPr>
              <a:t>“It feels like since COVID we haven't stopped. It’s been like go, go </a:t>
            </a:r>
            <a:r>
              <a:rPr lang="en-GB" i="1" dirty="0" err="1">
                <a:effectLst/>
                <a:latin typeface="Calibri" panose="020F0502020204030204" pitchFamily="34" charset="0"/>
                <a:ea typeface="Calibri" panose="020F0502020204030204" pitchFamily="34" charset="0"/>
                <a:cs typeface="Arial" panose="020B0604020202020204" pitchFamily="34" charset="0"/>
              </a:rPr>
              <a:t>go</a:t>
            </a:r>
            <a:r>
              <a:rPr lang="en-GB" i="1" dirty="0">
                <a:effectLst/>
                <a:latin typeface="Calibri" panose="020F0502020204030204" pitchFamily="34" charset="0"/>
                <a:ea typeface="Calibri" panose="020F0502020204030204" pitchFamily="34" charset="0"/>
                <a:cs typeface="Arial" panose="020B0604020202020204" pitchFamily="34" charset="0"/>
              </a:rPr>
              <a:t>, go, go, go, go, go, go . And it's been getting busier and busier with the cost of living crisis increasing, increasing people's need.”</a:t>
            </a:r>
          </a:p>
        </p:txBody>
      </p:sp>
      <p:sp>
        <p:nvSpPr>
          <p:cNvPr id="5" name="Content Placeholder 4"/>
          <p:cNvSpPr>
            <a:spLocks noGrp="1"/>
          </p:cNvSpPr>
          <p:nvPr>
            <p:ph sz="quarter" idx="13"/>
          </p:nvPr>
        </p:nvSpPr>
        <p:spPr>
          <a:xfrm>
            <a:off x="6096000" y="5172074"/>
            <a:ext cx="4860092" cy="1408607"/>
          </a:xfrm>
        </p:spPr>
        <p:txBody>
          <a:bodyPr>
            <a:normAutofit/>
          </a:bodyPr>
          <a:lstStyle/>
          <a:p>
            <a:r>
              <a:rPr lang="en-GB" sz="2400" dirty="0">
                <a:solidFill>
                  <a:schemeClr val="accent6"/>
                </a:solidFill>
                <a:effectLst/>
                <a:latin typeface="Calibri" panose="020F0502020204030204" pitchFamily="34" charset="0"/>
                <a:ea typeface="Calibri" panose="020F0502020204030204" pitchFamily="34" charset="0"/>
                <a:cs typeface="Arial" panose="020B0604020202020204" pitchFamily="34" charset="0"/>
              </a:rPr>
              <a:t>Project Manager, Swales Foodbank in the Trussell Trust network</a:t>
            </a:r>
            <a:endParaRPr lang="en-GB" sz="2400" dirty="0">
              <a:solidFill>
                <a:schemeClr val="accent6"/>
              </a:solidFill>
            </a:endParaRPr>
          </a:p>
        </p:txBody>
      </p:sp>
      <p:sp>
        <p:nvSpPr>
          <p:cNvPr id="9" name="TextBox 8">
            <a:extLst>
              <a:ext uri="{FF2B5EF4-FFF2-40B4-BE49-F238E27FC236}">
                <a16:creationId xmlns:a16="http://schemas.microsoft.com/office/drawing/2014/main" id="{8DDA26C3-66EC-335E-37F5-05152E476072}"/>
              </a:ext>
            </a:extLst>
          </p:cNvPr>
          <p:cNvSpPr txBox="1"/>
          <p:nvPr/>
        </p:nvSpPr>
        <p:spPr>
          <a:xfrm>
            <a:off x="615533" y="1685925"/>
            <a:ext cx="3827880" cy="3785652"/>
          </a:xfrm>
          <a:prstGeom prst="rect">
            <a:avLst/>
          </a:prstGeom>
          <a:noFill/>
        </p:spPr>
        <p:txBody>
          <a:bodyPr wrap="square">
            <a:spAutoFit/>
          </a:bodyPr>
          <a:lstStyle/>
          <a:p>
            <a:r>
              <a:rPr lang="en-GB" sz="4000" dirty="0">
                <a:latin typeface="Eveleth Dot Light" panose="020B0604020202020204" charset="0"/>
              </a:rPr>
              <a:t>food banks see increasing need &amp; deepening hardship</a:t>
            </a:r>
          </a:p>
        </p:txBody>
      </p:sp>
    </p:spTree>
    <p:extLst>
      <p:ext uri="{BB962C8B-B14F-4D97-AF65-F5344CB8AC3E}">
        <p14:creationId xmlns:p14="http://schemas.microsoft.com/office/powerpoint/2010/main" val="307710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D9D-9293-D444-8C44-64B22455C775}"/>
              </a:ext>
            </a:extLst>
          </p:cNvPr>
          <p:cNvSpPr>
            <a:spLocks noGrp="1"/>
          </p:cNvSpPr>
          <p:nvPr>
            <p:ph type="title"/>
          </p:nvPr>
        </p:nvSpPr>
        <p:spPr>
          <a:xfrm>
            <a:off x="862354" y="1839812"/>
            <a:ext cx="10128104" cy="842785"/>
          </a:xfrm>
        </p:spPr>
        <p:txBody>
          <a:bodyPr>
            <a:noAutofit/>
          </a:bodyPr>
          <a:lstStyle/>
          <a:p>
            <a:r>
              <a:rPr lang="en-GB" sz="7200" spc="-100">
                <a:latin typeface="Eveleth Dot Light"/>
              </a:rPr>
              <a:t>Our Nations </a:t>
            </a:r>
            <a:br>
              <a:rPr lang="en-GB" sz="7200" spc="-100">
                <a:latin typeface="Eveleth Dot Light"/>
              </a:rPr>
            </a:br>
            <a:r>
              <a:rPr lang="en-GB" sz="7200" spc="-100">
                <a:latin typeface="Eveleth Dot Light"/>
              </a:rPr>
              <a:t>and regions</a:t>
            </a:r>
          </a:p>
        </p:txBody>
      </p:sp>
    </p:spTree>
    <p:extLst>
      <p:ext uri="{BB962C8B-B14F-4D97-AF65-F5344CB8AC3E}">
        <p14:creationId xmlns:p14="http://schemas.microsoft.com/office/powerpoint/2010/main" val="3842951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9E14-95C2-593E-2FB1-9E1C0A069808}"/>
              </a:ext>
            </a:extLst>
          </p:cNvPr>
          <p:cNvSpPr>
            <a:spLocks noGrp="1"/>
          </p:cNvSpPr>
          <p:nvPr>
            <p:ph type="title"/>
          </p:nvPr>
        </p:nvSpPr>
        <p:spPr>
          <a:xfrm>
            <a:off x="343672" y="420687"/>
            <a:ext cx="11513366" cy="1325563"/>
          </a:xfrm>
        </p:spPr>
        <p:txBody>
          <a:bodyPr/>
          <a:lstStyle/>
          <a:p>
            <a:r>
              <a:rPr lang="en-GB" dirty="0"/>
              <a:t>Change for Nations and regions</a:t>
            </a:r>
          </a:p>
        </p:txBody>
      </p:sp>
      <p:graphicFrame>
        <p:nvGraphicFramePr>
          <p:cNvPr id="9" name="Content Placeholder 8">
            <a:extLst>
              <a:ext uri="{FF2B5EF4-FFF2-40B4-BE49-F238E27FC236}">
                <a16:creationId xmlns:a16="http://schemas.microsoft.com/office/drawing/2014/main" id="{1415E578-B4B2-C5D4-CB1A-3003920D121A}"/>
              </a:ext>
            </a:extLst>
          </p:cNvPr>
          <p:cNvGraphicFramePr>
            <a:graphicFrameLocks noGrp="1"/>
          </p:cNvGraphicFramePr>
          <p:nvPr>
            <p:ph idx="1"/>
            <p:extLst>
              <p:ext uri="{D42A27DB-BD31-4B8C-83A1-F6EECF244321}">
                <p14:modId xmlns:p14="http://schemas.microsoft.com/office/powerpoint/2010/main" val="638019713"/>
              </p:ext>
            </p:extLst>
          </p:nvPr>
        </p:nvGraphicFramePr>
        <p:xfrm>
          <a:off x="342900" y="1868488"/>
          <a:ext cx="11514138" cy="4243387"/>
        </p:xfrm>
        <a:graphic>
          <a:graphicData uri="http://schemas.openxmlformats.org/drawingml/2006/chart">
            <c:chart xmlns:c="http://schemas.openxmlformats.org/drawingml/2006/chart" xmlns:r="http://schemas.openxmlformats.org/officeDocument/2006/relationships" r:id="rId3"/>
          </a:graphicData>
        </a:graphic>
      </p:graphicFrame>
      <p:sp>
        <p:nvSpPr>
          <p:cNvPr id="4" name="Date Placeholder 3">
            <a:extLst>
              <a:ext uri="{FF2B5EF4-FFF2-40B4-BE49-F238E27FC236}">
                <a16:creationId xmlns:a16="http://schemas.microsoft.com/office/drawing/2014/main" id="{5918CEB1-EE5A-B7FF-545E-F7F7F5224F1D}"/>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74243BAB-B292-E709-465F-FD45EEFC29BC}"/>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176B43D9-9F7A-E8B5-5CEE-8D704D4DF7CF}"/>
              </a:ext>
            </a:extLst>
          </p:cNvPr>
          <p:cNvSpPr>
            <a:spLocks noGrp="1"/>
          </p:cNvSpPr>
          <p:nvPr>
            <p:ph type="sldNum" sz="quarter" idx="12"/>
          </p:nvPr>
        </p:nvSpPr>
        <p:spPr/>
        <p:txBody>
          <a:bodyPr/>
          <a:lstStyle/>
          <a:p>
            <a:fld id="{6CCA5A4E-9384-7B4E-A945-D252AB071471}" type="slidenum">
              <a:rPr lang="en-GB" smtClean="0"/>
              <a:t>10</a:t>
            </a:fld>
            <a:endParaRPr lang="en-GB"/>
          </a:p>
        </p:txBody>
      </p:sp>
    </p:spTree>
    <p:extLst>
      <p:ext uri="{BB962C8B-B14F-4D97-AF65-F5344CB8AC3E}">
        <p14:creationId xmlns:p14="http://schemas.microsoft.com/office/powerpoint/2010/main" val="4229296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9E14-95C2-593E-2FB1-9E1C0A069808}"/>
              </a:ext>
            </a:extLst>
          </p:cNvPr>
          <p:cNvSpPr>
            <a:spLocks noGrp="1"/>
          </p:cNvSpPr>
          <p:nvPr>
            <p:ph type="title"/>
          </p:nvPr>
        </p:nvSpPr>
        <p:spPr>
          <a:xfrm>
            <a:off x="343672" y="420687"/>
            <a:ext cx="11513366" cy="1325563"/>
          </a:xfrm>
        </p:spPr>
        <p:txBody>
          <a:bodyPr/>
          <a:lstStyle/>
          <a:p>
            <a:r>
              <a:rPr lang="en-GB" dirty="0"/>
              <a:t>Change for English regions</a:t>
            </a:r>
          </a:p>
        </p:txBody>
      </p:sp>
      <p:graphicFrame>
        <p:nvGraphicFramePr>
          <p:cNvPr id="9" name="Content Placeholder 8">
            <a:extLst>
              <a:ext uri="{FF2B5EF4-FFF2-40B4-BE49-F238E27FC236}">
                <a16:creationId xmlns:a16="http://schemas.microsoft.com/office/drawing/2014/main" id="{1415E578-B4B2-C5D4-CB1A-3003920D121A}"/>
              </a:ext>
            </a:extLst>
          </p:cNvPr>
          <p:cNvGraphicFramePr>
            <a:graphicFrameLocks noGrp="1"/>
          </p:cNvGraphicFramePr>
          <p:nvPr>
            <p:ph idx="1"/>
            <p:extLst>
              <p:ext uri="{D42A27DB-BD31-4B8C-83A1-F6EECF244321}">
                <p14:modId xmlns:p14="http://schemas.microsoft.com/office/powerpoint/2010/main" val="1846758260"/>
              </p:ext>
            </p:extLst>
          </p:nvPr>
        </p:nvGraphicFramePr>
        <p:xfrm>
          <a:off x="342900" y="1868488"/>
          <a:ext cx="11514138" cy="4243387"/>
        </p:xfrm>
        <a:graphic>
          <a:graphicData uri="http://schemas.openxmlformats.org/drawingml/2006/chart">
            <c:chart xmlns:c="http://schemas.openxmlformats.org/drawingml/2006/chart" xmlns:r="http://schemas.openxmlformats.org/officeDocument/2006/relationships" r:id="rId3"/>
          </a:graphicData>
        </a:graphic>
      </p:graphicFrame>
      <p:sp>
        <p:nvSpPr>
          <p:cNvPr id="4" name="Date Placeholder 3">
            <a:extLst>
              <a:ext uri="{FF2B5EF4-FFF2-40B4-BE49-F238E27FC236}">
                <a16:creationId xmlns:a16="http://schemas.microsoft.com/office/drawing/2014/main" id="{5918CEB1-EE5A-B7FF-545E-F7F7F5224F1D}"/>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74243BAB-B292-E709-465F-FD45EEFC29BC}"/>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176B43D9-9F7A-E8B5-5CEE-8D704D4DF7CF}"/>
              </a:ext>
            </a:extLst>
          </p:cNvPr>
          <p:cNvSpPr>
            <a:spLocks noGrp="1"/>
          </p:cNvSpPr>
          <p:nvPr>
            <p:ph type="sldNum" sz="quarter" idx="12"/>
          </p:nvPr>
        </p:nvSpPr>
        <p:spPr/>
        <p:txBody>
          <a:bodyPr/>
          <a:lstStyle/>
          <a:p>
            <a:fld id="{6CCA5A4E-9384-7B4E-A945-D252AB071471}" type="slidenum">
              <a:rPr lang="en-GB" smtClean="0"/>
              <a:t>11</a:t>
            </a:fld>
            <a:endParaRPr lang="en-GB"/>
          </a:p>
        </p:txBody>
      </p:sp>
    </p:spTree>
    <p:extLst>
      <p:ext uri="{BB962C8B-B14F-4D97-AF65-F5344CB8AC3E}">
        <p14:creationId xmlns:p14="http://schemas.microsoft.com/office/powerpoint/2010/main" val="3446179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D9D-9293-D444-8C44-64B22455C775}"/>
              </a:ext>
            </a:extLst>
          </p:cNvPr>
          <p:cNvSpPr>
            <a:spLocks noGrp="1"/>
          </p:cNvSpPr>
          <p:nvPr>
            <p:ph type="title"/>
          </p:nvPr>
        </p:nvSpPr>
        <p:spPr>
          <a:xfrm>
            <a:off x="1031948" y="3128966"/>
            <a:ext cx="10128104" cy="842785"/>
          </a:xfrm>
        </p:spPr>
        <p:txBody>
          <a:bodyPr>
            <a:noAutofit/>
          </a:bodyPr>
          <a:lstStyle/>
          <a:p>
            <a:r>
              <a:rPr lang="en-GB" sz="7200" spc="-100" dirty="0">
                <a:latin typeface="Eveleth Dot Light"/>
              </a:rPr>
              <a:t>Key policy asks</a:t>
            </a:r>
          </a:p>
        </p:txBody>
      </p:sp>
    </p:spTree>
    <p:extLst>
      <p:ext uri="{BB962C8B-B14F-4D97-AF65-F5344CB8AC3E}">
        <p14:creationId xmlns:p14="http://schemas.microsoft.com/office/powerpoint/2010/main" val="336340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A future without the need for food banks </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1880393"/>
            <a:ext cx="11207771" cy="4231526"/>
          </a:xfrm>
        </p:spPr>
        <p:txBody>
          <a:bodyPr vert="horz" lIns="91440" tIns="45720" rIns="91440" bIns="45720" rtlCol="0" anchor="t">
            <a:normAutofit/>
          </a:bodyPr>
          <a:lstStyle/>
          <a:p>
            <a:pPr marL="0" indent="0">
              <a:buNone/>
              <a:tabLst>
                <a:tab pos="457200" algn="l"/>
              </a:tabLst>
            </a:pPr>
            <a:r>
              <a:rPr lang="en-GB" sz="2400" b="1" dirty="0">
                <a:solidFill>
                  <a:srgbClr val="424242"/>
                </a:solidFill>
                <a:latin typeface="Calibri"/>
                <a:ea typeface="Calibri"/>
                <a:cs typeface="Calibri"/>
              </a:rPr>
              <a:t>Our manifesto for the 2024 general election:</a:t>
            </a:r>
          </a:p>
          <a:p>
            <a:pPr marL="0" indent="0">
              <a:buNone/>
              <a:tabLst>
                <a:tab pos="457200" algn="l"/>
              </a:tabLst>
            </a:pPr>
            <a:endParaRPr lang="en-GB" sz="2400" b="1" dirty="0">
              <a:solidFill>
                <a:srgbClr val="424242"/>
              </a:solidFill>
              <a:latin typeface="Calibri"/>
              <a:ea typeface="Calibri"/>
              <a:cs typeface="Calibri"/>
            </a:endParaRPr>
          </a:p>
          <a:p>
            <a:pPr marL="342900" indent="-342900">
              <a:buFont typeface="Calibri" panose="020B0604020202020204" pitchFamily="34" charset="0"/>
              <a:buChar char="-"/>
              <a:tabLst>
                <a:tab pos="457200" algn="l"/>
              </a:tabLst>
            </a:pPr>
            <a:r>
              <a:rPr lang="en-GB" sz="2400" dirty="0">
                <a:solidFill>
                  <a:srgbClr val="424242"/>
                </a:solidFill>
                <a:latin typeface="Calibri"/>
                <a:ea typeface="Calibri"/>
                <a:cs typeface="Calibri"/>
              </a:rPr>
              <a:t>Sets out the actions we urge all political parties to support, and our priorities for the next UK Government</a:t>
            </a:r>
          </a:p>
          <a:p>
            <a:pPr marL="342900" indent="-342900">
              <a:buFont typeface="Calibri" panose="020B0604020202020204" pitchFamily="34" charset="0"/>
              <a:buChar char="-"/>
              <a:tabLst>
                <a:tab pos="457200" algn="l"/>
              </a:tabLst>
            </a:pPr>
            <a:r>
              <a:rPr lang="en-GB" sz="2400" dirty="0">
                <a:solidFill>
                  <a:srgbClr val="424242"/>
                </a:solidFill>
                <a:latin typeface="Calibri"/>
                <a:ea typeface="Calibri"/>
                <a:cs typeface="Calibri"/>
              </a:rPr>
              <a:t>Has been developed using our research, data and insight from food banks and lived experience partners</a:t>
            </a:r>
          </a:p>
          <a:p>
            <a:pPr marL="342900" indent="-342900">
              <a:buFont typeface="Calibri" panose="020B0604020202020204" pitchFamily="34" charset="0"/>
              <a:buChar char="-"/>
              <a:tabLst>
                <a:tab pos="457200" algn="l"/>
              </a:tabLst>
            </a:pPr>
            <a:r>
              <a:rPr lang="en-GB" sz="2400" dirty="0">
                <a:solidFill>
                  <a:srgbClr val="424242"/>
                </a:solidFill>
                <a:latin typeface="Calibri"/>
                <a:ea typeface="Calibri"/>
                <a:cs typeface="Calibri"/>
              </a:rPr>
              <a:t>Will help us raise the profile of food bank need and the changes we want to see during the election campaign</a:t>
            </a:r>
          </a:p>
          <a:p>
            <a:pPr marL="342900" indent="-342900">
              <a:buFont typeface="Calibri" panose="020B0604020202020204" pitchFamily="34" charset="0"/>
              <a:buChar char="-"/>
              <a:tabLst>
                <a:tab pos="457200" algn="l"/>
              </a:tabLst>
            </a:pPr>
            <a:r>
              <a:rPr lang="en-GB" sz="2400" dirty="0">
                <a:solidFill>
                  <a:srgbClr val="424242"/>
                </a:solidFill>
                <a:latin typeface="Calibri"/>
                <a:ea typeface="Calibri"/>
                <a:cs typeface="Calibri"/>
              </a:rPr>
              <a:t>Will help us influence political parties and candidates to make pledges in support of our vision </a:t>
            </a:r>
          </a:p>
          <a:p>
            <a:pPr marL="0" indent="0">
              <a:buNone/>
              <a:tabLst>
                <a:tab pos="457200" algn="l"/>
              </a:tabLst>
            </a:pPr>
            <a:endParaRPr lang="en-US">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13</a:t>
            </a:fld>
            <a:endParaRPr lang="en-GB"/>
          </a:p>
        </p:txBody>
      </p:sp>
    </p:spTree>
    <p:extLst>
      <p:ext uri="{BB962C8B-B14F-4D97-AF65-F5344CB8AC3E}">
        <p14:creationId xmlns:p14="http://schemas.microsoft.com/office/powerpoint/2010/main" val="2550725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A future without the need for food banks </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1880393"/>
            <a:ext cx="11207771" cy="4231526"/>
          </a:xfrm>
        </p:spPr>
        <p:txBody>
          <a:bodyPr vert="horz" lIns="91440" tIns="45720" rIns="91440" bIns="45720" rtlCol="0" anchor="t">
            <a:normAutofit/>
          </a:bodyPr>
          <a:lstStyle/>
          <a:p>
            <a:pPr marL="0" indent="0">
              <a:buNone/>
              <a:tabLst>
                <a:tab pos="457200" algn="l"/>
              </a:tabLst>
            </a:pPr>
            <a:endParaRPr lang="en-GB" sz="2400" b="1" dirty="0">
              <a:solidFill>
                <a:srgbClr val="424242"/>
              </a:solidFill>
              <a:latin typeface="Calibri"/>
              <a:ea typeface="Calibri"/>
              <a:cs typeface="Calibri"/>
            </a:endParaRPr>
          </a:p>
          <a:p>
            <a:pPr marL="0" indent="0" algn="ctr">
              <a:buNone/>
              <a:tabLst>
                <a:tab pos="457200" algn="l"/>
              </a:tabLst>
            </a:pPr>
            <a:r>
              <a:rPr lang="en-GB" sz="2800" i="1" dirty="0">
                <a:solidFill>
                  <a:srgbClr val="424242"/>
                </a:solidFill>
                <a:latin typeface="Calibri"/>
                <a:ea typeface="Calibri"/>
                <a:cs typeface="Calibri"/>
              </a:rPr>
              <a:t>As we approach the next UK general election, </a:t>
            </a:r>
            <a:r>
              <a:rPr lang="en-GB" sz="2800" b="1" i="1" dirty="0">
                <a:solidFill>
                  <a:srgbClr val="424242"/>
                </a:solidFill>
                <a:latin typeface="Calibri"/>
                <a:ea typeface="Calibri"/>
                <a:cs typeface="Calibri"/>
              </a:rPr>
              <a:t>we urgently need to hear how parties will build a future where no one needs a food bank to survive</a:t>
            </a:r>
            <a:r>
              <a:rPr lang="en-GB" sz="2800" i="1" dirty="0">
                <a:solidFill>
                  <a:srgbClr val="424242"/>
                </a:solidFill>
                <a:latin typeface="Calibri"/>
                <a:ea typeface="Calibri"/>
                <a:cs typeface="Calibri"/>
              </a:rPr>
              <a:t>. Urgent </a:t>
            </a:r>
            <a:r>
              <a:rPr lang="en-GB" sz="2800" b="1" i="1" dirty="0">
                <a:solidFill>
                  <a:srgbClr val="424242"/>
                </a:solidFill>
                <a:latin typeface="Calibri"/>
                <a:ea typeface="Calibri"/>
                <a:cs typeface="Calibri"/>
              </a:rPr>
              <a:t>reform of our social security system</a:t>
            </a:r>
            <a:r>
              <a:rPr lang="en-GB" sz="2800" i="1" dirty="0">
                <a:solidFill>
                  <a:srgbClr val="424242"/>
                </a:solidFill>
                <a:latin typeface="Calibri"/>
                <a:ea typeface="Calibri"/>
                <a:cs typeface="Calibri"/>
              </a:rPr>
              <a:t>, which currently isn’t even providing enough support for people to afford the essentials, is critical. Introducing an </a:t>
            </a:r>
            <a:r>
              <a:rPr lang="en-GB" sz="2800" b="1" i="1" dirty="0">
                <a:solidFill>
                  <a:srgbClr val="424242"/>
                </a:solidFill>
                <a:latin typeface="Calibri"/>
                <a:ea typeface="Calibri"/>
                <a:cs typeface="Calibri"/>
              </a:rPr>
              <a:t>‘Essentials Guarantee’</a:t>
            </a:r>
            <a:r>
              <a:rPr lang="en-GB" sz="2800" i="1" dirty="0">
                <a:solidFill>
                  <a:srgbClr val="424242"/>
                </a:solidFill>
                <a:latin typeface="Calibri"/>
                <a:ea typeface="Calibri"/>
                <a:cs typeface="Calibri"/>
              </a:rPr>
              <a:t> into Universal Credit would ensure that everyone has a protected minimum amount of support to afford the essentials. </a:t>
            </a:r>
            <a:endParaRPr lang="en-US" sz="3200" i="1" dirty="0">
              <a:solidFill>
                <a:srgbClr val="F2F3EB"/>
              </a:solidFill>
              <a:latin typeface="Calibri"/>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14</a:t>
            </a:fld>
            <a:endParaRPr lang="en-GB"/>
          </a:p>
        </p:txBody>
      </p:sp>
    </p:spTree>
    <p:extLst>
      <p:ext uri="{BB962C8B-B14F-4D97-AF65-F5344CB8AC3E}">
        <p14:creationId xmlns:p14="http://schemas.microsoft.com/office/powerpoint/2010/main" val="3060056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What are the building blocks to ending the need for food banks?</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1880393"/>
            <a:ext cx="7827933" cy="4231526"/>
          </a:xfrm>
        </p:spPr>
        <p:txBody>
          <a:bodyPr vert="horz" lIns="91440" tIns="45720" rIns="91440" bIns="45720" rtlCol="0" anchor="t">
            <a:normAutofit/>
          </a:bodyPr>
          <a:lstStyle/>
          <a:p>
            <a:pPr marL="0" indent="0">
              <a:buNone/>
              <a:tabLst>
                <a:tab pos="457200" algn="l"/>
              </a:tabLst>
            </a:pPr>
            <a:endParaRPr lang="en-GB" sz="2400" dirty="0">
              <a:solidFill>
                <a:srgbClr val="424242"/>
              </a:solidFill>
              <a:latin typeface="Calibri"/>
              <a:ea typeface="Calibri"/>
              <a:cs typeface="Calibri"/>
            </a:endParaRPr>
          </a:p>
          <a:p>
            <a:pPr marL="0" indent="0">
              <a:buNone/>
              <a:tabLst>
                <a:tab pos="457200" algn="l"/>
              </a:tabLst>
            </a:pPr>
            <a:r>
              <a:rPr lang="en-GB" sz="2800" b="1" dirty="0">
                <a:solidFill>
                  <a:srgbClr val="424242"/>
                </a:solidFill>
                <a:latin typeface="Calibri"/>
                <a:ea typeface="Calibri"/>
                <a:cs typeface="Calibri"/>
              </a:rPr>
              <a:t>A supportive social security system</a:t>
            </a:r>
            <a:r>
              <a:rPr lang="en-GB" sz="2800" dirty="0">
                <a:solidFill>
                  <a:srgbClr val="424242"/>
                </a:solidFill>
                <a:latin typeface="Calibri"/>
                <a:ea typeface="Calibri"/>
                <a:cs typeface="Calibri"/>
              </a:rPr>
              <a:t>:</a:t>
            </a:r>
          </a:p>
          <a:p>
            <a:pPr marL="0" indent="0">
              <a:buNone/>
              <a:tabLst>
                <a:tab pos="457200" algn="l"/>
              </a:tabLst>
            </a:pPr>
            <a:endParaRPr lang="en-GB" sz="2800" dirty="0">
              <a:solidFill>
                <a:srgbClr val="424242"/>
              </a:solidFill>
              <a:latin typeface="Calibri"/>
              <a:ea typeface="Calibri"/>
              <a:cs typeface="Calibri"/>
            </a:endParaRPr>
          </a:p>
          <a:p>
            <a:pPr marL="457200" indent="-457200">
              <a:tabLst>
                <a:tab pos="457200" algn="l"/>
              </a:tabLst>
            </a:pPr>
            <a:r>
              <a:rPr lang="en-GB" sz="2800" dirty="0">
                <a:solidFill>
                  <a:srgbClr val="424242"/>
                </a:solidFill>
                <a:latin typeface="Calibri"/>
                <a:ea typeface="Calibri"/>
                <a:cs typeface="Calibri"/>
              </a:rPr>
              <a:t>Introduce an Essentials Guarantee</a:t>
            </a:r>
          </a:p>
          <a:p>
            <a:pPr marL="457200" indent="-457200">
              <a:tabLst>
                <a:tab pos="457200" algn="l"/>
              </a:tabLst>
            </a:pPr>
            <a:r>
              <a:rPr lang="en-GB" sz="2800" dirty="0">
                <a:solidFill>
                  <a:srgbClr val="424242"/>
                </a:solidFill>
                <a:latin typeface="Calibri"/>
                <a:ea typeface="Calibri"/>
                <a:cs typeface="Calibri"/>
              </a:rPr>
              <a:t>Make debt deductions from social security payments more affordable</a:t>
            </a:r>
            <a:endParaRPr lang="en-GB" dirty="0">
              <a:ea typeface="Calibri" panose="020F0502020204030204"/>
              <a:cs typeface="Calibri" panose="020F0502020204030204"/>
            </a:endParaRPr>
          </a:p>
          <a:p>
            <a:pPr marL="0" indent="0">
              <a:buNone/>
              <a:tabLst>
                <a:tab pos="457200" algn="l"/>
              </a:tabLst>
            </a:pPr>
            <a:endParaRPr lang="en-GB" sz="2800" i="1" dirty="0">
              <a:solidFill>
                <a:srgbClr val="424242"/>
              </a:solidFill>
              <a:latin typeface="Calibri"/>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15</a:t>
            </a:fld>
            <a:endParaRPr lang="en-GB"/>
          </a:p>
        </p:txBody>
      </p:sp>
      <p:pic>
        <p:nvPicPr>
          <p:cNvPr id="7" name="Picture 6" descr="roadmap-social-security-illustration@2x.png">
            <a:extLst>
              <a:ext uri="{FF2B5EF4-FFF2-40B4-BE49-F238E27FC236}">
                <a16:creationId xmlns:a16="http://schemas.microsoft.com/office/drawing/2014/main" id="{8D3E21A8-88F0-D4C3-6A8E-074E82E2B167}"/>
              </a:ext>
            </a:extLst>
          </p:cNvPr>
          <p:cNvPicPr>
            <a:picLocks noChangeAspect="1"/>
          </p:cNvPicPr>
          <p:nvPr/>
        </p:nvPicPr>
        <p:blipFill>
          <a:blip r:embed="rId3"/>
          <a:stretch>
            <a:fillRect/>
          </a:stretch>
        </p:blipFill>
        <p:spPr>
          <a:xfrm>
            <a:off x="7710564" y="2075451"/>
            <a:ext cx="3453735" cy="3513650"/>
          </a:xfrm>
          <a:prstGeom prst="rect">
            <a:avLst/>
          </a:prstGeom>
          <a:ln>
            <a:noFill/>
          </a:ln>
        </p:spPr>
      </p:pic>
    </p:spTree>
    <p:extLst>
      <p:ext uri="{BB962C8B-B14F-4D97-AF65-F5344CB8AC3E}">
        <p14:creationId xmlns:p14="http://schemas.microsoft.com/office/powerpoint/2010/main" val="2290797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What are the building blocks to ending the need for food banks?</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4410233" y="1880393"/>
            <a:ext cx="7141210" cy="3507933"/>
          </a:xfrm>
        </p:spPr>
        <p:txBody>
          <a:bodyPr vert="horz" lIns="91440" tIns="45720" rIns="91440" bIns="45720" rtlCol="0" anchor="t">
            <a:normAutofit lnSpcReduction="10000"/>
          </a:bodyPr>
          <a:lstStyle/>
          <a:p>
            <a:pPr marL="0" indent="0">
              <a:buNone/>
              <a:tabLst>
                <a:tab pos="457200" algn="l"/>
              </a:tabLst>
            </a:pPr>
            <a:endParaRPr lang="en-GB" sz="2800" b="1" dirty="0">
              <a:solidFill>
                <a:srgbClr val="424242"/>
              </a:solidFill>
              <a:latin typeface="Calibri"/>
              <a:ea typeface="Calibri"/>
              <a:cs typeface="Calibri"/>
            </a:endParaRPr>
          </a:p>
          <a:p>
            <a:pPr marL="0" indent="0">
              <a:buNone/>
              <a:tabLst>
                <a:tab pos="457200" algn="l"/>
              </a:tabLst>
            </a:pPr>
            <a:r>
              <a:rPr lang="en-GB" sz="2800" b="1" dirty="0">
                <a:solidFill>
                  <a:srgbClr val="424242"/>
                </a:solidFill>
                <a:latin typeface="Calibri"/>
                <a:ea typeface="Calibri"/>
                <a:cs typeface="Calibri"/>
              </a:rPr>
              <a:t>Everyone can get the right support at the right time, especially when times are tough</a:t>
            </a:r>
            <a:r>
              <a:rPr lang="en-GB" sz="2800" dirty="0">
                <a:solidFill>
                  <a:srgbClr val="424242"/>
                </a:solidFill>
                <a:latin typeface="Calibri"/>
                <a:ea typeface="Calibri"/>
                <a:cs typeface="Calibri"/>
              </a:rPr>
              <a:t>:</a:t>
            </a:r>
            <a:endParaRPr lang="en-US" sz="2800">
              <a:ea typeface="Calibri"/>
              <a:cs typeface="Calibri"/>
            </a:endParaRPr>
          </a:p>
          <a:p>
            <a:pPr marL="0" indent="0">
              <a:buNone/>
              <a:tabLst>
                <a:tab pos="457200" algn="l"/>
              </a:tabLst>
            </a:pPr>
            <a:endParaRPr lang="en-GB" sz="2800" dirty="0">
              <a:solidFill>
                <a:srgbClr val="424242"/>
              </a:solidFill>
              <a:latin typeface="Calibri"/>
              <a:ea typeface="Calibri"/>
              <a:cs typeface="Calibri"/>
            </a:endParaRPr>
          </a:p>
          <a:p>
            <a:pPr>
              <a:tabLst>
                <a:tab pos="457200" algn="l"/>
              </a:tabLst>
            </a:pPr>
            <a:r>
              <a:rPr lang="en-GB" sz="2800" dirty="0">
                <a:solidFill>
                  <a:srgbClr val="424242"/>
                </a:solidFill>
                <a:latin typeface="Calibri"/>
                <a:ea typeface="Calibri"/>
                <a:cs typeface="Calibri"/>
              </a:rPr>
              <a:t>A</a:t>
            </a:r>
            <a:r>
              <a:rPr lang="en-GB" sz="2800" dirty="0">
                <a:solidFill>
                  <a:srgbClr val="424242"/>
                </a:solidFill>
                <a:ea typeface="+mn-lt"/>
                <a:cs typeface="+mn-lt"/>
              </a:rPr>
              <a:t> long-term strategy </a:t>
            </a:r>
            <a:r>
              <a:rPr lang="en-GB" sz="2800">
                <a:solidFill>
                  <a:srgbClr val="424242"/>
                </a:solidFill>
                <a:ea typeface="+mn-lt"/>
                <a:cs typeface="+mn-lt"/>
              </a:rPr>
              <a:t>and funding for</a:t>
            </a:r>
            <a:r>
              <a:rPr lang="en-GB" sz="2800" dirty="0">
                <a:solidFill>
                  <a:srgbClr val="424242"/>
                </a:solidFill>
                <a:ea typeface="+mn-lt"/>
                <a:cs typeface="+mn-lt"/>
              </a:rPr>
              <a:t> local crisis support</a:t>
            </a:r>
          </a:p>
          <a:p>
            <a:pPr>
              <a:tabLst>
                <a:tab pos="457200" algn="l"/>
              </a:tabLst>
            </a:pPr>
            <a:r>
              <a:rPr lang="en-GB" sz="2800" dirty="0">
                <a:solidFill>
                  <a:srgbClr val="424242"/>
                </a:solidFill>
                <a:ea typeface="+mn-lt"/>
                <a:cs typeface="+mn-lt"/>
              </a:rPr>
              <a:t>Ensure people on low incomes can access the advice they need on money matters</a:t>
            </a:r>
          </a:p>
          <a:p>
            <a:pPr marL="457200" indent="-457200">
              <a:tabLst>
                <a:tab pos="457200" algn="l"/>
              </a:tabLst>
            </a:pPr>
            <a:endParaRPr lang="en-GB" sz="2800" dirty="0">
              <a:solidFill>
                <a:srgbClr val="424242"/>
              </a:solidFill>
              <a:ea typeface="Calibri" panose="020F0502020204030204"/>
              <a:cs typeface="Calibri" panose="020F0502020204030204"/>
            </a:endParaRPr>
          </a:p>
          <a:p>
            <a:pPr marL="0" indent="0">
              <a:buNone/>
              <a:tabLst>
                <a:tab pos="457200" algn="l"/>
              </a:tabLst>
            </a:pPr>
            <a:endParaRPr lang="en-GB" sz="2800" i="1" dirty="0">
              <a:solidFill>
                <a:srgbClr val="424242"/>
              </a:solidFill>
              <a:latin typeface="Calibri"/>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16</a:t>
            </a:fld>
            <a:endParaRPr lang="en-GB"/>
          </a:p>
        </p:txBody>
      </p:sp>
      <p:pic>
        <p:nvPicPr>
          <p:cNvPr id="7" name="Picture 6" descr="roadmap-money-matters-support-illustration@2x.png">
            <a:extLst>
              <a:ext uri="{FF2B5EF4-FFF2-40B4-BE49-F238E27FC236}">
                <a16:creationId xmlns:a16="http://schemas.microsoft.com/office/drawing/2014/main" id="{E54C77ED-150B-56ED-1B91-E5067696F6BC}"/>
              </a:ext>
            </a:extLst>
          </p:cNvPr>
          <p:cNvPicPr>
            <a:picLocks noChangeAspect="1"/>
          </p:cNvPicPr>
          <p:nvPr/>
        </p:nvPicPr>
        <p:blipFill>
          <a:blip r:embed="rId3"/>
          <a:stretch>
            <a:fillRect/>
          </a:stretch>
        </p:blipFill>
        <p:spPr>
          <a:xfrm>
            <a:off x="342900" y="2174158"/>
            <a:ext cx="3603524" cy="3652684"/>
          </a:xfrm>
          <a:prstGeom prst="rect">
            <a:avLst/>
          </a:prstGeom>
        </p:spPr>
      </p:pic>
    </p:spTree>
    <p:extLst>
      <p:ext uri="{BB962C8B-B14F-4D97-AF65-F5344CB8AC3E}">
        <p14:creationId xmlns:p14="http://schemas.microsoft.com/office/powerpoint/2010/main" val="2977260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What are the building blocks to ending the need for food banks?</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2085103"/>
            <a:ext cx="7926256" cy="3936559"/>
          </a:xfrm>
        </p:spPr>
        <p:txBody>
          <a:bodyPr vert="horz" lIns="91440" tIns="45720" rIns="91440" bIns="45720" rtlCol="0" anchor="t">
            <a:normAutofit lnSpcReduction="10000"/>
          </a:bodyPr>
          <a:lstStyle/>
          <a:p>
            <a:pPr marL="0" indent="0">
              <a:buNone/>
              <a:tabLst>
                <a:tab pos="457200" algn="l"/>
              </a:tabLst>
            </a:pPr>
            <a:r>
              <a:rPr lang="en-GB" sz="2800" b="1" dirty="0">
                <a:solidFill>
                  <a:srgbClr val="424242"/>
                </a:solidFill>
                <a:latin typeface="Calibri"/>
                <a:ea typeface="Calibri"/>
                <a:cs typeface="Calibri"/>
              </a:rPr>
              <a:t>People are supported in a way that reflects the reality of their lives, especially if they’re facing higher costs and barriers as parents, carers or disabled people:</a:t>
            </a:r>
            <a:endParaRPr lang="en-US" dirty="0"/>
          </a:p>
          <a:p>
            <a:pPr marL="0" indent="0">
              <a:buNone/>
              <a:tabLst>
                <a:tab pos="457200" algn="l"/>
              </a:tabLst>
            </a:pPr>
            <a:endParaRPr lang="en-GB" sz="2800" dirty="0">
              <a:solidFill>
                <a:srgbClr val="424242"/>
              </a:solidFill>
              <a:latin typeface="Calibri"/>
              <a:ea typeface="Calibri"/>
              <a:cs typeface="Calibri"/>
            </a:endParaRPr>
          </a:p>
          <a:p>
            <a:pPr>
              <a:tabLst>
                <a:tab pos="457200" algn="l"/>
              </a:tabLst>
            </a:pPr>
            <a:r>
              <a:rPr lang="en-GB" sz="2800" dirty="0">
                <a:solidFill>
                  <a:srgbClr val="424242"/>
                </a:solidFill>
                <a:ea typeface="+mn-lt"/>
                <a:cs typeface="+mn-lt"/>
              </a:rPr>
              <a:t>Swift and accurate decisions about disability social security support</a:t>
            </a:r>
          </a:p>
          <a:p>
            <a:pPr>
              <a:tabLst>
                <a:tab pos="457200" algn="l"/>
              </a:tabLst>
            </a:pPr>
            <a:r>
              <a:rPr lang="en-GB" sz="2800" dirty="0">
                <a:solidFill>
                  <a:srgbClr val="424242"/>
                </a:solidFill>
                <a:ea typeface="+mn-lt"/>
                <a:cs typeface="+mn-lt"/>
              </a:rPr>
              <a:t>An overhauled employment support offer</a:t>
            </a:r>
          </a:p>
          <a:p>
            <a:pPr>
              <a:tabLst>
                <a:tab pos="457200" algn="l"/>
              </a:tabLst>
            </a:pPr>
            <a:r>
              <a:rPr lang="en-GB" sz="2800" dirty="0">
                <a:solidFill>
                  <a:srgbClr val="424242"/>
                </a:solidFill>
                <a:ea typeface="+mn-lt"/>
                <a:cs typeface="+mn-lt"/>
              </a:rPr>
              <a:t>Scrap the two-child limit</a:t>
            </a:r>
          </a:p>
          <a:p>
            <a:pPr>
              <a:tabLst>
                <a:tab pos="457200" algn="l"/>
              </a:tabLst>
            </a:pPr>
            <a:endParaRPr lang="en-GB" sz="2800" dirty="0">
              <a:solidFill>
                <a:srgbClr val="424242"/>
              </a:solidFill>
              <a:latin typeface="Calibri"/>
              <a:ea typeface="Calibri"/>
              <a:cs typeface="Calibri"/>
            </a:endParaRPr>
          </a:p>
          <a:p>
            <a:pPr marL="457200" indent="-457200">
              <a:tabLst>
                <a:tab pos="457200" algn="l"/>
              </a:tabLst>
            </a:pPr>
            <a:endParaRPr lang="en-GB" sz="2800" dirty="0">
              <a:solidFill>
                <a:srgbClr val="424242"/>
              </a:solidFill>
              <a:ea typeface="Calibri" panose="020F0502020204030204"/>
              <a:cs typeface="Calibri" panose="020F0502020204030204"/>
            </a:endParaRPr>
          </a:p>
          <a:p>
            <a:pPr marL="0" indent="0">
              <a:buNone/>
              <a:tabLst>
                <a:tab pos="457200" algn="l"/>
              </a:tabLst>
            </a:pPr>
            <a:endParaRPr lang="en-GB" sz="2800" i="1" dirty="0">
              <a:solidFill>
                <a:srgbClr val="424242"/>
              </a:solidFill>
              <a:latin typeface="Calibri"/>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17</a:t>
            </a:fld>
            <a:endParaRPr lang="en-GB"/>
          </a:p>
        </p:txBody>
      </p:sp>
      <p:pic>
        <p:nvPicPr>
          <p:cNvPr id="7" name="Picture 6" descr="roadmap-disability-and-ill-health-support-illustration@2x.png">
            <a:extLst>
              <a:ext uri="{FF2B5EF4-FFF2-40B4-BE49-F238E27FC236}">
                <a16:creationId xmlns:a16="http://schemas.microsoft.com/office/drawing/2014/main" id="{C0488BAA-7125-0BB4-3228-A8A0D87CB3C5}"/>
              </a:ext>
            </a:extLst>
          </p:cNvPr>
          <p:cNvPicPr>
            <a:picLocks noChangeAspect="1"/>
          </p:cNvPicPr>
          <p:nvPr/>
        </p:nvPicPr>
        <p:blipFill>
          <a:blip r:embed="rId3"/>
          <a:stretch>
            <a:fillRect/>
          </a:stretch>
        </p:blipFill>
        <p:spPr>
          <a:xfrm>
            <a:off x="8073513" y="2088125"/>
            <a:ext cx="3787878" cy="3787878"/>
          </a:xfrm>
          <a:prstGeom prst="rect">
            <a:avLst/>
          </a:prstGeom>
        </p:spPr>
      </p:pic>
    </p:spTree>
    <p:extLst>
      <p:ext uri="{BB962C8B-B14F-4D97-AF65-F5344CB8AC3E}">
        <p14:creationId xmlns:p14="http://schemas.microsoft.com/office/powerpoint/2010/main" val="1818961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What are the building blocks to ending the need for food banks?</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711221" y="1888459"/>
            <a:ext cx="8221222" cy="4354429"/>
          </a:xfrm>
        </p:spPr>
        <p:txBody>
          <a:bodyPr vert="horz" lIns="91440" tIns="45720" rIns="91440" bIns="45720" rtlCol="0" anchor="t">
            <a:normAutofit/>
          </a:bodyPr>
          <a:lstStyle/>
          <a:p>
            <a:pPr marL="0" indent="0">
              <a:buNone/>
              <a:tabLst>
                <a:tab pos="457200" algn="l"/>
              </a:tabLst>
            </a:pPr>
            <a:r>
              <a:rPr lang="en-GB" sz="2800" b="1" dirty="0">
                <a:solidFill>
                  <a:srgbClr val="424242"/>
                </a:solidFill>
                <a:ea typeface="+mn-lt"/>
                <a:cs typeface="+mn-lt"/>
              </a:rPr>
              <a:t>Everyone has the security we all need to access opportunities and have hope for the future</a:t>
            </a:r>
            <a:r>
              <a:rPr lang="en-GB" sz="2800" dirty="0">
                <a:solidFill>
                  <a:srgbClr val="424242"/>
                </a:solidFill>
                <a:ea typeface="+mn-lt"/>
                <a:cs typeface="+mn-lt"/>
              </a:rPr>
              <a:t>:</a:t>
            </a:r>
          </a:p>
          <a:p>
            <a:pPr marL="0" indent="0">
              <a:buNone/>
              <a:tabLst>
                <a:tab pos="457200" algn="l"/>
              </a:tabLst>
            </a:pPr>
            <a:endParaRPr lang="en-GB" sz="2800" dirty="0">
              <a:solidFill>
                <a:srgbClr val="424242"/>
              </a:solidFill>
              <a:latin typeface="Calibri"/>
              <a:ea typeface="Calibri"/>
              <a:cs typeface="Calibri"/>
            </a:endParaRPr>
          </a:p>
          <a:p>
            <a:pPr>
              <a:tabLst>
                <a:tab pos="457200" algn="l"/>
              </a:tabLst>
            </a:pPr>
            <a:r>
              <a:rPr lang="en-GB" sz="2800" dirty="0">
                <a:solidFill>
                  <a:srgbClr val="424242"/>
                </a:solidFill>
                <a:ea typeface="+mn-lt"/>
                <a:cs typeface="+mn-lt"/>
              </a:rPr>
              <a:t>New workers’ rights legislation</a:t>
            </a:r>
          </a:p>
          <a:p>
            <a:pPr>
              <a:tabLst>
                <a:tab pos="457200" algn="l"/>
              </a:tabLst>
            </a:pPr>
            <a:r>
              <a:rPr lang="en-GB" sz="2800" dirty="0">
                <a:solidFill>
                  <a:srgbClr val="424242"/>
                </a:solidFill>
                <a:ea typeface="+mn-lt"/>
                <a:cs typeface="+mn-lt"/>
              </a:rPr>
              <a:t>Invest in building 90,000 new social homes every year in England</a:t>
            </a:r>
          </a:p>
          <a:p>
            <a:pPr>
              <a:tabLst>
                <a:tab pos="457200" algn="l"/>
              </a:tabLst>
            </a:pPr>
            <a:r>
              <a:rPr lang="en-GB" sz="2800" dirty="0">
                <a:solidFill>
                  <a:srgbClr val="424242"/>
                </a:solidFill>
                <a:ea typeface="+mn-lt"/>
                <a:cs typeface="+mn-lt"/>
              </a:rPr>
              <a:t>Empower communities with places, spaces, and public transport services which build connection</a:t>
            </a:r>
          </a:p>
          <a:p>
            <a:pPr marL="0" indent="0">
              <a:buNone/>
              <a:tabLst>
                <a:tab pos="457200" algn="l"/>
              </a:tabLst>
            </a:pPr>
            <a:endParaRPr lang="en-GB" sz="2800" dirty="0">
              <a:solidFill>
                <a:srgbClr val="424242"/>
              </a:solidFill>
              <a:latin typeface="Calibri"/>
              <a:ea typeface="Calibri"/>
              <a:cs typeface="Calibri"/>
            </a:endParaRPr>
          </a:p>
          <a:p>
            <a:pPr>
              <a:tabLst>
                <a:tab pos="457200" algn="l"/>
              </a:tabLst>
            </a:pPr>
            <a:endParaRPr lang="en-GB" sz="2800" dirty="0">
              <a:solidFill>
                <a:srgbClr val="424242"/>
              </a:solidFill>
              <a:latin typeface="Calibri"/>
              <a:ea typeface="Calibri"/>
              <a:cs typeface="Calibri"/>
            </a:endParaRPr>
          </a:p>
          <a:p>
            <a:pPr marL="457200" indent="-457200">
              <a:tabLst>
                <a:tab pos="457200" algn="l"/>
              </a:tabLst>
            </a:pPr>
            <a:endParaRPr lang="en-GB" sz="2800" dirty="0">
              <a:solidFill>
                <a:srgbClr val="424242"/>
              </a:solidFill>
              <a:ea typeface="Calibri" panose="020F0502020204030204"/>
              <a:cs typeface="Calibri" panose="020F0502020204030204"/>
            </a:endParaRPr>
          </a:p>
          <a:p>
            <a:pPr marL="0" indent="0">
              <a:buNone/>
              <a:tabLst>
                <a:tab pos="457200" algn="l"/>
              </a:tabLst>
            </a:pPr>
            <a:endParaRPr lang="en-GB" sz="2800" i="1" dirty="0">
              <a:solidFill>
                <a:srgbClr val="424242"/>
              </a:solidFill>
              <a:latin typeface="Calibri"/>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18</a:t>
            </a:fld>
            <a:endParaRPr lang="en-GB"/>
          </a:p>
        </p:txBody>
      </p:sp>
      <p:pic>
        <p:nvPicPr>
          <p:cNvPr id="7" name="Picture 6" descr="roadmap-housing-illustration@2x.png">
            <a:extLst>
              <a:ext uri="{FF2B5EF4-FFF2-40B4-BE49-F238E27FC236}">
                <a16:creationId xmlns:a16="http://schemas.microsoft.com/office/drawing/2014/main" id="{72BFB619-6318-D90E-A35C-A42BD2B92503}"/>
              </a:ext>
            </a:extLst>
          </p:cNvPr>
          <p:cNvPicPr>
            <a:picLocks noChangeAspect="1"/>
          </p:cNvPicPr>
          <p:nvPr/>
        </p:nvPicPr>
        <p:blipFill>
          <a:blip r:embed="rId3"/>
          <a:stretch>
            <a:fillRect/>
          </a:stretch>
        </p:blipFill>
        <p:spPr>
          <a:xfrm>
            <a:off x="121674" y="1879190"/>
            <a:ext cx="3492911" cy="3517491"/>
          </a:xfrm>
          <a:prstGeom prst="rect">
            <a:avLst/>
          </a:prstGeom>
        </p:spPr>
      </p:pic>
    </p:spTree>
    <p:extLst>
      <p:ext uri="{BB962C8B-B14F-4D97-AF65-F5344CB8AC3E}">
        <p14:creationId xmlns:p14="http://schemas.microsoft.com/office/powerpoint/2010/main" val="3657639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t>Scotland</a:t>
            </a:r>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1292902"/>
            <a:ext cx="11738400" cy="4272196"/>
          </a:xfrm>
        </p:spPr>
        <p:txBody>
          <a:bodyPr vert="horz" lIns="91440" tIns="45720" rIns="91440" bIns="45720" rtlCol="0" anchor="t">
            <a:noAutofit/>
          </a:bodyPr>
          <a:lstStyle/>
          <a:p>
            <a:pPr marL="0" indent="0">
              <a:buSzPts val="1000"/>
              <a:buNone/>
              <a:tabLst>
                <a:tab pos="457200" algn="l"/>
              </a:tabLst>
            </a:pPr>
            <a:r>
              <a:rPr lang="en-GB" sz="2400" b="1" dirty="0">
                <a:solidFill>
                  <a:schemeClr val="bg2"/>
                </a:solidFill>
              </a:rPr>
              <a:t>The election of a new First Minister of Scotland is an important opportunity. Once elected, they should </a:t>
            </a:r>
            <a:r>
              <a:rPr lang="en-GB" sz="2400" b="1" dirty="0">
                <a:solidFill>
                  <a:schemeClr val="bg2"/>
                </a:solidFill>
                <a:ea typeface="+mn-lt"/>
                <a:cs typeface="+mn-lt"/>
              </a:rPr>
              <a:t>convene the promised summit with the anti-poverty sector and people with lived experience of poverty</a:t>
            </a:r>
            <a:r>
              <a:rPr lang="en-GB" sz="2400" b="1" dirty="0">
                <a:solidFill>
                  <a:schemeClr val="bg2"/>
                </a:solidFill>
              </a:rPr>
              <a:t>. The Scottish Government should also:</a:t>
            </a:r>
            <a:br>
              <a:rPr lang="en-GB" sz="2400" b="1" dirty="0">
                <a:solidFill>
                  <a:schemeClr val="bg2"/>
                </a:solidFill>
              </a:rPr>
            </a:br>
            <a:endParaRPr lang="en-GB" sz="2400" b="1" dirty="0">
              <a:solidFill>
                <a:schemeClr val="bg2"/>
              </a:solidFill>
              <a:ea typeface="Calibri"/>
              <a:cs typeface="Calibri"/>
            </a:endParaRPr>
          </a:p>
          <a:p>
            <a:pPr marL="342900" indent="-342900">
              <a:buSzPts val="1000"/>
              <a:tabLst>
                <a:tab pos="457200" algn="l"/>
              </a:tabLst>
            </a:pPr>
            <a:r>
              <a:rPr lang="en-GB" sz="2400" dirty="0">
                <a:solidFill>
                  <a:schemeClr val="accent6"/>
                </a:solidFill>
                <a:ea typeface="Calibri"/>
                <a:cs typeface="Calibri"/>
              </a:rPr>
              <a:t>Increase the level of the Scottish Child Payment from £26.70 to at least £40 a week </a:t>
            </a:r>
            <a:endParaRPr lang="en-GB" sz="2400" b="1" dirty="0">
              <a:solidFill>
                <a:schemeClr val="accent6"/>
              </a:solidFill>
              <a:ea typeface="Calibri"/>
              <a:cs typeface="Calibri"/>
            </a:endParaRPr>
          </a:p>
          <a:p>
            <a:pPr marL="342900" indent="-342900">
              <a:buSzPts val="1000"/>
              <a:tabLst>
                <a:tab pos="457200" algn="l"/>
              </a:tabLst>
            </a:pPr>
            <a:r>
              <a:rPr lang="en-GB" sz="2400" dirty="0">
                <a:solidFill>
                  <a:schemeClr val="accent6"/>
                </a:solidFill>
                <a:ea typeface="Calibri"/>
                <a:cs typeface="Calibri"/>
              </a:rPr>
              <a:t>Boost investment into the Scottish Welfare Fund</a:t>
            </a:r>
          </a:p>
          <a:p>
            <a:pPr marL="342900" indent="-342900">
              <a:buSzPts val="1000"/>
              <a:tabLst>
                <a:tab pos="457200" algn="l"/>
              </a:tabLst>
            </a:pPr>
            <a:r>
              <a:rPr lang="en-GB" sz="2400" dirty="0">
                <a:solidFill>
                  <a:schemeClr val="accent6"/>
                </a:solidFill>
                <a:ea typeface="Calibri"/>
                <a:cs typeface="Calibri"/>
              </a:rPr>
              <a:t>Mitigate the two-child cap to provide vital support to families with three or more children who are much more likely to need to use a food bank</a:t>
            </a:r>
          </a:p>
          <a:p>
            <a:pPr marL="342900" indent="-342900">
              <a:buSzPts val="1000"/>
              <a:tabLst>
                <a:tab pos="457200" algn="l"/>
              </a:tabLst>
            </a:pPr>
            <a:r>
              <a:rPr lang="en-GB" sz="2400" dirty="0">
                <a:solidFill>
                  <a:schemeClr val="accent6"/>
                </a:solidFill>
                <a:ea typeface="Calibri"/>
                <a:cs typeface="Calibri"/>
              </a:rPr>
              <a:t>Reverse cuts to the housing budget and build more homes for social rent</a:t>
            </a:r>
          </a:p>
          <a:p>
            <a:pPr marL="342900" indent="-342900">
              <a:buSzPts val="1000"/>
              <a:tabLst>
                <a:tab pos="457200" algn="l"/>
              </a:tabLst>
            </a:pPr>
            <a:r>
              <a:rPr lang="en-GB" sz="2400" dirty="0">
                <a:solidFill>
                  <a:schemeClr val="accent6"/>
                </a:solidFill>
                <a:ea typeface="Calibri"/>
                <a:cs typeface="Calibri"/>
              </a:rPr>
              <a:t>Pause recovery of debt to public bodies in Scotland</a:t>
            </a:r>
            <a:endParaRPr lang="en-GB" dirty="0">
              <a:solidFill>
                <a:schemeClr val="accent6"/>
              </a:solidFill>
              <a:ea typeface="Calibri" panose="020F0502020204030204"/>
              <a:cs typeface="Calibri" panose="020F0502020204030204"/>
            </a:endParaRPr>
          </a:p>
          <a:p>
            <a:pPr marL="342900" indent="-342900">
              <a:buSzPts val="1000"/>
              <a:tabLst>
                <a:tab pos="457200" algn="l"/>
              </a:tabLst>
            </a:pPr>
            <a:endParaRPr lang="en-GB" sz="2400" dirty="0">
              <a:solidFill>
                <a:schemeClr val="accent6"/>
              </a:solidFill>
              <a:ea typeface="Calibri"/>
              <a:cs typeface="Calibri"/>
            </a:endParaRPr>
          </a:p>
          <a:p>
            <a:pPr marL="342900" indent="-342900">
              <a:buSzPts val="1000"/>
              <a:buFont typeface="Arial" panose="020F0302020204030204"/>
              <a:buChar char="•"/>
              <a:tabLst>
                <a:tab pos="457200" algn="l"/>
              </a:tabLst>
            </a:pPr>
            <a:endParaRPr lang="en-GB" sz="2400" dirty="0">
              <a:solidFill>
                <a:schemeClr val="accent6"/>
              </a:solidFill>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19</a:t>
            </a:fld>
            <a:endParaRPr lang="en-GB"/>
          </a:p>
        </p:txBody>
      </p:sp>
    </p:spTree>
    <p:extLst>
      <p:ext uri="{BB962C8B-B14F-4D97-AF65-F5344CB8AC3E}">
        <p14:creationId xmlns:p14="http://schemas.microsoft.com/office/powerpoint/2010/main" val="389088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a:latin typeface="Eveleth Dot Light"/>
              </a:rPr>
              <a:t>Northern</a:t>
            </a:r>
            <a:r>
              <a:rPr lang="en-GB" dirty="0">
                <a:latin typeface="Eveleth Dot Light"/>
              </a:rPr>
              <a:t> Ireland</a:t>
            </a:r>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43672" y="1268963"/>
            <a:ext cx="11513366" cy="4842956"/>
          </a:xfrm>
        </p:spPr>
        <p:txBody>
          <a:bodyPr vert="horz" lIns="91440" tIns="45720" rIns="91440" bIns="45720" rtlCol="0" anchor="t">
            <a:normAutofit lnSpcReduction="10000"/>
          </a:bodyPr>
          <a:lstStyle/>
          <a:p>
            <a:pPr marL="0" indent="0">
              <a:buSzPts val="1000"/>
              <a:buNone/>
              <a:tabLst>
                <a:tab pos="457200" algn="l"/>
              </a:tabLst>
            </a:pPr>
            <a:r>
              <a:rPr lang="en-GB" sz="2400" b="1" dirty="0">
                <a:solidFill>
                  <a:schemeClr val="bg2"/>
                </a:solidFill>
              </a:rPr>
              <a:t>The Northern Ireland Executive must choose to prioritise support for people facing financial hardship. We urgently need the Northern Ireland Executive to:</a:t>
            </a:r>
            <a:br>
              <a:rPr lang="en-GB" sz="2400" b="1" dirty="0">
                <a:solidFill>
                  <a:schemeClr val="bg2"/>
                </a:solidFill>
              </a:rPr>
            </a:br>
            <a:endParaRPr lang="en-GB" sz="2400" b="1">
              <a:solidFill>
                <a:schemeClr val="bg2"/>
              </a:solidFill>
              <a:ea typeface="Calibri"/>
              <a:cs typeface="Calibri"/>
            </a:endParaRPr>
          </a:p>
          <a:p>
            <a:pPr marL="342900" indent="-342900">
              <a:buSzPts val="1000"/>
              <a:tabLst>
                <a:tab pos="457200" algn="l"/>
              </a:tabLst>
            </a:pPr>
            <a:r>
              <a:rPr lang="en-GB" sz="2400" dirty="0">
                <a:solidFill>
                  <a:schemeClr val="accent6"/>
                </a:solidFill>
                <a:ea typeface="+mn-lt"/>
                <a:cs typeface="+mn-lt"/>
              </a:rPr>
              <a:t>Deliver a budgeted anti-poverty strategy with clear interventions that will end the rising need for emergency food in Northern </a:t>
            </a:r>
            <a:r>
              <a:rPr lang="en-GB" sz="2400">
                <a:solidFill>
                  <a:schemeClr val="accent6"/>
                </a:solidFill>
                <a:ea typeface="+mn-lt"/>
                <a:cs typeface="+mn-lt"/>
              </a:rPr>
              <a:t>Ireland.</a:t>
            </a:r>
            <a:endParaRPr lang="en-GB" sz="2400">
              <a:solidFill>
                <a:schemeClr val="accent6"/>
              </a:solidFill>
              <a:ea typeface="Calibri" panose="020F0502020204030204"/>
              <a:cs typeface="Calibri" panose="020F0502020204030204"/>
            </a:endParaRPr>
          </a:p>
          <a:p>
            <a:pPr marL="342900" indent="-342900">
              <a:buSzPts val="1000"/>
              <a:tabLst>
                <a:tab pos="457200" algn="l"/>
              </a:tabLst>
            </a:pPr>
            <a:r>
              <a:rPr lang="en-GB" sz="2400" dirty="0">
                <a:solidFill>
                  <a:schemeClr val="accent6"/>
                </a:solidFill>
                <a:ea typeface="Calibri" panose="020F0502020204030204"/>
                <a:cs typeface="Calibri" panose="020F0502020204030204"/>
              </a:rPr>
              <a:t>Prioritise policies that will protect people from poverty and destitution, including the full implementation of recommendations from the reviews of welfare mitigations and discretionary </a:t>
            </a:r>
            <a:r>
              <a:rPr lang="en-GB" sz="2400">
                <a:solidFill>
                  <a:schemeClr val="accent6"/>
                </a:solidFill>
                <a:ea typeface="Calibri" panose="020F0502020204030204"/>
                <a:cs typeface="Calibri" panose="020F0502020204030204"/>
              </a:rPr>
              <a:t>support.</a:t>
            </a:r>
          </a:p>
          <a:p>
            <a:pPr marL="342900" indent="-342900">
              <a:buSzPts val="1000"/>
              <a:tabLst>
                <a:tab pos="457200" algn="l"/>
              </a:tabLst>
            </a:pPr>
            <a:r>
              <a:rPr lang="en-GB" sz="2400" dirty="0">
                <a:solidFill>
                  <a:schemeClr val="accent6"/>
                </a:solidFill>
                <a:ea typeface="Calibri" panose="020F0502020204030204"/>
                <a:cs typeface="Calibri" panose="020F0502020204030204"/>
              </a:rPr>
              <a:t>Ensure</a:t>
            </a:r>
            <a:r>
              <a:rPr lang="en-GB" sz="2400" dirty="0">
                <a:solidFill>
                  <a:schemeClr val="accent6"/>
                </a:solidFill>
                <a:ea typeface="+mn-lt"/>
                <a:cs typeface="+mn-lt"/>
              </a:rPr>
              <a:t> that free school meal payments during holiday periods are restored ahead of the </a:t>
            </a:r>
            <a:r>
              <a:rPr lang="en-GB" sz="2400">
                <a:solidFill>
                  <a:schemeClr val="accent6"/>
                </a:solidFill>
                <a:ea typeface="+mn-lt"/>
                <a:cs typeface="+mn-lt"/>
              </a:rPr>
              <a:t>summer.</a:t>
            </a:r>
            <a:endParaRPr lang="en-GB">
              <a:solidFill>
                <a:schemeClr val="accent6"/>
              </a:solidFill>
              <a:ea typeface="+mn-lt"/>
              <a:cs typeface="+mn-lt"/>
            </a:endParaRPr>
          </a:p>
          <a:p>
            <a:pPr marL="342900" indent="-342900">
              <a:buSzPts val="1000"/>
              <a:tabLst>
                <a:tab pos="457200" algn="l"/>
              </a:tabLst>
            </a:pPr>
            <a:r>
              <a:rPr lang="en-GB" sz="2400" dirty="0">
                <a:solidFill>
                  <a:schemeClr val="accent6"/>
                </a:solidFill>
                <a:ea typeface="+mn-lt"/>
                <a:cs typeface="+mn-lt"/>
              </a:rPr>
              <a:t>Call on the UK Government to implement an Essentials Guarantee, to protect people in receipt of Universal Credit from going without essentials.</a:t>
            </a:r>
            <a:endParaRPr lang="en-GB" dirty="0">
              <a:solidFill>
                <a:schemeClr val="accent6"/>
              </a:solidFill>
              <a:ea typeface="+mn-lt"/>
              <a:cs typeface="+mn-lt"/>
            </a:endParaRPr>
          </a:p>
          <a:p>
            <a:pPr marL="0" indent="0">
              <a:buSzPts val="1000"/>
              <a:buNone/>
              <a:tabLst>
                <a:tab pos="457200" algn="l"/>
              </a:tabLst>
            </a:pPr>
            <a:br>
              <a:rPr lang="en-GB" sz="1800" dirty="0">
                <a:effectLst/>
                <a:latin typeface="Aptos" panose="020B0004020202020204" pitchFamily="34" charset="0"/>
                <a:ea typeface="Times New Roman" panose="02020603050405020304" pitchFamily="18" charset="0"/>
                <a:cs typeface="Calibri" panose="020F0502020204030204" pitchFamily="34" charset="0"/>
              </a:rPr>
            </a:br>
            <a:endParaRPr lang="en-GB" sz="2800" b="1">
              <a:solidFill>
                <a:schemeClr val="accent6"/>
              </a:solidFill>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dirty="0"/>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20</a:t>
            </a:fld>
            <a:endParaRPr lang="en-GB"/>
          </a:p>
        </p:txBody>
      </p:sp>
    </p:spTree>
    <p:extLst>
      <p:ext uri="{BB962C8B-B14F-4D97-AF65-F5344CB8AC3E}">
        <p14:creationId xmlns:p14="http://schemas.microsoft.com/office/powerpoint/2010/main" val="49359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8A5FE-4A02-462F-7242-B27CCBD448BF}"/>
              </a:ext>
            </a:extLst>
          </p:cNvPr>
          <p:cNvSpPr>
            <a:spLocks noGrp="1"/>
          </p:cNvSpPr>
          <p:nvPr>
            <p:ph type="title"/>
          </p:nvPr>
        </p:nvSpPr>
        <p:spPr/>
        <p:txBody>
          <a:bodyPr/>
          <a:lstStyle/>
          <a:p>
            <a:r>
              <a:rPr lang="en-GB" dirty="0">
                <a:latin typeface="Eveleth Dot Light"/>
              </a:rPr>
              <a:t>Wales</a:t>
            </a:r>
            <a:endParaRPr lang="en-GB" dirty="0"/>
          </a:p>
        </p:txBody>
      </p:sp>
      <p:sp>
        <p:nvSpPr>
          <p:cNvPr id="3" name="Content Placeholder 2">
            <a:extLst>
              <a:ext uri="{FF2B5EF4-FFF2-40B4-BE49-F238E27FC236}">
                <a16:creationId xmlns:a16="http://schemas.microsoft.com/office/drawing/2014/main" id="{F8802C6E-C06B-B74D-7841-53D58DAF9746}"/>
              </a:ext>
            </a:extLst>
          </p:cNvPr>
          <p:cNvSpPr>
            <a:spLocks noGrp="1"/>
          </p:cNvSpPr>
          <p:nvPr>
            <p:ph idx="1"/>
          </p:nvPr>
        </p:nvSpPr>
        <p:spPr>
          <a:xfrm>
            <a:off x="391297" y="1316714"/>
            <a:ext cx="11738400" cy="4272196"/>
          </a:xfrm>
        </p:spPr>
        <p:txBody>
          <a:bodyPr vert="horz" lIns="91440" tIns="45720" rIns="91440" bIns="45720" rtlCol="0" anchor="t">
            <a:noAutofit/>
          </a:bodyPr>
          <a:lstStyle/>
          <a:p>
            <a:pPr marL="0" indent="0">
              <a:buSzPts val="1000"/>
              <a:buNone/>
              <a:tabLst>
                <a:tab pos="457200" algn="l"/>
              </a:tabLst>
            </a:pPr>
            <a:r>
              <a:rPr lang="en-GB" sz="2400" b="1" dirty="0">
                <a:solidFill>
                  <a:schemeClr val="bg2"/>
                </a:solidFill>
                <a:ea typeface="+mn-lt"/>
                <a:cs typeface="+mn-lt"/>
              </a:rPr>
              <a:t>The new First Minister of Wales has the opportunity to turn the tide of hardship facing communities and work to end the need for food banks in Wales. The Welsh Government should:</a:t>
            </a:r>
            <a:br>
              <a:rPr lang="en-GB" sz="2400" b="1" dirty="0">
                <a:solidFill>
                  <a:schemeClr val="bg2"/>
                </a:solidFill>
              </a:rPr>
            </a:br>
            <a:endParaRPr lang="en-GB" sz="2400" b="1" dirty="0">
              <a:solidFill>
                <a:schemeClr val="bg2"/>
              </a:solidFill>
              <a:ea typeface="Calibri"/>
              <a:cs typeface="Calibri"/>
            </a:endParaRPr>
          </a:p>
          <a:p>
            <a:pPr marL="342900" indent="-342900">
              <a:buSzPts val="1000"/>
              <a:tabLst>
                <a:tab pos="457200" algn="l"/>
              </a:tabLst>
            </a:pPr>
            <a:r>
              <a:rPr lang="en-GB" sz="2400" dirty="0">
                <a:solidFill>
                  <a:schemeClr val="accent6"/>
                </a:solidFill>
                <a:ea typeface="Calibri"/>
                <a:cs typeface="Calibri"/>
              </a:rPr>
              <a:t>Deliver a plan to reduce and prevent the need for food banks in Wales</a:t>
            </a:r>
          </a:p>
          <a:p>
            <a:pPr marL="342900" indent="-342900">
              <a:buSzPts val="1000"/>
              <a:tabLst>
                <a:tab pos="457200" algn="l"/>
              </a:tabLst>
            </a:pPr>
            <a:r>
              <a:rPr lang="en-GB" sz="2400" dirty="0">
                <a:solidFill>
                  <a:schemeClr val="accent6"/>
                </a:solidFill>
                <a:ea typeface="Calibri"/>
                <a:cs typeface="Calibri"/>
              </a:rPr>
              <a:t>Implement the Welsh Benefits Charter to streamline and simplify Welsh benefits</a:t>
            </a:r>
          </a:p>
          <a:p>
            <a:pPr marL="342900" indent="-342900">
              <a:buSzPts val="1000"/>
              <a:tabLst>
                <a:tab pos="457200" algn="l"/>
              </a:tabLst>
            </a:pPr>
            <a:r>
              <a:rPr lang="en-GB" sz="2400" dirty="0">
                <a:solidFill>
                  <a:schemeClr val="accent6"/>
                </a:solidFill>
                <a:ea typeface="Calibri"/>
                <a:cs typeface="Calibri"/>
              </a:rPr>
              <a:t>Set clear targets and accountability measures to reduce child poverty following the publication of the Child Poverty Strategy for Wales</a:t>
            </a:r>
          </a:p>
          <a:p>
            <a:pPr marL="342900" indent="-342900">
              <a:buSzPts val="1000"/>
              <a:tabLst>
                <a:tab pos="457200" algn="l"/>
              </a:tabLst>
            </a:pPr>
            <a:r>
              <a:rPr lang="en-GB" sz="2400" dirty="0">
                <a:solidFill>
                  <a:schemeClr val="accent6"/>
                </a:solidFill>
                <a:ea typeface="Calibri"/>
                <a:cs typeface="Calibri"/>
              </a:rPr>
              <a:t>Ensure crisis support meets individuals’ needs with increased funding for the Discretionary Assistance Fund </a:t>
            </a:r>
          </a:p>
          <a:p>
            <a:pPr marL="342900" indent="-342900">
              <a:buSzPts val="1000"/>
              <a:tabLst>
                <a:tab pos="457200" algn="l"/>
              </a:tabLst>
            </a:pPr>
            <a:r>
              <a:rPr lang="en-GB" sz="2400" dirty="0">
                <a:solidFill>
                  <a:schemeClr val="accent6"/>
                </a:solidFill>
                <a:ea typeface="Calibri"/>
                <a:cs typeface="Calibri"/>
              </a:rPr>
              <a:t>Call on the UK Government to introduce an ‘Essentials Guarantee</a:t>
            </a:r>
            <a:r>
              <a:rPr lang="en-GB" sz="2400">
                <a:solidFill>
                  <a:schemeClr val="accent6"/>
                </a:solidFill>
                <a:ea typeface="Calibri"/>
                <a:cs typeface="Calibri"/>
              </a:rPr>
              <a:t>’</a:t>
            </a:r>
            <a:endParaRPr lang="en-GB" dirty="0">
              <a:solidFill>
                <a:schemeClr val="accent6"/>
              </a:solidFill>
            </a:endParaRPr>
          </a:p>
          <a:p>
            <a:pPr marL="0" indent="0">
              <a:buSzPts val="1000"/>
              <a:buNone/>
              <a:tabLst>
                <a:tab pos="457200" algn="l"/>
              </a:tabLst>
            </a:pPr>
            <a:endParaRPr lang="en-GB" sz="2400" dirty="0">
              <a:solidFill>
                <a:schemeClr val="accent6"/>
              </a:solidFill>
              <a:ea typeface="Calibri"/>
              <a:cs typeface="Calibri"/>
            </a:endParaRPr>
          </a:p>
          <a:p>
            <a:pPr marL="342900" indent="-342900">
              <a:buSzPts val="1000"/>
              <a:tabLst>
                <a:tab pos="457200" algn="l"/>
              </a:tabLst>
            </a:pPr>
            <a:endParaRPr lang="en-GB" sz="2400" dirty="0">
              <a:solidFill>
                <a:schemeClr val="accent6"/>
              </a:solidFill>
              <a:ea typeface="Calibri"/>
              <a:cs typeface="Calibri"/>
            </a:endParaRPr>
          </a:p>
          <a:p>
            <a:pPr marL="342900" indent="-342900">
              <a:buSzPts val="1000"/>
              <a:buFont typeface="Arial" panose="020F0302020204030204"/>
              <a:buChar char="•"/>
              <a:tabLst>
                <a:tab pos="457200" algn="l"/>
              </a:tabLst>
            </a:pPr>
            <a:endParaRPr lang="en-GB" sz="2400" dirty="0">
              <a:solidFill>
                <a:schemeClr val="accent6"/>
              </a:solidFill>
              <a:ea typeface="Calibri"/>
              <a:cs typeface="Calibri"/>
            </a:endParaRPr>
          </a:p>
        </p:txBody>
      </p:sp>
      <p:sp>
        <p:nvSpPr>
          <p:cNvPr id="4" name="Date Placeholder 3">
            <a:extLst>
              <a:ext uri="{FF2B5EF4-FFF2-40B4-BE49-F238E27FC236}">
                <a16:creationId xmlns:a16="http://schemas.microsoft.com/office/drawing/2014/main" id="{BF1A1C77-8E09-6640-3905-4E99EC02DF46}"/>
              </a:ext>
            </a:extLst>
          </p:cNvPr>
          <p:cNvSpPr>
            <a:spLocks noGrp="1"/>
          </p:cNvSpPr>
          <p:nvPr>
            <p:ph type="dt" sz="half" idx="10"/>
          </p:nvPr>
        </p:nvSpPr>
        <p:spPr/>
        <p:txBody>
          <a:bodyPr/>
          <a:lstStyle/>
          <a:p>
            <a:fld id="{279F28DC-D0DD-494C-9FB7-E22CC8A8F0B2}" type="datetime4">
              <a:rPr lang="en-GB" smtClean="0"/>
              <a:t>8 May 2024</a:t>
            </a:fld>
            <a:endParaRPr lang="en-GB"/>
          </a:p>
        </p:txBody>
      </p:sp>
      <p:sp>
        <p:nvSpPr>
          <p:cNvPr id="5" name="Footer Placeholder 4">
            <a:extLst>
              <a:ext uri="{FF2B5EF4-FFF2-40B4-BE49-F238E27FC236}">
                <a16:creationId xmlns:a16="http://schemas.microsoft.com/office/drawing/2014/main" id="{19B9CB00-8A9C-1B9D-0F4E-5CAE55ED6FB3}"/>
              </a:ext>
            </a:extLst>
          </p:cNvPr>
          <p:cNvSpPr>
            <a:spLocks noGrp="1"/>
          </p:cNvSpPr>
          <p:nvPr>
            <p:ph type="ftr" sz="quarter" idx="11"/>
          </p:nvPr>
        </p:nvSpPr>
        <p:spPr/>
        <p:txBody>
          <a:bodyPr/>
          <a:lstStyle/>
          <a:p>
            <a:r>
              <a:rPr lang="en-GB"/>
              <a:t>The Trussell Trust - Together, we can end the need for food banks</a:t>
            </a:r>
          </a:p>
        </p:txBody>
      </p:sp>
      <p:sp>
        <p:nvSpPr>
          <p:cNvPr id="6" name="Slide Number Placeholder 5">
            <a:extLst>
              <a:ext uri="{FF2B5EF4-FFF2-40B4-BE49-F238E27FC236}">
                <a16:creationId xmlns:a16="http://schemas.microsoft.com/office/drawing/2014/main" id="{DC82EBD5-7703-650F-CEAB-374225E79D51}"/>
              </a:ext>
            </a:extLst>
          </p:cNvPr>
          <p:cNvSpPr>
            <a:spLocks noGrp="1"/>
          </p:cNvSpPr>
          <p:nvPr>
            <p:ph type="sldNum" sz="quarter" idx="12"/>
          </p:nvPr>
        </p:nvSpPr>
        <p:spPr/>
        <p:txBody>
          <a:bodyPr/>
          <a:lstStyle/>
          <a:p>
            <a:fld id="{6CCA5A4E-9384-7B4E-A945-D252AB071471}" type="slidenum">
              <a:rPr lang="en-GB" smtClean="0"/>
              <a:t>21</a:t>
            </a:fld>
            <a:endParaRPr lang="en-GB"/>
          </a:p>
        </p:txBody>
      </p:sp>
    </p:spTree>
    <p:extLst>
      <p:ext uri="{BB962C8B-B14F-4D97-AF65-F5344CB8AC3E}">
        <p14:creationId xmlns:p14="http://schemas.microsoft.com/office/powerpoint/2010/main" val="1977423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74A9-7639-A1E4-7B99-DC503E3B1866}"/>
              </a:ext>
            </a:extLst>
          </p:cNvPr>
          <p:cNvSpPr>
            <a:spLocks noGrp="1"/>
          </p:cNvSpPr>
          <p:nvPr>
            <p:ph type="title"/>
          </p:nvPr>
        </p:nvSpPr>
        <p:spPr>
          <a:xfrm>
            <a:off x="339317" y="2319662"/>
            <a:ext cx="11513366" cy="1325563"/>
          </a:xfrm>
        </p:spPr>
        <p:txBody>
          <a:bodyPr/>
          <a:lstStyle/>
          <a:p>
            <a:r>
              <a:rPr lang="en-GB" dirty="0"/>
              <a:t>TEMPLATE SLIDES TO HELP YOU COMMUNICATE THE DATA IN YOUR AREA</a:t>
            </a:r>
          </a:p>
        </p:txBody>
      </p:sp>
    </p:spTree>
    <p:extLst>
      <p:ext uri="{BB962C8B-B14F-4D97-AF65-F5344CB8AC3E}">
        <p14:creationId xmlns:p14="http://schemas.microsoft.com/office/powerpoint/2010/main" val="334856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D9D-9293-D444-8C44-64B22455C775}"/>
              </a:ext>
            </a:extLst>
          </p:cNvPr>
          <p:cNvSpPr>
            <a:spLocks noGrp="1"/>
          </p:cNvSpPr>
          <p:nvPr>
            <p:ph type="title"/>
          </p:nvPr>
        </p:nvSpPr>
        <p:spPr>
          <a:xfrm>
            <a:off x="862354" y="1839812"/>
            <a:ext cx="10128104" cy="842785"/>
          </a:xfrm>
        </p:spPr>
        <p:txBody>
          <a:bodyPr>
            <a:noAutofit/>
          </a:bodyPr>
          <a:lstStyle/>
          <a:p>
            <a:r>
              <a:rPr lang="en-GB" sz="7200" spc="-100">
                <a:latin typeface="Eveleth Dot Light"/>
              </a:rPr>
              <a:t>ADD THE NAME OF THE LOCAL AREA YOU SUPPORT HERE</a:t>
            </a:r>
          </a:p>
        </p:txBody>
      </p:sp>
    </p:spTree>
    <p:extLst>
      <p:ext uri="{BB962C8B-B14F-4D97-AF65-F5344CB8AC3E}">
        <p14:creationId xmlns:p14="http://schemas.microsoft.com/office/powerpoint/2010/main" val="842644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a:t>What our data tells us in </a:t>
            </a:r>
            <a:r>
              <a:rPr lang="en-GB" sz="4000" dirty="0">
                <a:solidFill>
                  <a:srgbClr val="FF0000"/>
                </a:solidFill>
              </a:rPr>
              <a:t>[insert area]</a:t>
            </a: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24</a:t>
            </a:fld>
            <a:endParaRPr lang="en-GB"/>
          </a:p>
        </p:txBody>
      </p:sp>
      <p:sp>
        <p:nvSpPr>
          <p:cNvPr id="8" name="Content Placeholder 7">
            <a:extLst>
              <a:ext uri="{FF2B5EF4-FFF2-40B4-BE49-F238E27FC236}">
                <a16:creationId xmlns:a16="http://schemas.microsoft.com/office/drawing/2014/main" id="{76D92E1B-B6EE-B2E7-1644-0360B06F822E}"/>
              </a:ext>
            </a:extLst>
          </p:cNvPr>
          <p:cNvSpPr>
            <a:spLocks noGrp="1"/>
          </p:cNvSpPr>
          <p:nvPr>
            <p:ph idx="1"/>
          </p:nvPr>
        </p:nvSpPr>
        <p:spPr>
          <a:xfrm>
            <a:off x="343672" y="1881739"/>
            <a:ext cx="10002404" cy="4243432"/>
          </a:xfrm>
        </p:spPr>
        <p:txBody>
          <a:bodyPr>
            <a:normAutofit/>
          </a:bodyPr>
          <a:lstStyle/>
          <a:p>
            <a:r>
              <a:rPr lang="en-GB" sz="2400" dirty="0">
                <a:solidFill>
                  <a:schemeClr val="accent6"/>
                </a:solidFill>
              </a:rPr>
              <a:t>From April to September 2023 we have given out </a:t>
            </a:r>
            <a:r>
              <a:rPr lang="en-GB" sz="2400" b="1" dirty="0">
                <a:solidFill>
                  <a:srgbClr val="FF0000"/>
                </a:solidFill>
              </a:rPr>
              <a:t>XXX many </a:t>
            </a:r>
            <a:r>
              <a:rPr lang="en-GB" sz="2400" dirty="0">
                <a:solidFill>
                  <a:schemeClr val="accent6"/>
                </a:solidFill>
              </a:rPr>
              <a:t>emergency parcels to people in </a:t>
            </a:r>
            <a:r>
              <a:rPr lang="en-GB" sz="2400" b="1" dirty="0">
                <a:solidFill>
                  <a:srgbClr val="FF0000"/>
                </a:solidFill>
              </a:rPr>
              <a:t>[insert area]</a:t>
            </a:r>
          </a:p>
          <a:p>
            <a:r>
              <a:rPr lang="en-GB" sz="2400" dirty="0">
                <a:solidFill>
                  <a:srgbClr val="424242"/>
                </a:solidFill>
              </a:rPr>
              <a:t> </a:t>
            </a:r>
            <a:r>
              <a:rPr lang="en-GB" sz="2400" b="1" dirty="0">
                <a:solidFill>
                  <a:srgbClr val="FF0000"/>
                </a:solidFill>
              </a:rPr>
              <a:t>XXX</a:t>
            </a:r>
            <a:r>
              <a:rPr lang="en-GB" sz="2400" dirty="0">
                <a:solidFill>
                  <a:schemeClr val="accent6"/>
                </a:solidFill>
              </a:rPr>
              <a:t> of these were provided for children.</a:t>
            </a:r>
          </a:p>
          <a:p>
            <a:r>
              <a:rPr lang="en-GB" sz="2400" dirty="0">
                <a:solidFill>
                  <a:schemeClr val="accent6"/>
                </a:solidFill>
              </a:rPr>
              <a:t>This represents a </a:t>
            </a:r>
            <a:r>
              <a:rPr lang="en-GB" sz="2400" b="1" dirty="0">
                <a:solidFill>
                  <a:srgbClr val="FF0000"/>
                </a:solidFill>
              </a:rPr>
              <a:t>XX%</a:t>
            </a:r>
            <a:r>
              <a:rPr lang="en-GB" sz="2400" b="1" dirty="0">
                <a:solidFill>
                  <a:schemeClr val="accent1"/>
                </a:solidFill>
              </a:rPr>
              <a:t> </a:t>
            </a:r>
            <a:r>
              <a:rPr lang="en-GB" sz="2400" dirty="0">
                <a:solidFill>
                  <a:schemeClr val="accent6"/>
                </a:solidFill>
              </a:rPr>
              <a:t>increase</a:t>
            </a:r>
            <a:r>
              <a:rPr lang="en-GB" sz="2400" b="1" dirty="0">
                <a:solidFill>
                  <a:schemeClr val="accent1"/>
                </a:solidFill>
              </a:rPr>
              <a:t> </a:t>
            </a:r>
            <a:r>
              <a:rPr lang="en-GB" sz="2400" dirty="0">
                <a:solidFill>
                  <a:schemeClr val="accent6"/>
                </a:solidFill>
              </a:rPr>
              <a:t>from last year and a </a:t>
            </a:r>
            <a:r>
              <a:rPr lang="en-GB" sz="2400" b="1" dirty="0">
                <a:solidFill>
                  <a:srgbClr val="FF0000"/>
                </a:solidFill>
              </a:rPr>
              <a:t>XX% </a:t>
            </a:r>
            <a:r>
              <a:rPr lang="en-GB" sz="2400" dirty="0">
                <a:solidFill>
                  <a:schemeClr val="accent6"/>
                </a:solidFill>
              </a:rPr>
              <a:t>increase</a:t>
            </a:r>
            <a:r>
              <a:rPr lang="en-GB" sz="2400" b="1" dirty="0">
                <a:solidFill>
                  <a:schemeClr val="accent1"/>
                </a:solidFill>
              </a:rPr>
              <a:t> </a:t>
            </a:r>
            <a:r>
              <a:rPr lang="en-GB" sz="2400" dirty="0">
                <a:solidFill>
                  <a:schemeClr val="accent6"/>
                </a:solidFill>
              </a:rPr>
              <a:t>from pre-pandemic levels. </a:t>
            </a:r>
          </a:p>
          <a:p>
            <a:r>
              <a:rPr lang="en-GB" sz="2400" b="0" i="0" u="none" strike="noStrike" dirty="0">
                <a:solidFill>
                  <a:srgbClr val="424242"/>
                </a:solidFill>
                <a:effectLst/>
                <a:latin typeface="Calibri" panose="020F0502020204030204" pitchFamily="34" charset="0"/>
              </a:rPr>
              <a:t>It’s not right that people in our community are needing a charity’s help to put food on the table. Everyone in </a:t>
            </a:r>
            <a:r>
              <a:rPr lang="en-GB" sz="2400" b="1" i="0" u="none" strike="noStrike" dirty="0">
                <a:solidFill>
                  <a:srgbClr val="FF0000"/>
                </a:solidFill>
                <a:effectLst/>
                <a:latin typeface="Calibri" panose="020F0502020204030204" pitchFamily="34" charset="0"/>
              </a:rPr>
              <a:t>[insert area]</a:t>
            </a:r>
            <a:r>
              <a:rPr lang="en-GB" sz="2400" b="1" i="0" u="none" strike="noStrike" dirty="0">
                <a:solidFill>
                  <a:srgbClr val="424242"/>
                </a:solidFill>
                <a:effectLst/>
                <a:latin typeface="Calibri" panose="020F0502020204030204" pitchFamily="34" charset="0"/>
              </a:rPr>
              <a:t> </a:t>
            </a:r>
            <a:r>
              <a:rPr lang="en-GB" sz="2400" b="0" i="0" u="none" strike="noStrike" dirty="0">
                <a:solidFill>
                  <a:srgbClr val="424242"/>
                </a:solidFill>
                <a:effectLst/>
                <a:latin typeface="Calibri" panose="020F0502020204030204" pitchFamily="34" charset="0"/>
              </a:rPr>
              <a:t>should be able to afford the essentials.</a:t>
            </a:r>
            <a:r>
              <a:rPr lang="en-GB" sz="2400" b="0" i="0" dirty="0">
                <a:solidFill>
                  <a:srgbClr val="000000"/>
                </a:solidFill>
                <a:effectLst/>
                <a:latin typeface="Calibri" panose="020F0502020204030204" pitchFamily="34" charset="0"/>
              </a:rPr>
              <a:t>​</a:t>
            </a:r>
          </a:p>
          <a:p>
            <a:r>
              <a:rPr lang="en-GB" sz="2400" b="0" i="0" u="none" strike="noStrike" dirty="0">
                <a:solidFill>
                  <a:srgbClr val="424242"/>
                </a:solidFill>
                <a:effectLst/>
                <a:latin typeface="Calibri" panose="020F0502020204030204" pitchFamily="34" charset="0"/>
              </a:rPr>
              <a:t>But the rise in the cost of living is pushing more and more families through the doors of food banks. </a:t>
            </a:r>
            <a:endParaRPr lang="en-GB" sz="2400" b="1" dirty="0">
              <a:solidFill>
                <a:srgbClr val="FF0000"/>
              </a:solidFill>
            </a:endParaRPr>
          </a:p>
          <a:p>
            <a:endParaRPr lang="en-GB" dirty="0">
              <a:solidFill>
                <a:schemeClr val="accent6"/>
              </a:solidFill>
            </a:endParaRPr>
          </a:p>
        </p:txBody>
      </p:sp>
    </p:spTree>
    <p:extLst>
      <p:ext uri="{BB962C8B-B14F-4D97-AF65-F5344CB8AC3E}">
        <p14:creationId xmlns:p14="http://schemas.microsoft.com/office/powerpoint/2010/main" val="760212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672" y="556176"/>
            <a:ext cx="11630596" cy="1325563"/>
          </a:xfrm>
        </p:spPr>
        <p:txBody>
          <a:bodyPr>
            <a:normAutofit/>
          </a:bodyPr>
          <a:lstStyle/>
          <a:p>
            <a:r>
              <a:rPr lang="en-GB" sz="4000" dirty="0">
                <a:latin typeface="Eveleth Dot Light"/>
              </a:rPr>
              <a:t>what our data tells us in </a:t>
            </a:r>
            <a:r>
              <a:rPr lang="en-GB" sz="4000" dirty="0">
                <a:solidFill>
                  <a:srgbClr val="FF0000"/>
                </a:solidFill>
                <a:latin typeface="Eveleth Dot Light"/>
              </a:rPr>
              <a:t>[insert area]</a:t>
            </a:r>
          </a:p>
          <a:p>
            <a:endParaRPr lang="en-GB" sz="4000" dirty="0">
              <a:latin typeface="Eveleth Dot Light"/>
            </a:endParaRP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25</a:t>
            </a:fld>
            <a:endParaRPr lang="en-GB"/>
          </a:p>
        </p:txBody>
      </p:sp>
      <p:graphicFrame>
        <p:nvGraphicFramePr>
          <p:cNvPr id="3" name="Chart 2">
            <a:extLst>
              <a:ext uri="{FF2B5EF4-FFF2-40B4-BE49-F238E27FC236}">
                <a16:creationId xmlns:a16="http://schemas.microsoft.com/office/drawing/2014/main" id="{4188CE7C-7983-A94A-5022-59EF3056D4A2}"/>
              </a:ext>
            </a:extLst>
          </p:cNvPr>
          <p:cNvGraphicFramePr/>
          <p:nvPr>
            <p:extLst>
              <p:ext uri="{D42A27DB-BD31-4B8C-83A1-F6EECF244321}">
                <p14:modId xmlns:p14="http://schemas.microsoft.com/office/powerpoint/2010/main" val="2314666074"/>
              </p:ext>
            </p:extLst>
          </p:nvPr>
        </p:nvGraphicFramePr>
        <p:xfrm>
          <a:off x="2104373" y="1678488"/>
          <a:ext cx="8397658" cy="42901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05448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a:t>Messaging if you aren’t seeing increases since last year</a:t>
            </a:r>
          </a:p>
        </p:txBody>
      </p:sp>
      <p:sp>
        <p:nvSpPr>
          <p:cNvPr id="4" name="Date Placeholder 3"/>
          <p:cNvSpPr>
            <a:spLocks noGrp="1"/>
          </p:cNvSpPr>
          <p:nvPr>
            <p:ph type="dt" sz="half" idx="10"/>
          </p:nvPr>
        </p:nvSpPr>
        <p:spPr/>
        <p:txBody>
          <a:bodyPr/>
          <a:lstStyle/>
          <a:p>
            <a:fld id="{4580832E-582B-44D6-9FE4-E5CA59FABC91}" type="datetime4">
              <a:rPr lang="en-GB" smtClean="0"/>
              <a:t>8 May 2024</a:t>
            </a:fld>
            <a:endParaRPr lang="en-GB"/>
          </a:p>
        </p:txBody>
      </p:sp>
      <p:sp>
        <p:nvSpPr>
          <p:cNvPr id="5" name="Footer Placeholder 4"/>
          <p:cNvSpPr>
            <a:spLocks noGrp="1"/>
          </p:cNvSpPr>
          <p:nvPr>
            <p:ph type="ftr" sz="quarter" idx="11"/>
          </p:nvPr>
        </p:nvSpPr>
        <p:spPr/>
        <p:txBody>
          <a:bodyPr/>
          <a:lstStyle/>
          <a:p>
            <a:r>
              <a:rPr lang="en-GB"/>
              <a:t>The Trussell Trust - Together, we can end the need for food banks</a:t>
            </a:r>
          </a:p>
        </p:txBody>
      </p:sp>
      <p:sp>
        <p:nvSpPr>
          <p:cNvPr id="6" name="Slide Number Placeholder 5"/>
          <p:cNvSpPr>
            <a:spLocks noGrp="1"/>
          </p:cNvSpPr>
          <p:nvPr>
            <p:ph type="sldNum" sz="quarter" idx="12"/>
          </p:nvPr>
        </p:nvSpPr>
        <p:spPr/>
        <p:txBody>
          <a:bodyPr/>
          <a:lstStyle/>
          <a:p>
            <a:fld id="{6CCA5A4E-9384-7B4E-A945-D252AB071471}" type="slidenum">
              <a:rPr lang="en-GB" smtClean="0"/>
              <a:t>26</a:t>
            </a:fld>
            <a:endParaRPr lang="en-GB"/>
          </a:p>
        </p:txBody>
      </p:sp>
      <p:sp>
        <p:nvSpPr>
          <p:cNvPr id="3" name="Content Placeholder 7">
            <a:extLst>
              <a:ext uri="{FF2B5EF4-FFF2-40B4-BE49-F238E27FC236}">
                <a16:creationId xmlns:a16="http://schemas.microsoft.com/office/drawing/2014/main" id="{62EED378-5AED-90E9-6080-763BBE8172FE}"/>
              </a:ext>
            </a:extLst>
          </p:cNvPr>
          <p:cNvSpPr>
            <a:spLocks noGrp="1"/>
          </p:cNvSpPr>
          <p:nvPr>
            <p:ph idx="1"/>
          </p:nvPr>
        </p:nvSpPr>
        <p:spPr>
          <a:xfrm>
            <a:off x="343672" y="2317638"/>
            <a:ext cx="11513366" cy="4243432"/>
          </a:xfrm>
        </p:spPr>
        <p:txBody>
          <a:bodyPr>
            <a:normAutofit/>
          </a:bodyPr>
          <a:lstStyle/>
          <a:p>
            <a:pPr marL="457200" indent="-457200">
              <a:buFont typeface="+mj-lt"/>
              <a:buAutoNum type="arabicPeriod"/>
            </a:pPr>
            <a:r>
              <a:rPr lang="en-GB" sz="2400" dirty="0">
                <a:solidFill>
                  <a:schemeClr val="accent6"/>
                </a:solidFill>
              </a:rPr>
              <a:t>Any number of parcels distributed is too many</a:t>
            </a:r>
          </a:p>
          <a:p>
            <a:pPr marL="457200" indent="-457200">
              <a:buFont typeface="+mj-lt"/>
              <a:buAutoNum type="arabicPeriod"/>
            </a:pPr>
            <a:endParaRPr lang="en-GB" sz="2400" dirty="0">
              <a:solidFill>
                <a:schemeClr val="accent6"/>
              </a:solidFill>
            </a:endParaRPr>
          </a:p>
          <a:p>
            <a:pPr marL="457200" indent="-457200">
              <a:buFont typeface="+mj-lt"/>
              <a:buAutoNum type="arabicPeriod"/>
            </a:pPr>
            <a:r>
              <a:rPr lang="en-GB" sz="2400" dirty="0">
                <a:solidFill>
                  <a:schemeClr val="accent6"/>
                </a:solidFill>
              </a:rPr>
              <a:t>Food banks in the Trussell Trust network represent just part of the picture of emergency food aid in your area</a:t>
            </a:r>
          </a:p>
          <a:p>
            <a:pPr marL="457200" indent="-457200">
              <a:buFont typeface="+mj-lt"/>
              <a:buAutoNum type="arabicPeriod"/>
            </a:pPr>
            <a:endParaRPr lang="en-GB" sz="2400" dirty="0">
              <a:solidFill>
                <a:schemeClr val="accent6"/>
              </a:solidFill>
            </a:endParaRPr>
          </a:p>
          <a:p>
            <a:pPr marL="0" indent="0">
              <a:buNone/>
            </a:pPr>
            <a:r>
              <a:rPr lang="en-GB" sz="2400" b="1" dirty="0">
                <a:solidFill>
                  <a:schemeClr val="accent1"/>
                </a:solidFill>
                <a:cs typeface="Calibri" panose="020F0502020204030204"/>
              </a:rPr>
              <a:t>For more advice, see our End of Year Stats FAQs</a:t>
            </a:r>
          </a:p>
          <a:p>
            <a:pPr marL="0" indent="0">
              <a:buNone/>
            </a:pPr>
            <a:endParaRPr lang="en-GB" sz="2400" dirty="0">
              <a:solidFill>
                <a:schemeClr val="accent6"/>
              </a:solidFill>
            </a:endParaRPr>
          </a:p>
          <a:p>
            <a:pPr marL="457200" indent="-457200">
              <a:buFont typeface="+mj-lt"/>
              <a:buAutoNum type="arabicPeriod"/>
            </a:pPr>
            <a:endParaRPr lang="en-GB" dirty="0">
              <a:solidFill>
                <a:schemeClr val="accent6"/>
              </a:solidFill>
            </a:endParaRPr>
          </a:p>
          <a:p>
            <a:pPr marL="0" indent="0">
              <a:buNone/>
            </a:pPr>
            <a:endParaRPr lang="en-GB" dirty="0">
              <a:solidFill>
                <a:schemeClr val="accent6"/>
              </a:solidFill>
            </a:endParaRPr>
          </a:p>
        </p:txBody>
      </p:sp>
    </p:spTree>
    <p:extLst>
      <p:ext uri="{BB962C8B-B14F-4D97-AF65-F5344CB8AC3E}">
        <p14:creationId xmlns:p14="http://schemas.microsoft.com/office/powerpoint/2010/main" val="967525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D9D-9293-D444-8C44-64B22455C775}"/>
              </a:ext>
            </a:extLst>
          </p:cNvPr>
          <p:cNvSpPr>
            <a:spLocks noGrp="1"/>
          </p:cNvSpPr>
          <p:nvPr>
            <p:ph type="title"/>
          </p:nvPr>
        </p:nvSpPr>
        <p:spPr>
          <a:xfrm>
            <a:off x="2155775" y="2437481"/>
            <a:ext cx="7329748" cy="842785"/>
          </a:xfrm>
        </p:spPr>
        <p:txBody>
          <a:bodyPr>
            <a:noAutofit/>
          </a:bodyPr>
          <a:lstStyle/>
          <a:p>
            <a:r>
              <a:rPr lang="en-GB" sz="7200" spc="-100" dirty="0"/>
              <a:t>thank you</a:t>
            </a:r>
            <a:endParaRPr lang="en-GB" sz="7200" spc="-100" dirty="0">
              <a:latin typeface="Eveleth Clean Thin" panose="02010304020200000003" pitchFamily="2" charset="77"/>
            </a:endParaRPr>
          </a:p>
        </p:txBody>
      </p:sp>
    </p:spTree>
    <p:extLst>
      <p:ext uri="{BB962C8B-B14F-4D97-AF65-F5344CB8AC3E}">
        <p14:creationId xmlns:p14="http://schemas.microsoft.com/office/powerpoint/2010/main" val="35911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Trussell Trust Main Colour Theme">
      <a:dk1>
        <a:srgbClr val="F2F3EB"/>
      </a:dk1>
      <a:lt1>
        <a:srgbClr val="FFFFFF"/>
      </a:lt1>
      <a:dk2>
        <a:srgbClr val="5BAC26"/>
      </a:dk2>
      <a:lt2>
        <a:srgbClr val="008751"/>
      </a:lt2>
      <a:accent1>
        <a:srgbClr val="5BAC26"/>
      </a:accent1>
      <a:accent2>
        <a:srgbClr val="008751"/>
      </a:accent2>
      <a:accent3>
        <a:srgbClr val="00ADEF"/>
      </a:accent3>
      <a:accent4>
        <a:srgbClr val="2381D3"/>
      </a:accent4>
      <a:accent5>
        <a:srgbClr val="FF5436"/>
      </a:accent5>
      <a:accent6>
        <a:srgbClr val="424242"/>
      </a:accent6>
      <a:hlink>
        <a:srgbClr val="5BAC26"/>
      </a:hlink>
      <a:folHlink>
        <a:srgbClr val="00875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ca81273-b7be-4c69-ae07-6df83efe9857">
      <Terms xmlns="http://schemas.microsoft.com/office/infopath/2007/PartnerControls"/>
    </lcf76f155ced4ddcb4097134ff3c332f>
    <TaxCatchAll xmlns="899be8bf-91b3-4a07-9c0f-1e9d77a80e24" xsi:nil="true"/>
    <SharedWithUsers xmlns="899be8bf-91b3-4a07-9c0f-1e9d77a80e24">
      <UserInfo>
        <DisplayName>Rae Cahill</DisplayName>
        <AccountId>391</AccountId>
        <AccountType/>
      </UserInfo>
      <UserInfo>
        <DisplayName>Teresa Marvulli</DisplayName>
        <AccountId>83</AccountId>
        <AccountType/>
      </UserInfo>
      <UserInfo>
        <DisplayName>Dominic Stevenson</DisplayName>
        <AccountId>820</AccountId>
        <AccountType/>
      </UserInfo>
      <UserInfo>
        <DisplayName>Polly Jones</DisplayName>
        <AccountId>28</AccountId>
        <AccountType/>
      </UserInfo>
      <UserInfo>
        <DisplayName>Beatrice Orchard</DisplayName>
        <AccountId>776</AccountId>
        <AccountType/>
      </UserInfo>
      <UserInfo>
        <DisplayName>Thomas Weekes</DisplayName>
        <AccountId>17</AccountId>
        <AccountType/>
      </UserInfo>
      <UserInfo>
        <DisplayName>Rory Weal</DisplayName>
        <AccountId>26</AccountId>
        <AccountType/>
      </UserInfo>
      <UserInfo>
        <DisplayName>Ellie Cumberbatch</DisplayName>
        <AccountId>1314</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C8AADE4AA2CE458C6D1228CF45B087" ma:contentTypeVersion="18" ma:contentTypeDescription="Create a new document." ma:contentTypeScope="" ma:versionID="f9aee7675afbf509a34d1dabfba640b6">
  <xsd:schema xmlns:xsd="http://www.w3.org/2001/XMLSchema" xmlns:xs="http://www.w3.org/2001/XMLSchema" xmlns:p="http://schemas.microsoft.com/office/2006/metadata/properties" xmlns:ns2="7ca81273-b7be-4c69-ae07-6df83efe9857" xmlns:ns3="899be8bf-91b3-4a07-9c0f-1e9d77a80e24" targetNamespace="http://schemas.microsoft.com/office/2006/metadata/properties" ma:root="true" ma:fieldsID="ad40a1df924397fe771d470c22ec690d" ns2:_="" ns3:_="">
    <xsd:import namespace="7ca81273-b7be-4c69-ae07-6df83efe9857"/>
    <xsd:import namespace="899be8bf-91b3-4a07-9c0f-1e9d77a80e2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a81273-b7be-4c69-ae07-6df83efe98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3e726d3-233e-4e8b-962f-158b3252e71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9be8bf-91b3-4a07-9c0f-1e9d77a80e2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c230910-2d09-4929-9b15-a9edb2bd280b}" ma:internalName="TaxCatchAll" ma:showField="CatchAllData" ma:web="899be8bf-91b3-4a07-9c0f-1e9d77a80e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3F40E8-F3A1-4714-AFCD-C0921C45BFED}">
  <ds:schemaRefs>
    <ds:schemaRef ds:uri="http://purl.org/dc/terms/"/>
    <ds:schemaRef ds:uri="http://schemas.microsoft.com/office/infopath/2007/PartnerControls"/>
    <ds:schemaRef ds:uri="http://schemas.microsoft.com/office/2006/metadata/properties"/>
    <ds:schemaRef ds:uri="http://schemas.microsoft.com/office/2006/documentManagement/types"/>
    <ds:schemaRef ds:uri="123275f6-67f2-4a1a-ad8c-82ccd58dca68"/>
    <ds:schemaRef ds:uri="http://schemas.openxmlformats.org/package/2006/metadata/core-properties"/>
    <ds:schemaRef ds:uri="c95f387f-380f-4db0-92af-f955096de854"/>
    <ds:schemaRef ds:uri="http://www.w3.org/XML/1998/namespace"/>
    <ds:schemaRef ds:uri="http://purl.org/dc/dcmitype/"/>
    <ds:schemaRef ds:uri="http://purl.org/dc/elements/1.1/"/>
    <ds:schemaRef ds:uri="7ca81273-b7be-4c69-ae07-6df83efe9857"/>
    <ds:schemaRef ds:uri="899be8bf-91b3-4a07-9c0f-1e9d77a80e24"/>
  </ds:schemaRefs>
</ds:datastoreItem>
</file>

<file path=customXml/itemProps2.xml><?xml version="1.0" encoding="utf-8"?>
<ds:datastoreItem xmlns:ds="http://schemas.openxmlformats.org/officeDocument/2006/customXml" ds:itemID="{95206A92-5834-47AF-B276-FFC4F5F43C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a81273-b7be-4c69-ae07-6df83efe9857"/>
    <ds:schemaRef ds:uri="899be8bf-91b3-4a07-9c0f-1e9d77a80e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D29B1F-C0A5-4747-91E5-1D0524DF04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2509</Words>
  <Application>Microsoft Macintosh PowerPoint</Application>
  <PresentationFormat>Widescreen</PresentationFormat>
  <Paragraphs>235</Paragraphs>
  <Slides>27</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Calibri</vt:lpstr>
      <vt:lpstr>Eveleth Clean Thin</vt:lpstr>
      <vt:lpstr>Eveleth Dot Light</vt:lpstr>
      <vt:lpstr>Aptos</vt:lpstr>
      <vt:lpstr>Calibri Light</vt:lpstr>
      <vt:lpstr>Symbol</vt:lpstr>
      <vt:lpstr>Arial</vt:lpstr>
      <vt:lpstr>Office Theme</vt:lpstr>
      <vt:lpstr>End of year stats 2023/24</vt:lpstr>
      <vt:lpstr>What’s in this resource</vt:lpstr>
      <vt:lpstr>What the figures are telling us</vt:lpstr>
      <vt:lpstr>Busiest ever period</vt:lpstr>
      <vt:lpstr>Majority of support provided by food banks for families with children</vt:lpstr>
      <vt:lpstr>Worrying emerging trend of pensioners turning to food banks</vt:lpstr>
      <vt:lpstr>Cost of living payments correlate with a reduction in need </vt:lpstr>
      <vt:lpstr>PowerPoint Presentation</vt:lpstr>
      <vt:lpstr>Our Nations  and regions</vt:lpstr>
      <vt:lpstr>Change for Nations and regions</vt:lpstr>
      <vt:lpstr>Change for English regions</vt:lpstr>
      <vt:lpstr>Key policy asks</vt:lpstr>
      <vt:lpstr>A future without the need for food banks </vt:lpstr>
      <vt:lpstr>A future without the need for food banks </vt:lpstr>
      <vt:lpstr>What are the building blocks to ending the need for food banks?</vt:lpstr>
      <vt:lpstr>What are the building blocks to ending the need for food banks?</vt:lpstr>
      <vt:lpstr>What are the building blocks to ending the need for food banks?</vt:lpstr>
      <vt:lpstr>What are the building blocks to ending the need for food banks?</vt:lpstr>
      <vt:lpstr>Scotland</vt:lpstr>
      <vt:lpstr>Northern Ireland</vt:lpstr>
      <vt:lpstr>Wales</vt:lpstr>
      <vt:lpstr>TEMPLATE SLIDES TO HELP YOU COMMUNICATE THE DATA IN YOUR AREA</vt:lpstr>
      <vt:lpstr>ADD THE NAME OF THE LOCAL AREA YOU SUPPORT HERE</vt:lpstr>
      <vt:lpstr>What our data tells us in [insert area]</vt:lpstr>
      <vt:lpstr>what our data tells us in [insert area] </vt:lpstr>
      <vt:lpstr>Messaging if you aren’t seeing increases since last year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 year stats 2023</dc:title>
  <dc:creator/>
  <cp:lastModifiedBy/>
  <cp:revision>257</cp:revision>
  <dcterms:created xsi:type="dcterms:W3CDTF">2022-11-08T12:22:14Z</dcterms:created>
  <dcterms:modified xsi:type="dcterms:W3CDTF">2024-05-08T14:18:42Z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0x0101002C2D69342C3BF943B354D49D43209034</vt:lpwstr>
  </property>
  <property fmtid="{D5CDD505-2E9C-101B-9397-08002B2CF9AE}" pid="3" name="MediaServiceImageTags">
    <vt:lpwstr/>
  </property>
</Properties>
</file>